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sldSz cx="9324975" cy="5248275"/>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47"/>
    <p:restoredTop sz="94645"/>
  </p:normalViewPr>
  <p:slideViewPr>
    <p:cSldViewPr snapToGrid="0">
      <p:cViewPr varScale="1">
        <p:scale>
          <a:sx n="124" d="100"/>
          <a:sy n="124" d="100"/>
        </p:scale>
        <p:origin x="192" y="6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00:10 (SEGUNDO 10 DEL PITCH)</a:t>
            </a:r>
          </a:p>
          <a:p>
            <a:r>
              <a:rPr lang="es-PE" sz="1600" b="1"/>
              <a:t>Duración: 10 segundos. Inicio: 00:00 (segundo 0).</a:t>
            </a:r>
          </a:p>
          <a:p>
            <a:r>
              <a:t>10 s. Somos 5.5. Con OMNI ayudamos a Brasper a conectar su atención comercial con cada operación de cambio entre Perú y Brasil.</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00:25 (SEGUNDO 25 DEL PITCH)</a:t>
            </a:r>
          </a:p>
          <a:p>
            <a:r>
              <a:rPr lang="es-PE" sz="1600" b="1"/>
              <a:t>Duración: 15 segundos. Inicio: 00:10 (segundo 10).</a:t>
            </a:r>
          </a:p>
          <a:p>
            <a:r>
              <a:t>15 s. David desarrolló WhatsApp; Binni, la app y el backend; Jordy, la web; y Melani, el backoffice. Trabajamos por módulos, sobre un mismo recorrido: que el cliente avance y el equipo pueda acompañarlo.</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00:55 (SEGUNDO 55 DEL PITCH)</a:t>
            </a:r>
          </a:p>
          <a:p>
            <a:r>
              <a:rPr lang="es-PE" sz="1600" b="1"/>
              <a:t>Duración: 30 segundos. Inicio: 00:25 (segundo 25).</a:t>
            </a:r>
          </a:p>
          <a:p>
            <a:r>
              <a:t>30 s. El pedido inicial era automatizar facturación. Nuestra experiencia en consultoría nos llevó a preguntar por todo el proceso: cómo llega el cliente, dónde espera y qué información vuelve a digitarse. TI ya tenía encaminada una solución para facturación. Al revisar chats y datos encontramos una oportunidad de mayor alcance: potenciar ventas y mejorar la experiencia desde la primera consulta.</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01:25 (SEGUNDO 85 DEL PITCH)</a:t>
            </a:r>
          </a:p>
          <a:p>
            <a:r>
              <a:rPr lang="es-PE" sz="1600" b="1"/>
              <a:t>Duración: 30 segundos. Inicio: 00:55 (segundo 55).</a:t>
            </a:r>
          </a:p>
          <a:p>
            <a:r>
              <a:t>30 s. Brasper recibe, en promedio, ciento treinta y un chats al día. Sesenta y siete terminan en transferencia y sesenta y cuatro se quedan en cotización. La conversión ronda el cincuenta y uno por ciento. Con datos disponibles y autorización, el equipo puede investigar qué los desmotivó, retomar el contacto y sugerir una alternativa. La oportunidad es aprender y acompañar, no dar por perdida cada consulta.</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01:50 (SEGUNDO 110 DEL PITCH)</a:t>
            </a:r>
          </a:p>
          <a:p>
            <a:r>
              <a:rPr lang="es-PE" sz="1600" b="1"/>
              <a:t>Duración: 25 segundos. Inicio: 01:25 (segundo 85).</a:t>
            </a:r>
          </a:p>
          <a:p>
            <a:r>
              <a:t>25 s. OMNI by 5.5 propone cuatro puntos de acceso: WhatsApp, web, app para iOS y app para Android. Cada cliente elige su pantalla y la operación sigue un proceso común sobre Firebase con revisión interna. Las dos apps comparten el módulo móvil; no duplican el backend. La integración de identidad y la publicación en tiendas deben validarse.</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02:20 (SEGUNDO 140 DEL PITCH)</a:t>
            </a:r>
          </a:p>
          <a:p>
            <a:r>
              <a:rPr lang="es-PE" sz="1600" b="1"/>
              <a:t>Duración: 30 segundos. Inicio: 01:50 (segundo 110).</a:t>
            </a:r>
          </a:p>
          <a:p>
            <a:r>
              <a:t>30 s. En WhatsApp, el cliente escribe como habla: quiero enviar quinientos reales a Perú. El agente interpreta la intención y presenta los siguientes pasos. La IA orienta la conversación; las reglas controlan importes y estados. El equipo sigue validando el ingreso. En la siguiente iteración, el cliente también podrá pedir un asesor y transferirle el contexto del caso.</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02:45 (SEGUNDO 165 DEL PITCH)</a:t>
            </a:r>
          </a:p>
          <a:p>
            <a:r>
              <a:rPr lang="es-PE" sz="1600" b="1"/>
              <a:t>Duración: 25 segundos. Inicio: 02:20 (segundo 140).</a:t>
            </a:r>
          </a:p>
          <a:p>
            <a:r>
              <a:t>25 s. La web abre otro camino para el cliente. Cotiza, registra al destinatario, adjunta el comprobante y consulta el estado desde su pantalla. La solicitud puede entrar fuera de horario. El cliente distingue un pago en revisión de un envío registrado, y la asesora recibe información ordenada en lugar de volver a copiar toda la conversación.</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03:05 (SEGUNDO 185 DEL PITCH)</a:t>
            </a:r>
          </a:p>
          <a:p>
            <a:r>
              <a:rPr lang="es-PE" sz="1600" b="1"/>
              <a:t>Duración: 20 segundos. Inicio: 02:45 (segundo 165).</a:t>
            </a:r>
          </a:p>
          <a:p>
            <a:r>
              <a:t>20 s. El backoffice conserva la decisión humana. Reúne operaciones para revisar el ingreso y resolver excepciones. Buscamos reducir digitación repetida y ganar control del caso. Registrar un estado no equivale a ejecutar automáticamente un pago bancario.</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03:40 (SEGUNDO 220 DEL PITCH)</a:t>
            </a:r>
          </a:p>
          <a:p>
            <a:r>
              <a:rPr lang="es-PE" sz="1600" b="1"/>
              <a:t>Duración: 35 segundos. Inicio: 03:05 (segundo 185).</a:t>
            </a:r>
          </a:p>
          <a:p>
            <a:r>
              <a:t>35 s. El impacto se tiene que medir. Primero, conversión de chats a transferencias. Segundo, tiempo por etapa: registro, validación y envío. Tercero, errores y retrabajo por operación. Y cuarto, operaciones por hora del equipo. Ya tenemos una referencia de conversión. Para tiempos y errores necesitamos la línea base del piloto. Eso permitirá demostrar la mejora sin confundir la última actualización de un registro con el tiempo real de una venta.</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04:05 (SEGUNDO 245 DEL PITCH)</a:t>
            </a:r>
          </a:p>
          <a:p>
            <a:r>
              <a:rPr lang="es-PE" sz="1600" b="1"/>
              <a:t>Duración: 25 segundos. Inicio: 03:40 (segundo 220).</a:t>
            </a:r>
          </a:p>
          <a:p>
            <a:r>
              <a:t>25 s. El potencial de crecimiento viene de varias fuentes: recibir intención de compra a cualquier hora, abrir cuatro puntos de acceso y dar una experiencia más clara. Además, el tiempo liberado permite al equipo seguir las cotizaciones pendientes. Queremos entender por qué alguien no compró y probar campañas o cupones que dejen margen. Ese crecimiento se medirá en el piloto.</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04:30 (SEGUNDO 270 DEL PITCH)</a:t>
            </a:r>
          </a:p>
          <a:p>
            <a:r>
              <a:rPr lang="es-PE" sz="1600" b="1"/>
              <a:t>Duración: 25 segundos. Inicio: 04:05 (segundo 245).</a:t>
            </a:r>
          </a:p>
          <a:p>
            <a:r>
              <a:t>25 s. Bien implementada, la automatización puede liberar tiempo equivalente a ciento nueve mil doscientos soles al año, bajo el escenario salarial. El equipo puede capacitarse y dedicar esa capacidad a captar clientes, acompañar consultas y mejorar la conversión. El ahorro es de trabajo operativo y capacidad disponible; no estamos planteando despidos ni afirmando que ese importe ya quedó libre en caja.</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05:05 (SEGUNDO 305 DEL PITCH)</a:t>
            </a:r>
          </a:p>
          <a:p>
            <a:r>
              <a:rPr lang="es-PE" sz="1600" b="1"/>
              <a:t>Duración: 35 segundos. Inicio: 04:30 (segundo 270).</a:t>
            </a:r>
          </a:p>
          <a:p>
            <a:r>
              <a:t>35 s. La puesta en marcha está incluida. Proponemos optimizar WhatsApp agrupando los datos en un formulario: un mensaje de entrada y una confirmación, con apoyo adicional en algunos casos. Aún no está implementado. Con tarifas conservadoras de Meta y reserva, el objetivo baja de tres mil quinientos a mil cuatrocientos soles mensuales. El escenario comercial dejaría dos mil trescientos ochenta antes de otros costos. Noventa y cuatro operaciones nuevas cubrirían esa tecnología. Validaremos costo y experiencia juntos.</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06:10 (SEGUNDO 370 DEL PITCH)</a:t>
            </a:r>
          </a:p>
          <a:p>
            <a:r>
              <a:rPr lang="es-PE" sz="1600" b="1"/>
              <a:t>Duración: 65 segundos. Inicio: 05:05 (segundo 305).</a:t>
            </a:r>
          </a:p>
          <a:p>
            <a:r>
              <a:rPr dirty="0"/>
              <a:t>65 s de video, sin </a:t>
            </a:r>
            <a:r>
              <a:rPr dirty="0" err="1"/>
              <a:t>voz</a:t>
            </a:r>
            <a:r>
              <a:rPr dirty="0"/>
              <a:t> original. </a:t>
            </a:r>
            <a:r>
              <a:rPr dirty="0" err="1"/>
              <a:t>Reproducir</a:t>
            </a:r>
            <a:r>
              <a:rPr dirty="0"/>
              <a:t> </a:t>
            </a:r>
            <a:r>
              <a:rPr dirty="0" err="1"/>
              <a:t>manualmente</a:t>
            </a:r>
            <a:r>
              <a:rPr dirty="0"/>
              <a:t> con el </a:t>
            </a:r>
            <a:r>
              <a:rPr dirty="0" err="1"/>
              <a:t>botón</a:t>
            </a:r>
            <a:r>
              <a:rPr dirty="0"/>
              <a:t> o la barra </a:t>
            </a:r>
            <a:r>
              <a:rPr dirty="0" err="1"/>
              <a:t>espaciadora</a:t>
            </a:r>
            <a:r>
              <a:rPr dirty="0"/>
              <a:t>. Es el video de 64,5 s </a:t>
            </a:r>
            <a:r>
              <a:rPr dirty="0" err="1"/>
              <a:t>recuperado</a:t>
            </a:r>
            <a:r>
              <a:rPr dirty="0"/>
              <a:t> del PDF </a:t>
            </a:r>
            <a:r>
              <a:rPr dirty="0" err="1"/>
              <a:t>aportado</a:t>
            </a:r>
            <a:r>
              <a:rPr dirty="0"/>
              <a:t>, con datos de </a:t>
            </a:r>
            <a:r>
              <a:rPr dirty="0" err="1"/>
              <a:t>presentación</a:t>
            </a:r>
            <a:r>
              <a:rPr dirty="0"/>
              <a:t> y </a:t>
            </a:r>
            <a:r>
              <a:rPr dirty="0" err="1"/>
              <a:t>composiciones</a:t>
            </a:r>
            <a:r>
              <a:rPr dirty="0"/>
              <a:t> de </a:t>
            </a:r>
            <a:r>
              <a:rPr dirty="0" err="1"/>
              <a:t>arquitectura</a:t>
            </a:r>
            <a:r>
              <a:rPr dirty="0"/>
              <a:t>. No </a:t>
            </a:r>
            <a:r>
              <a:rPr dirty="0" err="1"/>
              <a:t>presentarlo</a:t>
            </a:r>
            <a:r>
              <a:rPr dirty="0"/>
              <a:t> </a:t>
            </a:r>
            <a:r>
              <a:rPr dirty="0" err="1"/>
              <a:t>como</a:t>
            </a:r>
            <a:r>
              <a:rPr dirty="0"/>
              <a:t> </a:t>
            </a:r>
            <a:r>
              <a:rPr dirty="0" err="1"/>
              <a:t>prueba</a:t>
            </a:r>
            <a:r>
              <a:rPr dirty="0"/>
              <a:t> </a:t>
            </a:r>
            <a:r>
              <a:rPr dirty="0" err="1"/>
              <a:t>bancaria</a:t>
            </a:r>
            <a:r>
              <a:rPr dirty="0"/>
              <a:t>, fiscal </a:t>
            </a:r>
            <a:r>
              <a:rPr dirty="0" err="1"/>
              <a:t>ni</a:t>
            </a:r>
            <a:r>
              <a:rPr dirty="0"/>
              <a:t> </a:t>
            </a:r>
            <a:r>
              <a:rPr dirty="0" err="1"/>
              <a:t>certificación</a:t>
            </a:r>
            <a:r>
              <a:rPr dirty="0"/>
              <a:t> de </a:t>
            </a:r>
            <a:r>
              <a:rPr dirty="0" err="1"/>
              <a:t>identidad</a:t>
            </a:r>
            <a:r>
              <a:rPr dirty="0"/>
              <a:t> entre canales. </a:t>
            </a:r>
            <a:r>
              <a:rPr dirty="0" err="1"/>
              <a:t>Incluye</a:t>
            </a:r>
            <a:r>
              <a:rPr dirty="0"/>
              <a:t> </a:t>
            </a:r>
            <a:r>
              <a:rPr dirty="0" err="1"/>
              <a:t>una</a:t>
            </a:r>
            <a:r>
              <a:rPr dirty="0"/>
              <a:t> fila de </a:t>
            </a:r>
            <a:r>
              <a:rPr dirty="0" err="1"/>
              <a:t>prueba</a:t>
            </a:r>
            <a:r>
              <a:rPr dirty="0"/>
              <a:t> </a:t>
            </a:r>
            <a:r>
              <a:rPr dirty="0" err="1"/>
              <a:t>en</a:t>
            </a:r>
            <a:r>
              <a:rPr dirty="0"/>
              <a:t> USD </a:t>
            </a:r>
            <a:r>
              <a:rPr dirty="0" err="1"/>
              <a:t>que</a:t>
            </a:r>
            <a:r>
              <a:rPr dirty="0"/>
              <a:t> no </a:t>
            </a:r>
            <a:r>
              <a:rPr dirty="0" err="1"/>
              <a:t>amplía</a:t>
            </a:r>
            <a:r>
              <a:rPr dirty="0"/>
              <a:t> el </a:t>
            </a:r>
            <a:r>
              <a:rPr dirty="0" err="1"/>
              <a:t>alcance</a:t>
            </a:r>
            <a:r>
              <a:rPr dirty="0"/>
              <a:t> PEN/BRL de la web. En PDF se </a:t>
            </a:r>
            <a:r>
              <a:rPr dirty="0" err="1"/>
              <a:t>conserva</a:t>
            </a:r>
            <a:r>
              <a:rPr dirty="0"/>
              <a:t> un </a:t>
            </a:r>
            <a:r>
              <a:rPr dirty="0" err="1"/>
              <a:t>fotograma</a:t>
            </a:r>
            <a:r>
              <a:rPr dirty="0"/>
              <a:t>, sin video </a:t>
            </a:r>
            <a:r>
              <a:rPr dirty="0" err="1"/>
              <a:t>incrustado</a:t>
            </a:r>
            <a:r>
              <a:rPr dirty="0"/>
              <a:t>. Si se </a:t>
            </a:r>
            <a:r>
              <a:rPr dirty="0" err="1"/>
              <a:t>explica</a:t>
            </a:r>
            <a:r>
              <a:rPr dirty="0"/>
              <a:t> </a:t>
            </a:r>
            <a:r>
              <a:rPr dirty="0" err="1"/>
              <a:t>por</a:t>
            </a:r>
            <a:r>
              <a:rPr dirty="0"/>
              <a:t> </a:t>
            </a:r>
            <a:r>
              <a:rPr dirty="0" err="1"/>
              <a:t>encima</a:t>
            </a:r>
            <a:r>
              <a:rPr dirty="0"/>
              <a:t>, </a:t>
            </a:r>
            <a:r>
              <a:rPr dirty="0" err="1"/>
              <a:t>respetar</a:t>
            </a:r>
            <a:r>
              <a:rPr dirty="0"/>
              <a:t> el </a:t>
            </a:r>
            <a:r>
              <a:rPr dirty="0" err="1"/>
              <a:t>tiempo</a:t>
            </a:r>
            <a:r>
              <a:rPr dirty="0"/>
              <a:t> total.</a:t>
            </a:r>
          </a:p>
          <a:p>
            <a:endParaRPr dirty="0"/>
          </a:p>
          <a:p>
            <a:r>
              <a:rPr dirty="0"/>
              <a:t>Fuentes y </a:t>
            </a:r>
            <a:r>
              <a:rPr dirty="0" err="1"/>
              <a:t>metodología</a:t>
            </a:r>
            <a:r>
              <a:rPr dirty="0"/>
              <a:t>: </a:t>
            </a:r>
            <a:r>
              <a:rPr dirty="0" err="1"/>
              <a:t>FUENTES_Y_ALCANCE.md</a:t>
            </a:r>
            <a:r>
              <a:rPr dirty="0"/>
              <a:t>, </a:t>
            </a:r>
            <a:r>
              <a:rPr dirty="0" err="1"/>
              <a:t>COSTOS_TECNOLOGICOS.md</a:t>
            </a:r>
            <a:r>
              <a:rPr dirty="0"/>
              <a:t> y </a:t>
            </a:r>
            <a:r>
              <a:rPr dirty="0" err="1"/>
              <a:t>RESUMEN_CALCULOS.md</a:t>
            </a:r>
            <a:r>
              <a:rPr dirty="0"/>
              <a:t>, junto a la </a:t>
            </a:r>
            <a:r>
              <a:rPr dirty="0" err="1"/>
              <a:t>versión</a:t>
            </a:r>
            <a:r>
              <a:rPr dirty="0"/>
              <a:t> web </a:t>
            </a:r>
            <a:r>
              <a:rPr dirty="0" err="1"/>
              <a:t>en</a:t>
            </a:r>
            <a:r>
              <a:rPr dirty="0"/>
              <a:t> https://</a:t>
            </a:r>
            <a:r>
              <a:rPr dirty="0" err="1"/>
              <a:t>github.com</a:t>
            </a:r>
            <a:r>
              <a:rPr dirty="0"/>
              <a:t>/</a:t>
            </a:r>
            <a:r>
              <a:rPr dirty="0" err="1"/>
              <a:t>jordyalania</a:t>
            </a:r>
            <a:r>
              <a:rPr dirty="0"/>
              <a:t>/</a:t>
            </a:r>
            <a:r>
              <a:rPr dirty="0" err="1"/>
              <a:t>brasper</a:t>
            </a:r>
            <a:r>
              <a:rPr dirty="0"/>
              <a:t>-global-connect/tree/main/</a:t>
            </a:r>
            <a:r>
              <a:rPr dirty="0" err="1"/>
              <a:t>presentacion</a:t>
            </a:r>
            <a:r>
              <a:rPr dirty="0"/>
              <a:t>-final/7-minutos</a:t>
            </a:r>
          </a:p>
          <a:p>
            <a:r>
              <a:rPr dirty="0"/>
              <a:t>Video original: video/proceso.mp4 (</a:t>
            </a:r>
            <a:r>
              <a:rPr dirty="0" err="1"/>
              <a:t>duración</a:t>
            </a:r>
            <a:r>
              <a:rPr dirty="0"/>
              <a:t> </a:t>
            </a:r>
            <a:r>
              <a:rPr dirty="0" err="1"/>
              <a:t>aproximada</a:t>
            </a:r>
            <a:r>
              <a:rPr dirty="0"/>
              <a:t> de 1 </a:t>
            </a:r>
            <a:r>
              <a:rPr dirty="0" err="1"/>
              <a:t>minuto</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06:40 (SEGUNDO 400 DEL PITCH)</a:t>
            </a:r>
          </a:p>
          <a:p>
            <a:r>
              <a:rPr lang="es-PE" sz="1600" b="1"/>
              <a:t>Duración: 30 segundos. Inicio: 06:10 (segundo 370).</a:t>
            </a:r>
          </a:p>
          <a:p>
            <a:r>
              <a:rPr dirty="0"/>
              <a:t>30 s. La </a:t>
            </a:r>
            <a:r>
              <a:rPr dirty="0" err="1"/>
              <a:t>próxima</a:t>
            </a:r>
            <a:r>
              <a:rPr dirty="0"/>
              <a:t> </a:t>
            </a:r>
            <a:r>
              <a:rPr dirty="0" err="1"/>
              <a:t>fase</a:t>
            </a:r>
            <a:r>
              <a:rPr dirty="0"/>
              <a:t> </a:t>
            </a:r>
            <a:r>
              <a:rPr dirty="0" err="1"/>
              <a:t>combina</a:t>
            </a:r>
            <a:r>
              <a:rPr dirty="0"/>
              <a:t> personas e </a:t>
            </a:r>
            <a:r>
              <a:rPr dirty="0" err="1"/>
              <a:t>inteligencia</a:t>
            </a:r>
            <a:r>
              <a:rPr dirty="0"/>
              <a:t> artificial. Primero, pasar del bot a un </a:t>
            </a:r>
            <a:r>
              <a:rPr dirty="0" err="1"/>
              <a:t>asesor</a:t>
            </a:r>
            <a:r>
              <a:rPr dirty="0"/>
              <a:t> con </a:t>
            </a:r>
            <a:r>
              <a:rPr dirty="0" err="1"/>
              <a:t>contexto</a:t>
            </a:r>
            <a:r>
              <a:rPr dirty="0"/>
              <a:t>. </a:t>
            </a:r>
            <a:r>
              <a:rPr dirty="0" err="1"/>
              <a:t>Después</a:t>
            </a:r>
            <a:r>
              <a:rPr dirty="0"/>
              <a:t>, usar </a:t>
            </a:r>
            <a:r>
              <a:rPr dirty="0" err="1"/>
              <a:t>información</a:t>
            </a:r>
            <a:r>
              <a:rPr dirty="0"/>
              <a:t> </a:t>
            </a:r>
            <a:r>
              <a:rPr dirty="0" err="1"/>
              <a:t>centralizada</a:t>
            </a:r>
            <a:r>
              <a:rPr dirty="0"/>
              <a:t> para registrar </a:t>
            </a:r>
            <a:r>
              <a:rPr dirty="0" err="1"/>
              <a:t>motivos</a:t>
            </a:r>
            <a:r>
              <a:rPr dirty="0"/>
              <a:t>, </a:t>
            </a:r>
            <a:r>
              <a:rPr dirty="0" err="1"/>
              <a:t>priorizar</a:t>
            </a:r>
            <a:r>
              <a:rPr dirty="0"/>
              <a:t> </a:t>
            </a:r>
            <a:r>
              <a:rPr dirty="0" err="1"/>
              <a:t>consultas</a:t>
            </a:r>
            <a:r>
              <a:rPr dirty="0"/>
              <a:t> y </a:t>
            </a:r>
            <a:r>
              <a:rPr dirty="0" err="1"/>
              <a:t>hacer</a:t>
            </a:r>
            <a:r>
              <a:rPr dirty="0"/>
              <a:t> </a:t>
            </a:r>
            <a:r>
              <a:rPr dirty="0" err="1"/>
              <a:t>seguimiento</a:t>
            </a:r>
            <a:r>
              <a:rPr dirty="0"/>
              <a:t>. El </a:t>
            </a:r>
            <a:r>
              <a:rPr dirty="0" err="1"/>
              <a:t>equipo</a:t>
            </a:r>
            <a:r>
              <a:rPr dirty="0"/>
              <a:t> </a:t>
            </a:r>
            <a:r>
              <a:rPr dirty="0" err="1"/>
              <a:t>puede</a:t>
            </a:r>
            <a:r>
              <a:rPr dirty="0"/>
              <a:t> </a:t>
            </a:r>
            <a:r>
              <a:rPr dirty="0" err="1"/>
              <a:t>probar</a:t>
            </a:r>
            <a:r>
              <a:rPr dirty="0"/>
              <a:t> </a:t>
            </a:r>
            <a:r>
              <a:rPr dirty="0" err="1"/>
              <a:t>campañas</a:t>
            </a:r>
            <a:r>
              <a:rPr dirty="0"/>
              <a:t> y </a:t>
            </a:r>
            <a:r>
              <a:rPr dirty="0" err="1"/>
              <a:t>cupones</a:t>
            </a:r>
            <a:r>
              <a:rPr dirty="0"/>
              <a:t>, </a:t>
            </a:r>
            <a:r>
              <a:rPr dirty="0" err="1"/>
              <a:t>comparando</a:t>
            </a:r>
            <a:r>
              <a:rPr dirty="0"/>
              <a:t> </a:t>
            </a:r>
            <a:r>
              <a:rPr dirty="0" err="1"/>
              <a:t>ventas</a:t>
            </a:r>
            <a:r>
              <a:rPr dirty="0"/>
              <a:t> y </a:t>
            </a:r>
            <a:r>
              <a:rPr dirty="0" err="1"/>
              <a:t>margen</a:t>
            </a:r>
            <a:r>
              <a:rPr dirty="0"/>
              <a:t>. Un CRM con IA </a:t>
            </a:r>
            <a:r>
              <a:rPr dirty="0" err="1"/>
              <a:t>ayudará</a:t>
            </a:r>
            <a:r>
              <a:rPr dirty="0"/>
              <a:t> a </a:t>
            </a:r>
            <a:r>
              <a:rPr dirty="0" err="1"/>
              <a:t>escalar</a:t>
            </a:r>
            <a:r>
              <a:rPr dirty="0"/>
              <a:t> ese </a:t>
            </a:r>
            <a:r>
              <a:rPr dirty="0" err="1"/>
              <a:t>trabajo</a:t>
            </a:r>
            <a:r>
              <a:rPr dirty="0"/>
              <a:t>. Más </a:t>
            </a:r>
            <a:r>
              <a:rPr dirty="0" err="1"/>
              <a:t>adelante</a:t>
            </a:r>
            <a:r>
              <a:rPr dirty="0"/>
              <a:t>, </a:t>
            </a:r>
            <a:r>
              <a:rPr dirty="0" err="1"/>
              <a:t>evaluar</a:t>
            </a:r>
            <a:r>
              <a:rPr dirty="0"/>
              <a:t> un banco o fintech para </a:t>
            </a:r>
            <a:r>
              <a:rPr dirty="0" err="1"/>
              <a:t>ampliar</a:t>
            </a:r>
            <a:r>
              <a:rPr dirty="0"/>
              <a:t> la </a:t>
            </a:r>
            <a:r>
              <a:rPr dirty="0" err="1"/>
              <a:t>automatización</a:t>
            </a:r>
            <a:r>
              <a:rPr dirty="0"/>
              <a:t> con </a:t>
            </a:r>
            <a:r>
              <a:rPr dirty="0" err="1"/>
              <a:t>controles</a:t>
            </a:r>
            <a:r>
              <a:rPr dirty="0"/>
              <a:t>. Cada paso se </a:t>
            </a:r>
            <a:r>
              <a:rPr dirty="0" err="1"/>
              <a:t>valida</a:t>
            </a:r>
            <a:r>
              <a:rPr dirty="0"/>
              <a:t> antes de </a:t>
            </a:r>
            <a:r>
              <a:rPr dirty="0" err="1"/>
              <a:t>expandirse</a:t>
            </a:r>
            <a:r>
              <a:rPr dirty="0"/>
              <a:t>.</a:t>
            </a:r>
          </a:p>
          <a:p>
            <a:endParaRPr dirty="0"/>
          </a:p>
          <a:p>
            <a:r>
              <a:rPr dirty="0"/>
              <a:t>Fuentes y </a:t>
            </a:r>
            <a:r>
              <a:rPr dirty="0" err="1"/>
              <a:t>metodología</a:t>
            </a:r>
            <a:r>
              <a:rPr dirty="0"/>
              <a:t>: </a:t>
            </a:r>
            <a:r>
              <a:rPr dirty="0" err="1"/>
              <a:t>FUENTES_Y_ALCANCE.md</a:t>
            </a:r>
            <a:r>
              <a:rPr dirty="0"/>
              <a:t>, </a:t>
            </a:r>
            <a:r>
              <a:rPr dirty="0" err="1"/>
              <a:t>COSTOS_TECNOLOGICOS.md</a:t>
            </a:r>
            <a:r>
              <a:rPr dirty="0"/>
              <a:t> y </a:t>
            </a:r>
            <a:r>
              <a:rPr dirty="0" err="1"/>
              <a:t>RESUMEN_CALCULOS.md</a:t>
            </a:r>
            <a:r>
              <a:rPr dirty="0"/>
              <a:t>, junto a la </a:t>
            </a:r>
            <a:r>
              <a:rPr dirty="0" err="1"/>
              <a:t>versión</a:t>
            </a:r>
            <a:r>
              <a:rPr dirty="0"/>
              <a:t> web </a:t>
            </a:r>
            <a:r>
              <a:rPr dirty="0" err="1"/>
              <a:t>en</a:t>
            </a:r>
            <a:r>
              <a:rPr dirty="0"/>
              <a:t> https://</a:t>
            </a:r>
            <a:r>
              <a:rPr dirty="0" err="1"/>
              <a:t>github.com</a:t>
            </a:r>
            <a:r>
              <a:rPr dirty="0"/>
              <a:t>/</a:t>
            </a:r>
            <a:r>
              <a:rPr dirty="0" err="1"/>
              <a:t>jordyalania</a:t>
            </a:r>
            <a:r>
              <a:rPr dirty="0"/>
              <a:t>/</a:t>
            </a:r>
            <a:r>
              <a:rPr dirty="0" err="1"/>
              <a:t>brasper</a:t>
            </a:r>
            <a:r>
              <a:rPr dirty="0"/>
              <a:t>-global-connect/tree/main/</a:t>
            </a:r>
            <a:r>
              <a:rPr dirty="0" err="1"/>
              <a:t>presentacion</a:t>
            </a:r>
            <a:r>
              <a:rPr dirty="0"/>
              <a:t>-final/7-minutos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06:50 (SEGUNDO 410 DEL PITCH)</a:t>
            </a:r>
          </a:p>
          <a:p>
            <a:r>
              <a:rPr lang="es-PE" sz="1600" b="1"/>
              <a:t>Duración: 10 segundos. Inicio: 06:40 (segundo 400).</a:t>
            </a:r>
          </a:p>
          <a:p>
            <a:r>
              <a:rPr dirty="0"/>
              <a:t>10 s. OMNI by 5.5: </a:t>
            </a:r>
            <a:r>
              <a:rPr dirty="0" err="1"/>
              <a:t>que</a:t>
            </a:r>
            <a:r>
              <a:rPr dirty="0"/>
              <a:t> </a:t>
            </a:r>
            <a:r>
              <a:rPr dirty="0" err="1"/>
              <a:t>lleguen</a:t>
            </a:r>
            <a:r>
              <a:rPr dirty="0"/>
              <a:t>, </a:t>
            </a:r>
            <a:r>
              <a:rPr dirty="0" err="1"/>
              <a:t>que</a:t>
            </a:r>
            <a:r>
              <a:rPr dirty="0"/>
              <a:t> </a:t>
            </a:r>
            <a:r>
              <a:rPr dirty="0" err="1"/>
              <a:t>avancen</a:t>
            </a:r>
            <a:r>
              <a:rPr dirty="0"/>
              <a:t> y </a:t>
            </a:r>
            <a:r>
              <a:rPr dirty="0" err="1"/>
              <a:t>que</a:t>
            </a:r>
            <a:r>
              <a:rPr dirty="0"/>
              <a:t> </a:t>
            </a:r>
            <a:r>
              <a:rPr dirty="0" err="1"/>
              <a:t>vuelvan</a:t>
            </a:r>
            <a:r>
              <a:rPr dirty="0"/>
              <a:t>. Una </a:t>
            </a:r>
            <a:r>
              <a:rPr dirty="0" err="1"/>
              <a:t>experiencia</a:t>
            </a:r>
            <a:r>
              <a:rPr dirty="0"/>
              <a:t> </a:t>
            </a:r>
            <a:r>
              <a:rPr dirty="0" err="1"/>
              <a:t>que</a:t>
            </a:r>
            <a:r>
              <a:rPr dirty="0"/>
              <a:t> </a:t>
            </a:r>
            <a:r>
              <a:rPr dirty="0" err="1"/>
              <a:t>acompaña</a:t>
            </a:r>
            <a:r>
              <a:rPr dirty="0"/>
              <a:t> el </a:t>
            </a:r>
            <a:r>
              <a:rPr dirty="0" err="1"/>
              <a:t>crecimiento</a:t>
            </a:r>
            <a:r>
              <a:rPr dirty="0"/>
              <a:t> de </a:t>
            </a:r>
            <a:r>
              <a:rPr dirty="0" err="1"/>
              <a:t>Brasper</a:t>
            </a:r>
            <a:r>
              <a:rPr dirty="0"/>
              <a:t>. El </a:t>
            </a:r>
            <a:r>
              <a:rPr dirty="0" err="1"/>
              <a:t>cambio</a:t>
            </a:r>
            <a:r>
              <a:rPr dirty="0"/>
              <a:t> </a:t>
            </a:r>
            <a:r>
              <a:rPr dirty="0" err="1"/>
              <a:t>está</a:t>
            </a:r>
            <a:r>
              <a:rPr dirty="0"/>
              <a:t> </a:t>
            </a:r>
            <a:r>
              <a:rPr dirty="0" err="1"/>
              <a:t>abierto</a:t>
            </a:r>
            <a:r>
              <a:rPr dirty="0"/>
              <a:t>.</a:t>
            </a:r>
          </a:p>
          <a:p>
            <a:endParaRPr dirty="0"/>
          </a:p>
          <a:p>
            <a:r>
              <a:rPr dirty="0"/>
              <a:t>Fuentes y </a:t>
            </a:r>
            <a:r>
              <a:rPr dirty="0" err="1"/>
              <a:t>metodología</a:t>
            </a:r>
            <a:r>
              <a:rPr dirty="0"/>
              <a:t>: </a:t>
            </a:r>
            <a:r>
              <a:rPr dirty="0" err="1"/>
              <a:t>FUENTES_Y_ALCANCE.md</a:t>
            </a:r>
            <a:r>
              <a:rPr dirty="0"/>
              <a:t>, </a:t>
            </a:r>
            <a:r>
              <a:rPr dirty="0" err="1"/>
              <a:t>COSTOS_TECNOLOGICOS.md</a:t>
            </a:r>
            <a:r>
              <a:rPr dirty="0"/>
              <a:t> y </a:t>
            </a:r>
            <a:r>
              <a:rPr dirty="0" err="1"/>
              <a:t>RESUMEN_CALCULOS.md</a:t>
            </a:r>
            <a:r>
              <a:rPr dirty="0"/>
              <a:t>, junto a la </a:t>
            </a:r>
            <a:r>
              <a:rPr dirty="0" err="1"/>
              <a:t>versión</a:t>
            </a:r>
            <a:r>
              <a:rPr dirty="0"/>
              <a:t> web </a:t>
            </a:r>
            <a:r>
              <a:rPr dirty="0" err="1"/>
              <a:t>en</a:t>
            </a:r>
            <a:r>
              <a:rPr dirty="0"/>
              <a:t> https://</a:t>
            </a:r>
            <a:r>
              <a:rPr dirty="0" err="1"/>
              <a:t>github.com</a:t>
            </a:r>
            <a:r>
              <a:rPr dirty="0"/>
              <a:t>/</a:t>
            </a:r>
            <a:r>
              <a:rPr dirty="0" err="1"/>
              <a:t>jordyalania</a:t>
            </a:r>
            <a:r>
              <a:rPr dirty="0"/>
              <a:t>/</a:t>
            </a:r>
            <a:r>
              <a:rPr dirty="0" err="1"/>
              <a:t>brasper</a:t>
            </a:r>
            <a:r>
              <a:rPr dirty="0"/>
              <a:t>-global-connect/tree/main/</a:t>
            </a:r>
            <a:r>
              <a:rPr dirty="0" err="1"/>
              <a:t>presentacion</a:t>
            </a:r>
            <a:r>
              <a:rPr dirty="0"/>
              <a:t>-final/7-minutos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TERMINAR ESTA LÁMINA EN 07:00 (SEGUNDO 420 DEL PITCH)</a:t>
            </a:r>
          </a:p>
          <a:p>
            <a:r>
              <a:rPr lang="es-PE" sz="1600" b="1"/>
              <a:t>Duración: 10 segundos. Inicio: 06:50 (segundo 410).</a:t>
            </a:r>
          </a:p>
          <a:p>
            <a:r>
              <a:t>10 s. Gracias. Somos 5.5. Quedamos atentos a sus preguntas.</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ANEXO. Fuera de los 7 minutos del pitch. Sin tiempo de cierre asignado.</a:t>
            </a:r>
          </a:p>
          <a:p>
            <a:r>
              <a:t>Anexo fuera de tiempo. Recuperación aún por implementar. 192*15=2880. Con 60 operaciones nocturnas distintas, serían 252 y S/3780 antes de costos, solo si no se solapan. No tratar como ROI ni sumar salarios brutos como caja disponible.</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ANEXO. Fuera de los 7 minutos del pitch. Sin tiempo de cierre asignado.</a:t>
            </a:r>
          </a:p>
          <a:p>
            <a:r>
              <a:t>El presupuesto de S/1.400 usa la propuesta de formulario/Flow y dos mensajes más soporte en 10% de los casos; no está implementado. Mantener S/3.500 como referencia sin optimizar. WAHA es alternativa, no costo adicional.</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ANEXO. Fuera de los 7 minutos del pitch. Sin tiempo de cierre asignado.</a:t>
            </a:r>
          </a:p>
          <a:p>
            <a:r>
              <a:t>Anexo fuera de tiempo. Web revisada en f9ae0aa. No reactivar dashboard Supabase para representar el módulo interno de Firebase. La captura de backoffice y WhatsApp procede del material del equipo, no de una prueba externa realizada para esta entrega.</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ANEXO. Fuera de los 7 minutos del pitch. Sin tiempo de cierre asignado.</a:t>
            </a:r>
          </a:p>
          <a:p>
            <a:r>
              <a:t>Anexo fuera de tiempo. Fuentes en ../fuentes/. El PDF de referencia contiene otra dotación y comparaciones de tiempos y costos que no se usan como hechos en esta versión. La mediana de última actualización no se presenta como duración de venta. No se reproduce la proyección 2027 como expectativa oficial.</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ANEXO. Fuera de los 7 minutos del pitch. Sin tiempo de cierre asignado.</a:t>
            </a:r>
          </a:p>
          <a:p>
            <a:r>
              <a:t>Anexo fuera del tiempo de exposición. Los próximos pasos se priorizan con el negocio y no equivalen a funcionalidades implementadas. La atención híbrida mantiene los mismos tres canales: el humano es una modalidad de atención, no un cuarto canal.</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ANEXO. Fuera de los 7 minutos del pitch. Sin tiempo de cierre asignado.</a:t>
            </a:r>
          </a:p>
          <a:p>
            <a:r>
              <a:t>Fuentes oficiales y supuestos detallados en COSTOS_TECNOLOGICOS.md. La base usa WAHA en VPS, no Cloud API oficial. No incluye honorarios, impuestos ni pagos bancarios. Los S/300 del primer mes no se duplican como costo de instalación.</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ANEXO. Fuera de los 7 minutos del pitch. Sin tiempo de cierre asignado.</a:t>
            </a:r>
          </a:p>
          <a:p>
            <a:r>
              <a:t>Diseño propuesto: un CTA de apertura, captura y validación en formulario con backend, y una confirmación final combinada. No enviar una respuesta de WhatsApp por cada campo. Reservar dos apoyos en 10% de casos. Servicio inicial y ayuda dentro de ventana; si la confirmación llega fuera de ventana, plantilla de utilidad aprobada. No tratar cupones ni campañas como utilidad. Validar entrega, carga de adjuntos, accesibilidad, finalización y necesidad real de ayuda.</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s-PE" sz="1600" b="1"/>
              <a:t>ANEXO. Fuera de los 7 minutos del pitch. Sin tiempo de cierre asignado.</a:t>
            </a:r>
          </a:p>
          <a:p>
            <a:r>
              <a:t>La automatización es híbrida: el modelo interpreta y redacta; las reglas y los estados controlan el proceso financiero, con revisión humana. El saludo revisado en el código dice asistente virtual, pero todavía no explicita IA. El aviso de esta lámina es una propuesta, no evidencia de despliegue. El D.S. 115-2025-PCM desarrolla la Ley 31814: el art. 25.1 trata la transparencia para sistemas de riesgo alto; el 25.2 contempla etiquetado visible cuando sea relevante; el 26 exige protección de datos; el 31.2 prevé políticas y protocolos de transparencia del sector privado. No se clasifica automáticamente este chatbot como riesgo alto. Los plazos de la primera disposición final dependen del sector y de la condición MYPE. No afirmar cumplimiento total ni certificación sin verificar alcance, datos y despliegue. Fuente oficial consultada 15/10/2026: https://busquedas.elperuano.pe/dispositivo/NL/2436426-1</a:t>
            </a:r>
          </a:p>
          <a:p>
            <a:endParaRPr/>
          </a:p>
          <a:p>
            <a:r>
              <a:t>Fuentes y metodología: FUENTES_Y_ALCANCE.md, COSTOS_TECNOLOGICOS.md y RESUMEN_CALCULOS.md, junto a la versión web en https://github.com/jordyalania/brasper-global-connect/tree/main/presentacion-final/7-minutos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CDA5BF15-E51F-4BD5-99C5-A7AE6AFA7404}"/>
              </a:ext>
            </a:extLst>
          </p:cNvPr>
          <p:cNvSpPr>
            <a:spLocks noGrp="1"/>
          </p:cNvSpPr>
          <p:nvPr>
            <p:ph type="title"/>
          </p:nvPr>
        </p:nvSpPr>
        <p:spPr>
          <a:xfrm>
            <a:off x="932459" y="1982826"/>
            <a:ext cx="7459675" cy="758139"/>
          </a:xfrm>
          <a:prstGeom prst="rect">
            <a:avLst/>
          </a:prstGeom>
          <a:noFill/>
          <a:ln>
            <a:noFill/>
            <a:prstDash val="solid"/>
          </a:ln>
        </p:spPr>
        <p:txBody>
          <a:bodyPr wrap="square" lIns="0" tIns="0" rIns="0" bIns="0" anchor="ctr">
            <a:normAutofit/>
          </a:bodyPr>
          <a:lstStyle>
            <a:defPPr algn="ctr">
              <a:defRPr sz="3671"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Subtitle">
            <a:extLst>
              <a:ext uri="{FF2B5EF4-FFF2-40B4-BE49-F238E27FC236}">
                <a16:creationId xmlns:a16="http://schemas.microsoft.com/office/drawing/2014/main" id="{217BB221-0864-4E86-827B-625449F98A30}"/>
              </a:ext>
            </a:extLst>
          </p:cNvPr>
          <p:cNvSpPr>
            <a:spLocks noGrp="1"/>
          </p:cNvSpPr>
          <p:nvPr>
            <p:ph type="subTitle" idx="1"/>
          </p:nvPr>
        </p:nvSpPr>
        <p:spPr>
          <a:xfrm>
            <a:off x="1398689" y="2886761"/>
            <a:ext cx="6527216" cy="583184"/>
          </a:xfrm>
          <a:prstGeom prst="rect">
            <a:avLst/>
          </a:prstGeom>
          <a:noFill/>
          <a:ln>
            <a:noFill/>
            <a:prstDash val="solid"/>
          </a:ln>
        </p:spPr>
        <p:txBody>
          <a:bodyPr wrap="square" lIns="0" tIns="0" rIns="0" bIns="0" anchor="ctr">
            <a:normAutofit/>
          </a:bodyPr>
          <a:lstStyle>
            <a:defPPr algn="ctr">
              <a:defRPr sz="1606"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30FE2F6A-B394-4946-BFD7-0F047F5235C7}"/>
              </a:ext>
            </a:extLst>
          </p:cNvPr>
          <p:cNvSpPr>
            <a:spLocks noGrp="1"/>
          </p:cNvSpPr>
          <p:nvPr>
            <p:ph type="title"/>
          </p:nvPr>
        </p:nvSpPr>
        <p:spPr>
          <a:xfrm>
            <a:off x="932459" y="2186940"/>
            <a:ext cx="7459675" cy="874776"/>
          </a:xfrm>
          <a:prstGeom prst="rect">
            <a:avLst/>
          </a:prstGeom>
          <a:noFill/>
          <a:ln>
            <a:noFill/>
            <a:prstDash val="solid"/>
          </a:ln>
        </p:spPr>
        <p:txBody>
          <a:bodyPr wrap="square" lIns="0" tIns="0" rIns="0" bIns="0" anchor="ctr">
            <a:normAutofit/>
          </a:bodyPr>
          <a:lstStyle>
            <a:defPPr algn="ctr">
              <a:defRPr sz="3212"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E5B891CF-47BB-462A-9BD7-9353D5E51CED}"/>
              </a:ext>
            </a:extLst>
          </p:cNvPr>
          <p:cNvSpPr>
            <a:spLocks noGrp="1"/>
          </p:cNvSpPr>
          <p:nvPr>
            <p:ph type="title"/>
          </p:nvPr>
        </p:nvSpPr>
        <p:spPr>
          <a:xfrm>
            <a:off x="524508" y="408229"/>
            <a:ext cx="8275577" cy="641502"/>
          </a:xfrm>
          <a:prstGeom prst="rect">
            <a:avLst/>
          </a:prstGeom>
          <a:noFill/>
          <a:ln>
            <a:noFill/>
            <a:prstDash val="solid"/>
          </a:ln>
        </p:spPr>
        <p:txBody>
          <a:bodyPr wrap="square" lIns="0" tIns="0" rIns="0" bIns="0" anchor="t">
            <a:normAutofit/>
          </a:bodyPr>
          <a:lstStyle>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Body">
            <a:extLst>
              <a:ext uri="{FF2B5EF4-FFF2-40B4-BE49-F238E27FC236}">
                <a16:creationId xmlns:a16="http://schemas.microsoft.com/office/drawing/2014/main" id="{3C2686EF-1808-4E5A-B813-5F9B41947CC1}"/>
              </a:ext>
            </a:extLst>
          </p:cNvPr>
          <p:cNvSpPr>
            <a:spLocks noGrp="1"/>
          </p:cNvSpPr>
          <p:nvPr>
            <p:ph type="body" idx="1"/>
          </p:nvPr>
        </p:nvSpPr>
        <p:spPr>
          <a:xfrm>
            <a:off x="524508" y="1457960"/>
            <a:ext cx="8275577" cy="3265830"/>
          </a:xfrm>
          <a:prstGeom prst="rect">
            <a:avLst/>
          </a:prstGeom>
          <a:noFill/>
          <a:ln>
            <a:noFill/>
            <a:prstDash val="solid"/>
          </a:ln>
        </p:spPr>
        <p:txBody>
          <a:bodyPr wrap="square" lIns="0" tIns="0" rIns="0" bIns="0" anchor="t">
            <a:normAutofit/>
          </a:bodyPr>
          <a:lstStyle>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1D498C57-7818-4DD7-9F9C-DB20DD9D3F0B}"/>
              </a:ext>
            </a:extLst>
          </p:cNvPr>
          <p:cNvSpPr>
            <a:spLocks noGrp="1"/>
          </p:cNvSpPr>
          <p:nvPr>
            <p:ph type="title"/>
          </p:nvPr>
        </p:nvSpPr>
        <p:spPr>
          <a:xfrm>
            <a:off x="524508" y="408229"/>
            <a:ext cx="8275577" cy="641502"/>
          </a:xfrm>
          <a:prstGeom prst="rect">
            <a:avLst/>
          </a:prstGeom>
          <a:noFill/>
          <a:ln>
            <a:noFill/>
            <a:prstDash val="solid"/>
          </a:ln>
        </p:spPr>
        <p:txBody>
          <a:bodyPr wrap="square" lIns="0" tIns="0" rIns="0" bIns="0" anchor="t">
            <a:normAutofit/>
          </a:bodyPr>
          <a:lstStyle>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4DFE89FF-7AE7-46C6-B182-BF047AC6511D}"/>
              </a:ext>
            </a:extLst>
          </p:cNvPr>
          <p:cNvSpPr>
            <a:spLocks noGrp="1"/>
          </p:cNvSpPr>
          <p:nvPr>
            <p:ph type="body" idx="1"/>
          </p:nvPr>
        </p:nvSpPr>
        <p:spPr>
          <a:xfrm>
            <a:off x="524508" y="1457960"/>
            <a:ext cx="3846395" cy="3265830"/>
          </a:xfrm>
          <a:prstGeom prst="rect">
            <a:avLst/>
          </a:prstGeom>
          <a:noFill/>
          <a:ln>
            <a:noFill/>
            <a:prstDash val="solid"/>
          </a:ln>
        </p:spPr>
        <p:txBody>
          <a:bodyPr wrap="square" lIns="0" tIns="0" rIns="0" bIns="0" anchor="t">
            <a:normAutofit/>
          </a:bodyPr>
          <a:lstStyle>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a:endParaRPr/>
          </a:p>
        </p:txBody>
      </p:sp>
      <p:sp>
        <p:nvSpPr>
          <p:cNvPr id="3" name="Right column">
            <a:extLst>
              <a:ext uri="{FF2B5EF4-FFF2-40B4-BE49-F238E27FC236}">
                <a16:creationId xmlns:a16="http://schemas.microsoft.com/office/drawing/2014/main" id="{9378D00A-42E4-48ED-88D0-11EAEFF86050}"/>
              </a:ext>
            </a:extLst>
          </p:cNvPr>
          <p:cNvSpPr>
            <a:spLocks noGrp="1"/>
          </p:cNvSpPr>
          <p:nvPr>
            <p:ph type="body" idx="2"/>
          </p:nvPr>
        </p:nvSpPr>
        <p:spPr>
          <a:xfrm>
            <a:off x="4953691" y="1457960"/>
            <a:ext cx="3846395" cy="3265830"/>
          </a:xfrm>
          <a:prstGeom prst="rect">
            <a:avLst/>
          </a:prstGeom>
          <a:noFill/>
          <a:ln>
            <a:noFill/>
            <a:prstDash val="solid"/>
          </a:ln>
        </p:spPr>
        <p:txBody>
          <a:bodyPr wrap="square" lIns="0" tIns="0" rIns="0" bIns="0" anchor="t">
            <a:normAutofit/>
          </a:bodyPr>
          <a:lstStyle>
            <a:defPPr algn="l">
              <a:defRPr sz="1606"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EEB16F9-9BDA-41C7-9B41-022D8334C8B5}"/>
              </a:ext>
            </a:extLst>
          </p:cNvPr>
          <p:cNvSpPr>
            <a:spLocks noGrp="1"/>
          </p:cNvSpPr>
          <p:nvPr>
            <p:ph type="title"/>
          </p:nvPr>
        </p:nvSpPr>
        <p:spPr>
          <a:xfrm>
            <a:off x="524508" y="408229"/>
            <a:ext cx="8275577" cy="641502"/>
          </a:xfrm>
          <a:prstGeom prst="rect">
            <a:avLst/>
          </a:prstGeom>
          <a:noFill/>
          <a:ln>
            <a:noFill/>
            <a:prstDash val="solid"/>
          </a:ln>
        </p:spPr>
        <p:txBody>
          <a:bodyPr wrap="square" lIns="0" tIns="0" rIns="0" bIns="0" anchor="t">
            <a:normAutofit/>
          </a:bodyPr>
          <a:lstStyle>
            <a:defPPr algn="l">
              <a:defRPr sz="2524"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2" name="Left column">
            <a:extLst>
              <a:ext uri="{FF2B5EF4-FFF2-40B4-BE49-F238E27FC236}">
                <a16:creationId xmlns:a16="http://schemas.microsoft.com/office/drawing/2014/main" id="{CD1DF860-375F-4B55-83A3-ACA2DA998556}"/>
              </a:ext>
            </a:extLst>
          </p:cNvPr>
          <p:cNvSpPr>
            <a:spLocks noGrp="1"/>
          </p:cNvSpPr>
          <p:nvPr>
            <p:ph type="body" idx="1"/>
          </p:nvPr>
        </p:nvSpPr>
        <p:spPr>
          <a:xfrm>
            <a:off x="524508" y="1457960"/>
            <a:ext cx="3846395" cy="3265830"/>
          </a:xfrm>
          <a:prstGeom prst="rect">
            <a:avLst/>
          </a:prstGeom>
          <a:noFill/>
          <a:ln>
            <a:noFill/>
            <a:prstDash val="solid"/>
          </a:ln>
        </p:spPr>
        <p:txBody>
          <a:bodyPr wrap="square" lIns="0" tIns="0" rIns="0" bIns="0" anchor="t">
            <a:normAutofit/>
          </a:bodyPr>
          <a:lstStyle>
            <a:defPPr algn="l">
              <a:defRPr sz="1721" b="0">
                <a:solidFill>
                  <a:schemeClr val="tx1"/>
                </a:solidFill>
                <a:latin typeface="+mn-lt"/>
                <a:ea typeface="+mn-lt"/>
                <a:cs typeface="+mn-lt"/>
              </a:defRPr>
            </a:defPPr>
            <a:lvl1pPr marL="174836" indent="-174836">
              <a:lnSpc>
                <a:spcPct val="110000"/>
              </a:lnSpc>
              <a:spcBef>
                <a:spcPts val="0"/>
              </a:spcBef>
              <a:spcAft>
                <a:spcPts val="918"/>
              </a:spcAft>
              <a:buChar char="•"/>
            </a:lvl1pPr>
            <a:lvl2pPr marL="407951" indent="-174836">
              <a:lnSpc>
                <a:spcPct val="110000"/>
              </a:lnSpc>
              <a:spcBef>
                <a:spcPts val="0"/>
              </a:spcBef>
              <a:spcAft>
                <a:spcPts val="918"/>
              </a:spcAft>
              <a:buChar char="•"/>
            </a:lvl2pPr>
            <a:lvl3pPr marL="641066" indent="-174836">
              <a:lnSpc>
                <a:spcPct val="110000"/>
              </a:lnSpc>
              <a:spcBef>
                <a:spcPts val="0"/>
              </a:spcBef>
              <a:spcAft>
                <a:spcPts val="918"/>
              </a:spcAft>
              <a:buChar char="•"/>
            </a:lvl3pPr>
            <a:lvl4pPr marL="874181" indent="-174836">
              <a:lnSpc>
                <a:spcPct val="110000"/>
              </a:lnSpc>
              <a:spcBef>
                <a:spcPts val="0"/>
              </a:spcBef>
              <a:spcAft>
                <a:spcPts val="918"/>
              </a:spcAft>
              <a:buChar char="•"/>
            </a:lvl4pPr>
            <a:lvl5pPr marL="1107296" indent="-174836">
              <a:lnSpc>
                <a:spcPct val="110000"/>
              </a:lnSpc>
              <a:spcBef>
                <a:spcPts val="0"/>
              </a:spcBef>
              <a:spcAft>
                <a:spcPts val="918"/>
              </a:spcAft>
              <a:buChar char="•"/>
            </a:lvl5pPr>
            <a:lvl6pPr marL="1340410" indent="-174836">
              <a:lnSpc>
                <a:spcPct val="110000"/>
              </a:lnSpc>
              <a:spcBef>
                <a:spcPts val="0"/>
              </a:spcBef>
              <a:spcAft>
                <a:spcPts val="918"/>
              </a:spcAft>
              <a:buChar char="•"/>
            </a:lvl6pPr>
            <a:lvl7pPr marL="1573525" indent="-174836">
              <a:lnSpc>
                <a:spcPct val="110000"/>
              </a:lnSpc>
              <a:spcBef>
                <a:spcPts val="0"/>
              </a:spcBef>
              <a:spcAft>
                <a:spcPts val="918"/>
              </a:spcAft>
              <a:buChar char="•"/>
            </a:lvl7pPr>
            <a:lvl8pPr marL="1806640" indent="-174836">
              <a:lnSpc>
                <a:spcPct val="110000"/>
              </a:lnSpc>
              <a:spcBef>
                <a:spcPts val="0"/>
              </a:spcBef>
              <a:spcAft>
                <a:spcPts val="918"/>
              </a:spcAft>
              <a:buChar char="•"/>
            </a:lvl8pPr>
            <a:lvl9pPr marL="2039755" indent="-174836">
              <a:lnSpc>
                <a:spcPct val="110000"/>
              </a:lnSpc>
              <a:spcBef>
                <a:spcPts val="0"/>
              </a:spcBef>
              <a:spcAft>
                <a:spcPts val="918"/>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6.xml"/><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FEC39EEC-D429-4624-9259-E7818B9D2BD4}"/>
              </a:ext>
            </a:extLst>
          </p:cNvPr>
          <p:cNvPicPr>
            <a:picLocks noChangeAspect="1"/>
          </p:cNvPicPr>
          <p:nvPr/>
        </p:nvPicPr>
        <p:blipFill>
          <a:blip r:embed="rId3"/>
          <a:stretch/>
        </p:blipFill>
        <p:spPr>
          <a:xfrm>
            <a:off x="0" y="0"/>
            <a:ext cx="9324594" cy="5248656"/>
          </a:xfrm>
          <a:prstGeom prst="rect">
            <a:avLst/>
          </a:prstGeom>
        </p:spPr>
      </p:pic>
    </p:spTree>
    <p:extLst>
      <p:ext uri="{BB962C8B-B14F-4D97-AF65-F5344CB8AC3E}">
        <p14:creationId xmlns:p14="http://schemas.microsoft.com/office/powerpoint/2010/main" val="569785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Imagen 19">
            <a:extLst>
              <a:ext uri="{FF2B5EF4-FFF2-40B4-BE49-F238E27FC236}">
                <a16:creationId xmlns:a16="http://schemas.microsoft.com/office/drawing/2014/main" id="{78B3D149-F6D9-4ABC-B35D-3D9E6A29258E}"/>
              </a:ext>
            </a:extLst>
          </p:cNvPr>
          <p:cNvPicPr>
            <a:picLocks noChangeAspect="1"/>
          </p:cNvPicPr>
          <p:nvPr/>
        </p:nvPicPr>
        <p:blipFill>
          <a:blip r:embed="rId3"/>
          <a:stretch/>
        </p:blipFill>
        <p:spPr>
          <a:xfrm>
            <a:off x="0" y="0"/>
            <a:ext cx="9324594" cy="5248656"/>
          </a:xfrm>
          <a:prstGeom prst="rect">
            <a:avLst/>
          </a:prstGeom>
        </p:spPr>
      </p:pic>
      <p:sp>
        <p:nvSpPr>
          <p:cNvPr id="2" name="text-2-0">
            <a:extLst>
              <a:ext uri="{FF2B5EF4-FFF2-40B4-BE49-F238E27FC236}">
                <a16:creationId xmlns:a16="http://schemas.microsoft.com/office/drawing/2014/main" id="{121071BB-18C8-4D12-AA58-02399C82FB85}"/>
              </a:ext>
            </a:extLst>
          </p:cNvPr>
          <p:cNvSpPr>
            <a:spLocks noGrp="1"/>
          </p:cNvSpPr>
          <p:nvPr/>
        </p:nvSpPr>
        <p:spPr>
          <a:xfrm>
            <a:off x="532209" y="382979"/>
            <a:ext cx="581931"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EQUIPO</a:t>
            </a:r>
          </a:p>
        </p:txBody>
      </p:sp>
      <p:sp>
        <p:nvSpPr>
          <p:cNvPr id="3" name="text-2-1">
            <a:extLst>
              <a:ext uri="{FF2B5EF4-FFF2-40B4-BE49-F238E27FC236}">
                <a16:creationId xmlns:a16="http://schemas.microsoft.com/office/drawing/2014/main" id="{9A93AD91-5C75-405F-9410-D38997129ACB}"/>
              </a:ext>
            </a:extLst>
          </p:cNvPr>
          <p:cNvSpPr>
            <a:spLocks noGrp="1"/>
          </p:cNvSpPr>
          <p:nvPr/>
        </p:nvSpPr>
        <p:spPr>
          <a:xfrm>
            <a:off x="532209" y="681530"/>
            <a:ext cx="3413981" cy="607219"/>
          </a:xfrm>
          <a:prstGeom prst="rect">
            <a:avLst/>
          </a:prstGeom>
          <a:noFill/>
          <a:ln w="0">
            <a:noFill/>
          </a:ln>
        </p:spPr>
        <p:txBody>
          <a:bodyPr wrap="none" lIns="0" tIns="0" rIns="0" bIns="0" anchor="t">
            <a:noAutofit/>
          </a:bodyPr>
          <a:lstStyle>
            <a:defPPr>
              <a:defRPr sz="3825" b="0" i="0">
                <a:solidFill>
                  <a:srgbClr val="0B0B0B"/>
                </a:solidFill>
                <a:latin typeface="Impact"/>
                <a:ea typeface="Impact"/>
                <a:cs typeface="Impact"/>
              </a:defRPr>
            </a:defPPr>
          </a:lstStyle>
          <a:p>
            <a:pPr>
              <a:defRPr sz="3825" b="0" i="0">
                <a:solidFill>
                  <a:srgbClr val="0B0B0B"/>
                </a:solidFill>
                <a:latin typeface="Impact"/>
                <a:ea typeface="Impact"/>
                <a:cs typeface="Impact"/>
              </a:defRPr>
            </a:pPr>
            <a:r>
              <a:rPr sz="3825" b="0" i="0">
                <a:solidFill>
                  <a:srgbClr val="0B0B0B"/>
                </a:solidFill>
                <a:latin typeface="Impact"/>
                <a:ea typeface="Impact"/>
                <a:cs typeface="Impact"/>
              </a:rPr>
              <a:t>CUATRO PERSONAS</a:t>
            </a:r>
          </a:p>
        </p:txBody>
      </p:sp>
      <p:sp>
        <p:nvSpPr>
          <p:cNvPr id="4" name="text-2-2">
            <a:extLst>
              <a:ext uri="{FF2B5EF4-FFF2-40B4-BE49-F238E27FC236}">
                <a16:creationId xmlns:a16="http://schemas.microsoft.com/office/drawing/2014/main" id="{01CCAAD5-5AB1-484D-958B-6D2DB8541545}"/>
              </a:ext>
            </a:extLst>
          </p:cNvPr>
          <p:cNvSpPr>
            <a:spLocks noGrp="1"/>
          </p:cNvSpPr>
          <p:nvPr/>
        </p:nvSpPr>
        <p:spPr>
          <a:xfrm>
            <a:off x="532209" y="1174449"/>
            <a:ext cx="2865791" cy="607219"/>
          </a:xfrm>
          <a:prstGeom prst="rect">
            <a:avLst/>
          </a:prstGeom>
          <a:noFill/>
          <a:ln w="0">
            <a:noFill/>
          </a:ln>
        </p:spPr>
        <p:txBody>
          <a:bodyPr wrap="none" lIns="0" tIns="0" rIns="0" bIns="0" anchor="t">
            <a:noAutofit/>
          </a:bodyPr>
          <a:lstStyle>
            <a:defPPr>
              <a:defRPr sz="3825" b="0" i="0">
                <a:solidFill>
                  <a:srgbClr val="0B0B0B"/>
                </a:solidFill>
                <a:latin typeface="Impact"/>
                <a:ea typeface="Impact"/>
                <a:cs typeface="Impact"/>
              </a:defRPr>
            </a:defPPr>
          </a:lstStyle>
          <a:p>
            <a:pPr>
              <a:defRPr sz="3825" b="0" i="0">
                <a:solidFill>
                  <a:srgbClr val="0B0B0B"/>
                </a:solidFill>
                <a:latin typeface="Impact"/>
                <a:ea typeface="Impact"/>
                <a:cs typeface="Impact"/>
              </a:defRPr>
            </a:pPr>
            <a:r>
              <a:rPr sz="3825" b="0" i="0">
                <a:solidFill>
                  <a:srgbClr val="0B0B0B"/>
                </a:solidFill>
                <a:latin typeface="Impact"/>
                <a:ea typeface="Impact"/>
                <a:cs typeface="Impact"/>
              </a:rPr>
              <a:t>UN MISMO RETO</a:t>
            </a:r>
          </a:p>
        </p:txBody>
      </p:sp>
      <p:sp>
        <p:nvSpPr>
          <p:cNvPr id="5" name="text-2-3">
            <a:extLst>
              <a:ext uri="{FF2B5EF4-FFF2-40B4-BE49-F238E27FC236}">
                <a16:creationId xmlns:a16="http://schemas.microsoft.com/office/drawing/2014/main" id="{997E9512-E50F-45B8-95C6-69499226169F}"/>
              </a:ext>
            </a:extLst>
          </p:cNvPr>
          <p:cNvSpPr>
            <a:spLocks noGrp="1"/>
          </p:cNvSpPr>
          <p:nvPr/>
        </p:nvSpPr>
        <p:spPr>
          <a:xfrm>
            <a:off x="532209" y="3669627"/>
            <a:ext cx="638972" cy="321469"/>
          </a:xfrm>
          <a:prstGeom prst="rect">
            <a:avLst/>
          </a:prstGeom>
          <a:noFill/>
          <a:ln w="0">
            <a:noFill/>
          </a:ln>
        </p:spPr>
        <p:txBody>
          <a:bodyPr wrap="none" lIns="0" tIns="0" rIns="0" bIns="0" anchor="t">
            <a:noAutofit/>
          </a:bodyPr>
          <a:lstStyle>
            <a:defPPr>
              <a:defRPr sz="2025" b="0" i="0">
                <a:solidFill>
                  <a:srgbClr val="0B0B0B"/>
                </a:solidFill>
                <a:latin typeface="Impact"/>
                <a:ea typeface="Impact"/>
                <a:cs typeface="Impact"/>
              </a:defRPr>
            </a:defPPr>
          </a:lstStyle>
          <a:p>
            <a:pPr>
              <a:defRPr sz="2025" b="0" i="0">
                <a:solidFill>
                  <a:srgbClr val="0B0B0B"/>
                </a:solidFill>
                <a:latin typeface="Impact"/>
                <a:ea typeface="Impact"/>
                <a:cs typeface="Impact"/>
              </a:defRPr>
            </a:pPr>
            <a:r>
              <a:rPr sz="2025" b="0" i="0">
                <a:solidFill>
                  <a:srgbClr val="0B0B0B"/>
                </a:solidFill>
                <a:latin typeface="Impact"/>
                <a:ea typeface="Impact"/>
                <a:cs typeface="Impact"/>
              </a:rPr>
              <a:t>DAVID</a:t>
            </a:r>
          </a:p>
        </p:txBody>
      </p:sp>
      <p:sp>
        <p:nvSpPr>
          <p:cNvPr id="6" name="text-2-4">
            <a:extLst>
              <a:ext uri="{FF2B5EF4-FFF2-40B4-BE49-F238E27FC236}">
                <a16:creationId xmlns:a16="http://schemas.microsoft.com/office/drawing/2014/main" id="{8ECE6F6F-0376-4F0C-B31F-6AF66B9A572D}"/>
              </a:ext>
            </a:extLst>
          </p:cNvPr>
          <p:cNvSpPr>
            <a:spLocks noGrp="1"/>
          </p:cNvSpPr>
          <p:nvPr/>
        </p:nvSpPr>
        <p:spPr>
          <a:xfrm>
            <a:off x="532209" y="4001100"/>
            <a:ext cx="815111" cy="196453"/>
          </a:xfrm>
          <a:prstGeom prst="rect">
            <a:avLst/>
          </a:prstGeom>
          <a:noFill/>
          <a:ln w="0">
            <a:noFill/>
          </a:ln>
        </p:spPr>
        <p:txBody>
          <a:bodyPr wrap="none" lIns="0" tIns="0" rIns="0" bIns="0" anchor="t">
            <a:noAutofit/>
          </a:bodyPr>
          <a:lstStyle>
            <a:defPPr>
              <a:defRPr sz="1238" b="1" i="0">
                <a:solidFill>
                  <a:srgbClr val="DC0A1E"/>
                </a:solidFill>
                <a:latin typeface="Arial"/>
                <a:ea typeface="Arial"/>
                <a:cs typeface="Arial"/>
              </a:defRPr>
            </a:defPPr>
          </a:lstStyle>
          <a:p>
            <a:pPr>
              <a:defRPr sz="1238" b="1" i="0">
                <a:solidFill>
                  <a:srgbClr val="DC0A1E"/>
                </a:solidFill>
                <a:latin typeface="Arial"/>
                <a:ea typeface="Arial"/>
                <a:cs typeface="Arial"/>
              </a:defRPr>
            </a:pPr>
            <a:r>
              <a:rPr sz="1238" b="1" i="0">
                <a:solidFill>
                  <a:srgbClr val="DC0A1E"/>
                </a:solidFill>
                <a:latin typeface="Arial"/>
                <a:ea typeface="Arial"/>
                <a:cs typeface="Arial"/>
              </a:rPr>
              <a:t>WhatsApp</a:t>
            </a:r>
          </a:p>
        </p:txBody>
      </p:sp>
      <p:sp>
        <p:nvSpPr>
          <p:cNvPr id="7" name="text-2-5">
            <a:extLst>
              <a:ext uri="{FF2B5EF4-FFF2-40B4-BE49-F238E27FC236}">
                <a16:creationId xmlns:a16="http://schemas.microsoft.com/office/drawing/2014/main" id="{52B56A6E-3929-41C0-ADA0-EF85A033BCD7}"/>
              </a:ext>
            </a:extLst>
          </p:cNvPr>
          <p:cNvSpPr>
            <a:spLocks noGrp="1"/>
          </p:cNvSpPr>
          <p:nvPr/>
        </p:nvSpPr>
        <p:spPr>
          <a:xfrm>
            <a:off x="532209" y="4226993"/>
            <a:ext cx="1338891" cy="160734"/>
          </a:xfrm>
          <a:prstGeom prst="rect">
            <a:avLst/>
          </a:prstGeom>
          <a:noFill/>
          <a:ln w="0">
            <a:noFill/>
          </a:ln>
        </p:spPr>
        <p:txBody>
          <a:bodyPr wrap="none" lIns="0" tIns="0" rIns="0" bIns="0" anchor="t">
            <a:noAutofit/>
          </a:bodyPr>
          <a:lstStyle>
            <a:defPPr>
              <a:defRPr sz="1013" b="0" i="0">
                <a:solidFill>
                  <a:srgbClr val="0B0B0B"/>
                </a:solidFill>
                <a:latin typeface="Arial"/>
                <a:ea typeface="Arial"/>
                <a:cs typeface="Arial"/>
              </a:defRPr>
            </a:defPPr>
          </a:lstStyle>
          <a:p>
            <a:pPr>
              <a:defRPr sz="1013" b="0" i="0">
                <a:solidFill>
                  <a:srgbClr val="0B0B0B"/>
                </a:solidFill>
                <a:latin typeface="Arial"/>
                <a:ea typeface="Arial"/>
                <a:cs typeface="Arial"/>
              </a:defRPr>
            </a:pPr>
            <a:r>
              <a:rPr sz="1013" b="0" i="0">
                <a:solidFill>
                  <a:srgbClr val="0B0B0B"/>
                </a:solidFill>
                <a:latin typeface="Arial"/>
                <a:ea typeface="Arial"/>
                <a:cs typeface="Arial"/>
              </a:rPr>
              <a:t>Agente conversacional</a:t>
            </a:r>
          </a:p>
        </p:txBody>
      </p:sp>
      <p:sp>
        <p:nvSpPr>
          <p:cNvPr id="8" name="text-2-6">
            <a:extLst>
              <a:ext uri="{FF2B5EF4-FFF2-40B4-BE49-F238E27FC236}">
                <a16:creationId xmlns:a16="http://schemas.microsoft.com/office/drawing/2014/main" id="{DBB468B0-1296-41BF-BE92-AB17B83B6EAD}"/>
              </a:ext>
            </a:extLst>
          </p:cNvPr>
          <p:cNvSpPr>
            <a:spLocks noGrp="1"/>
          </p:cNvSpPr>
          <p:nvPr/>
        </p:nvSpPr>
        <p:spPr>
          <a:xfrm>
            <a:off x="2646759" y="3669627"/>
            <a:ext cx="589657" cy="321469"/>
          </a:xfrm>
          <a:prstGeom prst="rect">
            <a:avLst/>
          </a:prstGeom>
          <a:noFill/>
          <a:ln w="0">
            <a:noFill/>
          </a:ln>
        </p:spPr>
        <p:txBody>
          <a:bodyPr wrap="none" lIns="0" tIns="0" rIns="0" bIns="0" anchor="t">
            <a:noAutofit/>
          </a:bodyPr>
          <a:lstStyle>
            <a:defPPr>
              <a:defRPr sz="2025" b="0" i="0">
                <a:solidFill>
                  <a:srgbClr val="0B0B0B"/>
                </a:solidFill>
                <a:latin typeface="Impact"/>
                <a:ea typeface="Impact"/>
                <a:cs typeface="Impact"/>
              </a:defRPr>
            </a:defPPr>
          </a:lstStyle>
          <a:p>
            <a:pPr>
              <a:defRPr sz="2025" b="0" i="0">
                <a:solidFill>
                  <a:srgbClr val="0B0B0B"/>
                </a:solidFill>
                <a:latin typeface="Impact"/>
                <a:ea typeface="Impact"/>
                <a:cs typeface="Impact"/>
              </a:defRPr>
            </a:pPr>
            <a:r>
              <a:rPr sz="2025" b="0" i="0">
                <a:solidFill>
                  <a:srgbClr val="0B0B0B"/>
                </a:solidFill>
                <a:latin typeface="Impact"/>
                <a:ea typeface="Impact"/>
                <a:cs typeface="Impact"/>
              </a:rPr>
              <a:t>BINNI</a:t>
            </a:r>
          </a:p>
        </p:txBody>
      </p:sp>
      <p:sp>
        <p:nvSpPr>
          <p:cNvPr id="9" name="text-2-7">
            <a:extLst>
              <a:ext uri="{FF2B5EF4-FFF2-40B4-BE49-F238E27FC236}">
                <a16:creationId xmlns:a16="http://schemas.microsoft.com/office/drawing/2014/main" id="{B6414E74-579E-4C44-ACF3-AC78E7430BDF}"/>
              </a:ext>
            </a:extLst>
          </p:cNvPr>
          <p:cNvSpPr>
            <a:spLocks noGrp="1"/>
          </p:cNvSpPr>
          <p:nvPr/>
        </p:nvSpPr>
        <p:spPr>
          <a:xfrm>
            <a:off x="2646759" y="4001100"/>
            <a:ext cx="797823" cy="196453"/>
          </a:xfrm>
          <a:prstGeom prst="rect">
            <a:avLst/>
          </a:prstGeom>
          <a:noFill/>
          <a:ln w="0">
            <a:noFill/>
          </a:ln>
        </p:spPr>
        <p:txBody>
          <a:bodyPr wrap="none" lIns="0" tIns="0" rIns="0" bIns="0" anchor="t">
            <a:noAutofit/>
          </a:bodyPr>
          <a:lstStyle>
            <a:defPPr>
              <a:defRPr sz="1238" b="1" i="0">
                <a:solidFill>
                  <a:srgbClr val="DC0A1E"/>
                </a:solidFill>
                <a:latin typeface="Arial"/>
                <a:ea typeface="Arial"/>
                <a:cs typeface="Arial"/>
              </a:defRPr>
            </a:defPPr>
          </a:lstStyle>
          <a:p>
            <a:pPr>
              <a:defRPr sz="1238" b="1" i="0">
                <a:solidFill>
                  <a:srgbClr val="DC0A1E"/>
                </a:solidFill>
                <a:latin typeface="Arial"/>
                <a:ea typeface="Arial"/>
                <a:cs typeface="Arial"/>
              </a:defRPr>
            </a:pPr>
            <a:r>
              <a:rPr sz="1238" b="1" i="0">
                <a:solidFill>
                  <a:srgbClr val="DC0A1E"/>
                </a:solidFill>
                <a:latin typeface="Arial"/>
                <a:ea typeface="Arial"/>
                <a:cs typeface="Arial"/>
              </a:rPr>
              <a:t>App móvil</a:t>
            </a:r>
          </a:p>
        </p:txBody>
      </p:sp>
      <p:sp>
        <p:nvSpPr>
          <p:cNvPr id="10" name="text-2-8">
            <a:extLst>
              <a:ext uri="{FF2B5EF4-FFF2-40B4-BE49-F238E27FC236}">
                <a16:creationId xmlns:a16="http://schemas.microsoft.com/office/drawing/2014/main" id="{8550E346-3025-4370-9193-AEA053E486A2}"/>
              </a:ext>
            </a:extLst>
          </p:cNvPr>
          <p:cNvSpPr>
            <a:spLocks noGrp="1"/>
          </p:cNvSpPr>
          <p:nvPr/>
        </p:nvSpPr>
        <p:spPr>
          <a:xfrm>
            <a:off x="2646759" y="4226993"/>
            <a:ext cx="1188829" cy="160734"/>
          </a:xfrm>
          <a:prstGeom prst="rect">
            <a:avLst/>
          </a:prstGeom>
          <a:noFill/>
          <a:ln w="0">
            <a:noFill/>
          </a:ln>
        </p:spPr>
        <p:txBody>
          <a:bodyPr wrap="none" lIns="0" tIns="0" rIns="0" bIns="0" anchor="t">
            <a:noAutofit/>
          </a:bodyPr>
          <a:lstStyle>
            <a:defPPr>
              <a:defRPr sz="1013" b="0" i="0">
                <a:solidFill>
                  <a:srgbClr val="0B0B0B"/>
                </a:solidFill>
                <a:latin typeface="Arial"/>
                <a:ea typeface="Arial"/>
                <a:cs typeface="Arial"/>
              </a:defRPr>
            </a:defPPr>
          </a:lstStyle>
          <a:p>
            <a:pPr>
              <a:defRPr sz="1013" b="0" i="0">
                <a:solidFill>
                  <a:srgbClr val="0B0B0B"/>
                </a:solidFill>
                <a:latin typeface="Arial"/>
                <a:ea typeface="Arial"/>
                <a:cs typeface="Arial"/>
              </a:defRPr>
            </a:pPr>
            <a:r>
              <a:rPr sz="1013" b="0" i="0">
                <a:solidFill>
                  <a:srgbClr val="0B0B0B"/>
                </a:solidFill>
                <a:latin typeface="Arial"/>
                <a:ea typeface="Arial"/>
                <a:cs typeface="Arial"/>
              </a:rPr>
              <a:t>Asistente y backend</a:t>
            </a:r>
          </a:p>
        </p:txBody>
      </p:sp>
      <p:sp>
        <p:nvSpPr>
          <p:cNvPr id="11" name="text-2-9">
            <a:extLst>
              <a:ext uri="{FF2B5EF4-FFF2-40B4-BE49-F238E27FC236}">
                <a16:creationId xmlns:a16="http://schemas.microsoft.com/office/drawing/2014/main" id="{EFB02FFE-11B4-446E-9529-A37AA105D61A}"/>
              </a:ext>
            </a:extLst>
          </p:cNvPr>
          <p:cNvSpPr>
            <a:spLocks noGrp="1"/>
          </p:cNvSpPr>
          <p:nvPr/>
        </p:nvSpPr>
        <p:spPr>
          <a:xfrm>
            <a:off x="4761309" y="3669627"/>
            <a:ext cx="648913" cy="321469"/>
          </a:xfrm>
          <a:prstGeom prst="rect">
            <a:avLst/>
          </a:prstGeom>
          <a:noFill/>
          <a:ln w="0">
            <a:noFill/>
          </a:ln>
        </p:spPr>
        <p:txBody>
          <a:bodyPr wrap="none" lIns="0" tIns="0" rIns="0" bIns="0" anchor="t">
            <a:noAutofit/>
          </a:bodyPr>
          <a:lstStyle>
            <a:defPPr>
              <a:defRPr sz="2025" b="0" i="0">
                <a:solidFill>
                  <a:srgbClr val="0B0B0B"/>
                </a:solidFill>
                <a:latin typeface="Impact"/>
                <a:ea typeface="Impact"/>
                <a:cs typeface="Impact"/>
              </a:defRPr>
            </a:defPPr>
          </a:lstStyle>
          <a:p>
            <a:pPr>
              <a:defRPr sz="2025" b="0" i="0">
                <a:solidFill>
                  <a:srgbClr val="0B0B0B"/>
                </a:solidFill>
                <a:latin typeface="Impact"/>
                <a:ea typeface="Impact"/>
                <a:cs typeface="Impact"/>
              </a:defRPr>
            </a:pPr>
            <a:r>
              <a:rPr sz="2025" b="0" i="0">
                <a:solidFill>
                  <a:srgbClr val="0B0B0B"/>
                </a:solidFill>
                <a:latin typeface="Impact"/>
                <a:ea typeface="Impact"/>
                <a:cs typeface="Impact"/>
              </a:rPr>
              <a:t>JORDY</a:t>
            </a:r>
          </a:p>
        </p:txBody>
      </p:sp>
      <p:sp>
        <p:nvSpPr>
          <p:cNvPr id="12" name="text-2-10">
            <a:extLst>
              <a:ext uri="{FF2B5EF4-FFF2-40B4-BE49-F238E27FC236}">
                <a16:creationId xmlns:a16="http://schemas.microsoft.com/office/drawing/2014/main" id="{66635685-019D-4C0E-9350-677DE262B01C}"/>
              </a:ext>
            </a:extLst>
          </p:cNvPr>
          <p:cNvSpPr>
            <a:spLocks noGrp="1"/>
          </p:cNvSpPr>
          <p:nvPr/>
        </p:nvSpPr>
        <p:spPr>
          <a:xfrm>
            <a:off x="4761309" y="4001100"/>
            <a:ext cx="367007" cy="196453"/>
          </a:xfrm>
          <a:prstGeom prst="rect">
            <a:avLst/>
          </a:prstGeom>
          <a:noFill/>
          <a:ln w="0">
            <a:noFill/>
          </a:ln>
        </p:spPr>
        <p:txBody>
          <a:bodyPr wrap="none" lIns="0" tIns="0" rIns="0" bIns="0" anchor="t">
            <a:noAutofit/>
          </a:bodyPr>
          <a:lstStyle>
            <a:defPPr>
              <a:defRPr sz="1238" b="1" i="0">
                <a:solidFill>
                  <a:srgbClr val="DC0A1E"/>
                </a:solidFill>
                <a:latin typeface="Arial"/>
                <a:ea typeface="Arial"/>
                <a:cs typeface="Arial"/>
              </a:defRPr>
            </a:defPPr>
          </a:lstStyle>
          <a:p>
            <a:pPr>
              <a:defRPr sz="1238" b="1" i="0">
                <a:solidFill>
                  <a:srgbClr val="DC0A1E"/>
                </a:solidFill>
                <a:latin typeface="Arial"/>
                <a:ea typeface="Arial"/>
                <a:cs typeface="Arial"/>
              </a:defRPr>
            </a:pPr>
            <a:r>
              <a:rPr sz="1238" b="1" i="0">
                <a:solidFill>
                  <a:srgbClr val="DC0A1E"/>
                </a:solidFill>
                <a:latin typeface="Arial"/>
                <a:ea typeface="Arial"/>
                <a:cs typeface="Arial"/>
              </a:rPr>
              <a:t>Web</a:t>
            </a:r>
          </a:p>
        </p:txBody>
      </p:sp>
      <p:sp>
        <p:nvSpPr>
          <p:cNvPr id="13" name="text-2-11">
            <a:extLst>
              <a:ext uri="{FF2B5EF4-FFF2-40B4-BE49-F238E27FC236}">
                <a16:creationId xmlns:a16="http://schemas.microsoft.com/office/drawing/2014/main" id="{8E88709E-EF10-4075-A3BA-9B0B71DE84F6}"/>
              </a:ext>
            </a:extLst>
          </p:cNvPr>
          <p:cNvSpPr>
            <a:spLocks noGrp="1"/>
          </p:cNvSpPr>
          <p:nvPr/>
        </p:nvSpPr>
        <p:spPr>
          <a:xfrm>
            <a:off x="4761309" y="4226993"/>
            <a:ext cx="1109877" cy="160734"/>
          </a:xfrm>
          <a:prstGeom prst="rect">
            <a:avLst/>
          </a:prstGeom>
          <a:noFill/>
          <a:ln w="0">
            <a:noFill/>
          </a:ln>
        </p:spPr>
        <p:txBody>
          <a:bodyPr wrap="none" lIns="0" tIns="0" rIns="0" bIns="0" anchor="t">
            <a:noAutofit/>
          </a:bodyPr>
          <a:lstStyle>
            <a:defPPr>
              <a:defRPr sz="1013" b="0" i="0">
                <a:solidFill>
                  <a:srgbClr val="0B0B0B"/>
                </a:solidFill>
                <a:latin typeface="Arial"/>
                <a:ea typeface="Arial"/>
                <a:cs typeface="Arial"/>
              </a:defRPr>
            </a:defPPr>
          </a:lstStyle>
          <a:p>
            <a:pPr>
              <a:defRPr sz="1013" b="0" i="0">
                <a:solidFill>
                  <a:srgbClr val="0B0B0B"/>
                </a:solidFill>
                <a:latin typeface="Arial"/>
                <a:ea typeface="Arial"/>
                <a:cs typeface="Arial"/>
              </a:defRPr>
            </a:pPr>
            <a:r>
              <a:rPr sz="1013" b="0" i="0">
                <a:solidFill>
                  <a:srgbClr val="0B0B0B"/>
                </a:solidFill>
                <a:latin typeface="Arial"/>
                <a:ea typeface="Arial"/>
                <a:cs typeface="Arial"/>
              </a:rPr>
              <a:t>Formulario y portal</a:t>
            </a:r>
          </a:p>
        </p:txBody>
      </p:sp>
      <p:sp>
        <p:nvSpPr>
          <p:cNvPr id="14" name="text-2-12">
            <a:extLst>
              <a:ext uri="{FF2B5EF4-FFF2-40B4-BE49-F238E27FC236}">
                <a16:creationId xmlns:a16="http://schemas.microsoft.com/office/drawing/2014/main" id="{C3FBD0C6-E9E0-4252-B14E-96B7E9E4D4A6}"/>
              </a:ext>
            </a:extLst>
          </p:cNvPr>
          <p:cNvSpPr>
            <a:spLocks noGrp="1"/>
          </p:cNvSpPr>
          <p:nvPr/>
        </p:nvSpPr>
        <p:spPr>
          <a:xfrm>
            <a:off x="6875859" y="3669627"/>
            <a:ext cx="756026" cy="321469"/>
          </a:xfrm>
          <a:prstGeom prst="rect">
            <a:avLst/>
          </a:prstGeom>
          <a:noFill/>
          <a:ln w="0">
            <a:noFill/>
          </a:ln>
        </p:spPr>
        <p:txBody>
          <a:bodyPr wrap="none" lIns="0" tIns="0" rIns="0" bIns="0" anchor="t">
            <a:noAutofit/>
          </a:bodyPr>
          <a:lstStyle>
            <a:defPPr>
              <a:defRPr sz="2025" b="0" i="0">
                <a:solidFill>
                  <a:srgbClr val="0B0B0B"/>
                </a:solidFill>
                <a:latin typeface="Impact"/>
                <a:ea typeface="Impact"/>
                <a:cs typeface="Impact"/>
              </a:defRPr>
            </a:defPPr>
          </a:lstStyle>
          <a:p>
            <a:pPr>
              <a:defRPr sz="2025" b="0" i="0">
                <a:solidFill>
                  <a:srgbClr val="0B0B0B"/>
                </a:solidFill>
                <a:latin typeface="Impact"/>
                <a:ea typeface="Impact"/>
                <a:cs typeface="Impact"/>
              </a:defRPr>
            </a:pPr>
            <a:r>
              <a:rPr sz="2025" b="0" i="0">
                <a:solidFill>
                  <a:srgbClr val="0B0B0B"/>
                </a:solidFill>
                <a:latin typeface="Impact"/>
                <a:ea typeface="Impact"/>
                <a:cs typeface="Impact"/>
              </a:rPr>
              <a:t>MELANI</a:t>
            </a:r>
          </a:p>
        </p:txBody>
      </p:sp>
      <p:sp>
        <p:nvSpPr>
          <p:cNvPr id="15" name="text-2-13">
            <a:extLst>
              <a:ext uri="{FF2B5EF4-FFF2-40B4-BE49-F238E27FC236}">
                <a16:creationId xmlns:a16="http://schemas.microsoft.com/office/drawing/2014/main" id="{56239119-1FD7-456B-B7C8-269FC54BD333}"/>
              </a:ext>
            </a:extLst>
          </p:cNvPr>
          <p:cNvSpPr>
            <a:spLocks noGrp="1"/>
          </p:cNvSpPr>
          <p:nvPr/>
        </p:nvSpPr>
        <p:spPr>
          <a:xfrm>
            <a:off x="6875859" y="4001100"/>
            <a:ext cx="832872" cy="196453"/>
          </a:xfrm>
          <a:prstGeom prst="rect">
            <a:avLst/>
          </a:prstGeom>
          <a:noFill/>
          <a:ln w="0">
            <a:noFill/>
          </a:ln>
        </p:spPr>
        <p:txBody>
          <a:bodyPr wrap="none" lIns="0" tIns="0" rIns="0" bIns="0" anchor="t">
            <a:noAutofit/>
          </a:bodyPr>
          <a:lstStyle>
            <a:defPPr>
              <a:defRPr sz="1238" b="1" i="0">
                <a:solidFill>
                  <a:srgbClr val="DC0A1E"/>
                </a:solidFill>
                <a:latin typeface="Arial"/>
                <a:ea typeface="Arial"/>
                <a:cs typeface="Arial"/>
              </a:defRPr>
            </a:defPPr>
          </a:lstStyle>
          <a:p>
            <a:pPr>
              <a:defRPr sz="1238" b="1" i="0">
                <a:solidFill>
                  <a:srgbClr val="DC0A1E"/>
                </a:solidFill>
                <a:latin typeface="Arial"/>
                <a:ea typeface="Arial"/>
                <a:cs typeface="Arial"/>
              </a:defRPr>
            </a:pPr>
            <a:r>
              <a:rPr sz="1238" b="1" i="0">
                <a:solidFill>
                  <a:srgbClr val="DC0A1E"/>
                </a:solidFill>
                <a:latin typeface="Arial"/>
                <a:ea typeface="Arial"/>
                <a:cs typeface="Arial"/>
              </a:rPr>
              <a:t>Backoffice</a:t>
            </a:r>
          </a:p>
        </p:txBody>
      </p:sp>
      <p:sp>
        <p:nvSpPr>
          <p:cNvPr id="16" name="text-2-14">
            <a:extLst>
              <a:ext uri="{FF2B5EF4-FFF2-40B4-BE49-F238E27FC236}">
                <a16:creationId xmlns:a16="http://schemas.microsoft.com/office/drawing/2014/main" id="{60AB44EB-3378-47E7-8ECB-CB821C5627C9}"/>
              </a:ext>
            </a:extLst>
          </p:cNvPr>
          <p:cNvSpPr>
            <a:spLocks noGrp="1"/>
          </p:cNvSpPr>
          <p:nvPr/>
        </p:nvSpPr>
        <p:spPr>
          <a:xfrm>
            <a:off x="6875859" y="4226993"/>
            <a:ext cx="1446008" cy="160734"/>
          </a:xfrm>
          <a:prstGeom prst="rect">
            <a:avLst/>
          </a:prstGeom>
          <a:noFill/>
          <a:ln w="0">
            <a:noFill/>
          </a:ln>
        </p:spPr>
        <p:txBody>
          <a:bodyPr wrap="none" lIns="0" tIns="0" rIns="0" bIns="0" anchor="t">
            <a:noAutofit/>
          </a:bodyPr>
          <a:lstStyle>
            <a:defPPr>
              <a:defRPr sz="1013" b="0" i="0">
                <a:solidFill>
                  <a:srgbClr val="0B0B0B"/>
                </a:solidFill>
                <a:latin typeface="Arial"/>
                <a:ea typeface="Arial"/>
                <a:cs typeface="Arial"/>
              </a:defRPr>
            </a:defPPr>
          </a:lstStyle>
          <a:p>
            <a:pPr>
              <a:defRPr sz="1013" b="0" i="0">
                <a:solidFill>
                  <a:srgbClr val="0B0B0B"/>
                </a:solidFill>
                <a:latin typeface="Arial"/>
                <a:ea typeface="Arial"/>
                <a:cs typeface="Arial"/>
              </a:defRPr>
            </a:pPr>
            <a:r>
              <a:rPr sz="1013" b="0" i="0">
                <a:solidFill>
                  <a:srgbClr val="0B0B0B"/>
                </a:solidFill>
                <a:latin typeface="Arial"/>
                <a:ea typeface="Arial"/>
                <a:cs typeface="Arial"/>
              </a:rPr>
              <a:t>Revisión de operaciones</a:t>
            </a:r>
          </a:p>
        </p:txBody>
      </p:sp>
      <p:sp>
        <p:nvSpPr>
          <p:cNvPr id="17" name="text-2-15">
            <a:extLst>
              <a:ext uri="{FF2B5EF4-FFF2-40B4-BE49-F238E27FC236}">
                <a16:creationId xmlns:a16="http://schemas.microsoft.com/office/drawing/2014/main" id="{F9C55903-7DD0-43A7-88BB-7A4A720A6FBD}"/>
              </a:ext>
            </a:extLst>
          </p:cNvPr>
          <p:cNvSpPr>
            <a:spLocks noGrp="1"/>
          </p:cNvSpPr>
          <p:nvPr/>
        </p:nvSpPr>
        <p:spPr>
          <a:xfrm>
            <a:off x="532209" y="4586211"/>
            <a:ext cx="3506234" cy="187523"/>
          </a:xfrm>
          <a:prstGeom prst="rect">
            <a:avLst/>
          </a:prstGeom>
          <a:noFill/>
          <a:ln w="0">
            <a:noFill/>
          </a:ln>
        </p:spPr>
        <p:txBody>
          <a:bodyPr wrap="none" lIns="0" tIns="0" rIns="0" bIns="0" anchor="t">
            <a:noAutofit/>
          </a:bodyPr>
          <a:lstStyle>
            <a:defPPr>
              <a:defRPr sz="1181" b="0" i="0">
                <a:solidFill>
                  <a:srgbClr val="0B0B0B"/>
                </a:solidFill>
                <a:latin typeface="Arial"/>
                <a:ea typeface="Arial"/>
                <a:cs typeface="Arial"/>
              </a:defRPr>
            </a:defPPr>
          </a:lstStyle>
          <a:p>
            <a:pPr>
              <a:defRPr sz="1181" b="0" i="0">
                <a:solidFill>
                  <a:srgbClr val="0B0B0B"/>
                </a:solidFill>
                <a:latin typeface="Arial"/>
                <a:ea typeface="Arial"/>
                <a:cs typeface="Arial"/>
              </a:defRPr>
            </a:pPr>
            <a:r>
              <a:rPr sz="1181" b="0" i="0">
                <a:solidFill>
                  <a:srgbClr val="0B0B0B"/>
                </a:solidFill>
                <a:latin typeface="Arial"/>
                <a:ea typeface="Arial"/>
                <a:cs typeface="Arial"/>
              </a:rPr>
              <a:t>Cuatro módulos. Un mismo recorrido para el cliente.</a:t>
            </a:r>
          </a:p>
        </p:txBody>
      </p:sp>
      <p:sp>
        <p:nvSpPr>
          <p:cNvPr id="18" name="text-2-16">
            <a:extLst>
              <a:ext uri="{FF2B5EF4-FFF2-40B4-BE49-F238E27FC236}">
                <a16:creationId xmlns:a16="http://schemas.microsoft.com/office/drawing/2014/main" id="{B27F316F-7125-42BC-8384-E1F009A88F68}"/>
              </a:ext>
            </a:extLst>
          </p:cNvPr>
          <p:cNvSpPr>
            <a:spLocks noGrp="1"/>
          </p:cNvSpPr>
          <p:nvPr/>
        </p:nvSpPr>
        <p:spPr>
          <a:xfrm>
            <a:off x="532209" y="4923697"/>
            <a:ext cx="108970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EQUIPO / OMNI by 5.5</a:t>
            </a:r>
          </a:p>
        </p:txBody>
      </p:sp>
      <p:sp>
        <p:nvSpPr>
          <p:cNvPr id="19" name="text-2-17">
            <a:extLst>
              <a:ext uri="{FF2B5EF4-FFF2-40B4-BE49-F238E27FC236}">
                <a16:creationId xmlns:a16="http://schemas.microsoft.com/office/drawing/2014/main" id="{0F1A0D75-C6E3-429E-A224-C6A450255519}"/>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02 / 5.5</a:t>
            </a:r>
          </a:p>
        </p:txBody>
      </p:sp>
    </p:spTree>
    <p:extLst>
      <p:ext uri="{BB962C8B-B14F-4D97-AF65-F5344CB8AC3E}">
        <p14:creationId xmlns:p14="http://schemas.microsoft.com/office/powerpoint/2010/main" val="11128507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 name="Imagen 13">
            <a:extLst>
              <a:ext uri="{FF2B5EF4-FFF2-40B4-BE49-F238E27FC236}">
                <a16:creationId xmlns:a16="http://schemas.microsoft.com/office/drawing/2014/main" id="{C2AB2BD8-649B-4772-AF80-905B391A1EE5}"/>
              </a:ext>
            </a:extLst>
          </p:cNvPr>
          <p:cNvPicPr>
            <a:picLocks noChangeAspect="1"/>
          </p:cNvPicPr>
          <p:nvPr/>
        </p:nvPicPr>
        <p:blipFill>
          <a:blip r:embed="rId3"/>
          <a:stretch/>
        </p:blipFill>
        <p:spPr>
          <a:xfrm>
            <a:off x="0" y="0"/>
            <a:ext cx="9324594" cy="5248656"/>
          </a:xfrm>
          <a:prstGeom prst="rect">
            <a:avLst/>
          </a:prstGeom>
        </p:spPr>
      </p:pic>
      <p:sp>
        <p:nvSpPr>
          <p:cNvPr id="2" name="text-3-0">
            <a:extLst>
              <a:ext uri="{FF2B5EF4-FFF2-40B4-BE49-F238E27FC236}">
                <a16:creationId xmlns:a16="http://schemas.microsoft.com/office/drawing/2014/main" id="{16E7D9D9-5119-44CA-8466-6E41D8CFD1CF}"/>
              </a:ext>
            </a:extLst>
          </p:cNvPr>
          <p:cNvSpPr>
            <a:spLocks noGrp="1"/>
          </p:cNvSpPr>
          <p:nvPr/>
        </p:nvSpPr>
        <p:spPr>
          <a:xfrm>
            <a:off x="532209" y="382979"/>
            <a:ext cx="1481236"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01 / PROBLEMÁTICA</a:t>
            </a:r>
          </a:p>
        </p:txBody>
      </p:sp>
      <p:sp>
        <p:nvSpPr>
          <p:cNvPr id="3" name="text-3-1">
            <a:extLst>
              <a:ext uri="{FF2B5EF4-FFF2-40B4-BE49-F238E27FC236}">
                <a16:creationId xmlns:a16="http://schemas.microsoft.com/office/drawing/2014/main" id="{562BCF40-2698-47D9-9790-FBFE1D0C6832}"/>
              </a:ext>
            </a:extLst>
          </p:cNvPr>
          <p:cNvSpPr>
            <a:spLocks noGrp="1"/>
          </p:cNvSpPr>
          <p:nvPr/>
        </p:nvSpPr>
        <p:spPr>
          <a:xfrm>
            <a:off x="532209" y="673884"/>
            <a:ext cx="5053049" cy="678656"/>
          </a:xfrm>
          <a:prstGeom prst="rect">
            <a:avLst/>
          </a:prstGeom>
          <a:noFill/>
          <a:ln w="0">
            <a:noFill/>
          </a:ln>
        </p:spPr>
        <p:txBody>
          <a:bodyPr wrap="none" lIns="0" tIns="0" rIns="0" bIns="0" anchor="t">
            <a:noAutofit/>
          </a:bodyPr>
          <a:lstStyle>
            <a:defPPr>
              <a:defRPr sz="4275" b="0" i="0">
                <a:solidFill>
                  <a:srgbClr val="F5F0E8"/>
                </a:solidFill>
                <a:latin typeface="Impact"/>
                <a:ea typeface="Impact"/>
                <a:cs typeface="Impact"/>
              </a:defRPr>
            </a:defPPr>
          </a:lstStyle>
          <a:p>
            <a:pPr>
              <a:defRPr sz="4275" b="0" i="0">
                <a:solidFill>
                  <a:srgbClr val="F5F0E8"/>
                </a:solidFill>
                <a:latin typeface="Impact"/>
                <a:ea typeface="Impact"/>
                <a:cs typeface="Impact"/>
              </a:defRPr>
            </a:pPr>
            <a:r>
              <a:rPr sz="4275" b="0" i="0">
                <a:solidFill>
                  <a:srgbClr val="F5F0E8"/>
                </a:solidFill>
                <a:latin typeface="Impact"/>
                <a:ea typeface="Impact"/>
                <a:cs typeface="Impact"/>
              </a:rPr>
              <a:t>EL BRIEF PEDÍA FACTURAR</a:t>
            </a:r>
          </a:p>
        </p:txBody>
      </p:sp>
      <p:sp>
        <p:nvSpPr>
          <p:cNvPr id="4" name="text-3-2">
            <a:extLst>
              <a:ext uri="{FF2B5EF4-FFF2-40B4-BE49-F238E27FC236}">
                <a16:creationId xmlns:a16="http://schemas.microsoft.com/office/drawing/2014/main" id="{9DF5388B-BD51-420D-91E1-03355BC1742F}"/>
              </a:ext>
            </a:extLst>
          </p:cNvPr>
          <p:cNvSpPr>
            <a:spLocks noGrp="1"/>
          </p:cNvSpPr>
          <p:nvPr/>
        </p:nvSpPr>
        <p:spPr>
          <a:xfrm>
            <a:off x="532209" y="1231097"/>
            <a:ext cx="5164656" cy="678656"/>
          </a:xfrm>
          <a:prstGeom prst="rect">
            <a:avLst/>
          </a:prstGeom>
          <a:noFill/>
          <a:ln w="0">
            <a:noFill/>
          </a:ln>
        </p:spPr>
        <p:txBody>
          <a:bodyPr wrap="none" lIns="0" tIns="0" rIns="0" bIns="0" anchor="t">
            <a:noAutofit/>
          </a:bodyPr>
          <a:lstStyle>
            <a:defPPr>
              <a:defRPr sz="4275" b="0" i="0">
                <a:solidFill>
                  <a:srgbClr val="F5F0E8"/>
                </a:solidFill>
                <a:latin typeface="Impact"/>
                <a:ea typeface="Impact"/>
                <a:cs typeface="Impact"/>
              </a:defRPr>
            </a:defPPr>
          </a:lstStyle>
          <a:p>
            <a:pPr>
              <a:defRPr sz="4275" b="0" i="0">
                <a:solidFill>
                  <a:srgbClr val="F5F0E8"/>
                </a:solidFill>
                <a:latin typeface="Impact"/>
                <a:ea typeface="Impact"/>
                <a:cs typeface="Impact"/>
              </a:defRPr>
            </a:pPr>
            <a:r>
              <a:rPr sz="4275" b="0" i="0">
                <a:solidFill>
                  <a:srgbClr val="F5F0E8"/>
                </a:solidFill>
                <a:latin typeface="Impact"/>
                <a:ea typeface="Impact"/>
                <a:cs typeface="Impact"/>
              </a:rPr>
              <a:t>EL NEGOCIO PEDÍA VENDER</a:t>
            </a:r>
          </a:p>
        </p:txBody>
      </p:sp>
      <p:sp>
        <p:nvSpPr>
          <p:cNvPr id="5" name="text-3-3">
            <a:extLst>
              <a:ext uri="{FF2B5EF4-FFF2-40B4-BE49-F238E27FC236}">
                <a16:creationId xmlns:a16="http://schemas.microsoft.com/office/drawing/2014/main" id="{D90E960B-750E-405B-BE63-1DED13BA7187}"/>
              </a:ext>
            </a:extLst>
          </p:cNvPr>
          <p:cNvSpPr>
            <a:spLocks noGrp="1"/>
          </p:cNvSpPr>
          <p:nvPr/>
        </p:nvSpPr>
        <p:spPr>
          <a:xfrm>
            <a:off x="532209" y="2078755"/>
            <a:ext cx="1061306" cy="187523"/>
          </a:xfrm>
          <a:prstGeom prst="rect">
            <a:avLst/>
          </a:prstGeom>
          <a:noFill/>
          <a:ln w="0">
            <a:noFill/>
          </a:ln>
        </p:spPr>
        <p:txBody>
          <a:bodyPr wrap="none" lIns="0" tIns="0" rIns="0" bIns="0" anchor="t">
            <a:noAutofit/>
          </a:bodyPr>
          <a:lstStyle>
            <a:defPPr>
              <a:defRPr sz="1181" b="1" i="0">
                <a:solidFill>
                  <a:srgbClr val="FF4053"/>
                </a:solidFill>
                <a:latin typeface="Arial"/>
                <a:ea typeface="Arial"/>
                <a:cs typeface="Arial"/>
              </a:defRPr>
            </a:defPPr>
          </a:lstStyle>
          <a:p>
            <a:pPr>
              <a:defRPr sz="1181" b="1" i="0">
                <a:solidFill>
                  <a:srgbClr val="FF4053"/>
                </a:solidFill>
                <a:latin typeface="Arial"/>
                <a:ea typeface="Arial"/>
                <a:cs typeface="Arial"/>
              </a:defRPr>
            </a:pPr>
            <a:r>
              <a:rPr sz="1181" b="1" i="0">
                <a:solidFill>
                  <a:srgbClr val="FF4053"/>
                </a:solidFill>
                <a:latin typeface="Arial"/>
                <a:ea typeface="Arial"/>
                <a:cs typeface="Arial"/>
              </a:rPr>
              <a:t>EL ENCARGO</a:t>
            </a:r>
          </a:p>
        </p:txBody>
      </p:sp>
      <p:sp>
        <p:nvSpPr>
          <p:cNvPr id="6" name="text-3-4">
            <a:extLst>
              <a:ext uri="{FF2B5EF4-FFF2-40B4-BE49-F238E27FC236}">
                <a16:creationId xmlns:a16="http://schemas.microsoft.com/office/drawing/2014/main" id="{14144320-10AE-408D-AF9E-48CBDC93B2B3}"/>
              </a:ext>
            </a:extLst>
          </p:cNvPr>
          <p:cNvSpPr>
            <a:spLocks noGrp="1"/>
          </p:cNvSpPr>
          <p:nvPr/>
        </p:nvSpPr>
        <p:spPr>
          <a:xfrm>
            <a:off x="532209" y="2389319"/>
            <a:ext cx="2484634"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Facturación y trabajo manual.</a:t>
            </a:r>
          </a:p>
        </p:txBody>
      </p:sp>
      <p:sp>
        <p:nvSpPr>
          <p:cNvPr id="7" name="text-3-5">
            <a:extLst>
              <a:ext uri="{FF2B5EF4-FFF2-40B4-BE49-F238E27FC236}">
                <a16:creationId xmlns:a16="http://schemas.microsoft.com/office/drawing/2014/main" id="{BB36BF26-4157-4B5D-9DE6-7E4F51054A8D}"/>
              </a:ext>
            </a:extLst>
          </p:cNvPr>
          <p:cNvSpPr>
            <a:spLocks noGrp="1"/>
          </p:cNvSpPr>
          <p:nvPr/>
        </p:nvSpPr>
        <p:spPr>
          <a:xfrm>
            <a:off x="532209" y="2789369"/>
            <a:ext cx="3011385"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TI ya tenía su solución encaminada.</a:t>
            </a:r>
          </a:p>
        </p:txBody>
      </p:sp>
      <p:sp>
        <p:nvSpPr>
          <p:cNvPr id="8" name="text-3-6">
            <a:extLst>
              <a:ext uri="{FF2B5EF4-FFF2-40B4-BE49-F238E27FC236}">
                <a16:creationId xmlns:a16="http://schemas.microsoft.com/office/drawing/2014/main" id="{374A2871-BA43-4E32-BB40-83DD3E97081B}"/>
              </a:ext>
            </a:extLst>
          </p:cNvPr>
          <p:cNvSpPr>
            <a:spLocks noGrp="1"/>
          </p:cNvSpPr>
          <p:nvPr/>
        </p:nvSpPr>
        <p:spPr>
          <a:xfrm>
            <a:off x="4911328" y="2078755"/>
            <a:ext cx="1130677" cy="187523"/>
          </a:xfrm>
          <a:prstGeom prst="rect">
            <a:avLst/>
          </a:prstGeom>
          <a:noFill/>
          <a:ln w="0">
            <a:noFill/>
          </a:ln>
        </p:spPr>
        <p:txBody>
          <a:bodyPr wrap="none" lIns="0" tIns="0" rIns="0" bIns="0" anchor="t">
            <a:noAutofit/>
          </a:bodyPr>
          <a:lstStyle>
            <a:defPPr>
              <a:defRPr sz="1181" b="1" i="0">
                <a:solidFill>
                  <a:srgbClr val="FF4053"/>
                </a:solidFill>
                <a:latin typeface="Arial"/>
                <a:ea typeface="Arial"/>
                <a:cs typeface="Arial"/>
              </a:defRPr>
            </a:defPPr>
          </a:lstStyle>
          <a:p>
            <a:pPr>
              <a:defRPr sz="1181" b="1" i="0">
                <a:solidFill>
                  <a:srgbClr val="FF4053"/>
                </a:solidFill>
                <a:latin typeface="Arial"/>
                <a:ea typeface="Arial"/>
                <a:cs typeface="Arial"/>
              </a:defRPr>
            </a:pPr>
            <a:r>
              <a:rPr sz="1181" b="1" i="0">
                <a:solidFill>
                  <a:srgbClr val="FF4053"/>
                </a:solidFill>
                <a:latin typeface="Arial"/>
                <a:ea typeface="Arial"/>
                <a:cs typeface="Arial"/>
              </a:rPr>
              <a:t>EL HALLAZGO</a:t>
            </a:r>
          </a:p>
        </p:txBody>
      </p:sp>
      <p:sp>
        <p:nvSpPr>
          <p:cNvPr id="9" name="text-3-7">
            <a:extLst>
              <a:ext uri="{FF2B5EF4-FFF2-40B4-BE49-F238E27FC236}">
                <a16:creationId xmlns:a16="http://schemas.microsoft.com/office/drawing/2014/main" id="{0181B775-D16C-48D8-B465-776625B4BB64}"/>
              </a:ext>
            </a:extLst>
          </p:cNvPr>
          <p:cNvSpPr>
            <a:spLocks noGrp="1"/>
          </p:cNvSpPr>
          <p:nvPr/>
        </p:nvSpPr>
        <p:spPr>
          <a:xfrm>
            <a:off x="4911328" y="2389319"/>
            <a:ext cx="3713663"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La mayor oportunidad estaba en ventas y en</a:t>
            </a:r>
          </a:p>
        </p:txBody>
      </p:sp>
      <p:sp>
        <p:nvSpPr>
          <p:cNvPr id="10" name="text-3-8">
            <a:extLst>
              <a:ext uri="{FF2B5EF4-FFF2-40B4-BE49-F238E27FC236}">
                <a16:creationId xmlns:a16="http://schemas.microsoft.com/office/drawing/2014/main" id="{60D63BE2-6EBB-4DF1-931B-25139BDBE6A2}"/>
              </a:ext>
            </a:extLst>
          </p:cNvPr>
          <p:cNvSpPr>
            <a:spLocks noGrp="1"/>
          </p:cNvSpPr>
          <p:nvPr/>
        </p:nvSpPr>
        <p:spPr>
          <a:xfrm>
            <a:off x="4911328" y="2660782"/>
            <a:ext cx="2123374"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la experiencia del cliente.</a:t>
            </a:r>
          </a:p>
        </p:txBody>
      </p:sp>
      <p:sp>
        <p:nvSpPr>
          <p:cNvPr id="11" name="text-3-9">
            <a:extLst>
              <a:ext uri="{FF2B5EF4-FFF2-40B4-BE49-F238E27FC236}">
                <a16:creationId xmlns:a16="http://schemas.microsoft.com/office/drawing/2014/main" id="{D00F918D-F23D-4C4B-B6C3-234271B4C52C}"/>
              </a:ext>
            </a:extLst>
          </p:cNvPr>
          <p:cNvSpPr>
            <a:spLocks noGrp="1"/>
          </p:cNvSpPr>
          <p:nvPr/>
        </p:nvSpPr>
        <p:spPr>
          <a:xfrm>
            <a:off x="532209" y="3290785"/>
            <a:ext cx="3973592" cy="250031"/>
          </a:xfrm>
          <a:prstGeom prst="rect">
            <a:avLst/>
          </a:prstGeom>
          <a:noFill/>
          <a:ln w="0">
            <a:noFill/>
          </a:ln>
        </p:spPr>
        <p:txBody>
          <a:bodyPr wrap="none" lIns="0" tIns="0" rIns="0" bIns="0" anchor="t">
            <a:noAutofit/>
          </a:bodyPr>
          <a:lstStyle>
            <a:defPPr>
              <a:defRPr sz="1575" b="0" i="0">
                <a:solidFill>
                  <a:srgbClr val="F5F0E8"/>
                </a:solidFill>
                <a:latin typeface="Arial"/>
                <a:ea typeface="Arial"/>
                <a:cs typeface="Arial"/>
              </a:defRPr>
            </a:defPPr>
          </a:lstStyle>
          <a:p>
            <a:pPr>
              <a:defRPr sz="1575" b="0" i="0">
                <a:solidFill>
                  <a:srgbClr val="F5F0E8"/>
                </a:solidFill>
                <a:latin typeface="Arial"/>
                <a:ea typeface="Arial"/>
                <a:cs typeface="Arial"/>
              </a:defRPr>
            </a:pPr>
            <a:r>
              <a:rPr sz="1575" b="0" i="0">
                <a:solidFill>
                  <a:srgbClr val="F5F0E8"/>
                </a:solidFill>
                <a:latin typeface="Arial"/>
                <a:ea typeface="Arial"/>
                <a:cs typeface="Arial"/>
              </a:rPr>
              <a:t>Fuimos al proceso, a los chats y a los datos.</a:t>
            </a:r>
          </a:p>
        </p:txBody>
      </p:sp>
      <p:sp>
        <p:nvSpPr>
          <p:cNvPr id="12" name="text-3-10">
            <a:extLst>
              <a:ext uri="{FF2B5EF4-FFF2-40B4-BE49-F238E27FC236}">
                <a16:creationId xmlns:a16="http://schemas.microsoft.com/office/drawing/2014/main" id="{9E747BAC-6266-4611-B91C-3F736E1D574A}"/>
              </a:ext>
            </a:extLst>
          </p:cNvPr>
          <p:cNvSpPr>
            <a:spLocks noGrp="1"/>
          </p:cNvSpPr>
          <p:nvPr/>
        </p:nvSpPr>
        <p:spPr>
          <a:xfrm>
            <a:off x="532209" y="4923697"/>
            <a:ext cx="1700955"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01 / PROBLEMÁTICA / OMNI by 5.5</a:t>
            </a:r>
          </a:p>
        </p:txBody>
      </p:sp>
      <p:sp>
        <p:nvSpPr>
          <p:cNvPr id="13" name="text-3-11">
            <a:extLst>
              <a:ext uri="{FF2B5EF4-FFF2-40B4-BE49-F238E27FC236}">
                <a16:creationId xmlns:a16="http://schemas.microsoft.com/office/drawing/2014/main" id="{5BA794DE-256B-47E0-AD7C-77DA9B657E7B}"/>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03 / 5.5</a:t>
            </a:r>
          </a:p>
        </p:txBody>
      </p:sp>
    </p:spTree>
    <p:extLst>
      <p:ext uri="{BB962C8B-B14F-4D97-AF65-F5344CB8AC3E}">
        <p14:creationId xmlns:p14="http://schemas.microsoft.com/office/powerpoint/2010/main" val="16164242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Imagen 14">
            <a:extLst>
              <a:ext uri="{FF2B5EF4-FFF2-40B4-BE49-F238E27FC236}">
                <a16:creationId xmlns:a16="http://schemas.microsoft.com/office/drawing/2014/main" id="{5BBA72FF-8A2C-4301-9C74-81AF6A160B0D}"/>
              </a:ext>
            </a:extLst>
          </p:cNvPr>
          <p:cNvPicPr>
            <a:picLocks noChangeAspect="1"/>
          </p:cNvPicPr>
          <p:nvPr/>
        </p:nvPicPr>
        <p:blipFill>
          <a:blip r:embed="rId3"/>
          <a:stretch/>
        </p:blipFill>
        <p:spPr>
          <a:xfrm>
            <a:off x="0" y="0"/>
            <a:ext cx="9324594" cy="5248656"/>
          </a:xfrm>
          <a:prstGeom prst="rect">
            <a:avLst/>
          </a:prstGeom>
        </p:spPr>
      </p:pic>
      <p:sp>
        <p:nvSpPr>
          <p:cNvPr id="2" name="text-4-0">
            <a:extLst>
              <a:ext uri="{FF2B5EF4-FFF2-40B4-BE49-F238E27FC236}">
                <a16:creationId xmlns:a16="http://schemas.microsoft.com/office/drawing/2014/main" id="{95C99E98-1C82-48E1-97BB-EEE8EF093E36}"/>
              </a:ext>
            </a:extLst>
          </p:cNvPr>
          <p:cNvSpPr>
            <a:spLocks noGrp="1"/>
          </p:cNvSpPr>
          <p:nvPr/>
        </p:nvSpPr>
        <p:spPr>
          <a:xfrm>
            <a:off x="532209" y="382979"/>
            <a:ext cx="1481236"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01 / PROBLEMÁTICA</a:t>
            </a:r>
          </a:p>
        </p:txBody>
      </p:sp>
      <p:sp>
        <p:nvSpPr>
          <p:cNvPr id="3" name="text-4-1">
            <a:extLst>
              <a:ext uri="{FF2B5EF4-FFF2-40B4-BE49-F238E27FC236}">
                <a16:creationId xmlns:a16="http://schemas.microsoft.com/office/drawing/2014/main" id="{25F7E65E-31CF-44D0-BCFD-B3FEC0512E8D}"/>
              </a:ext>
            </a:extLst>
          </p:cNvPr>
          <p:cNvSpPr>
            <a:spLocks noGrp="1"/>
          </p:cNvSpPr>
          <p:nvPr/>
        </p:nvSpPr>
        <p:spPr>
          <a:xfrm>
            <a:off x="532209" y="673884"/>
            <a:ext cx="3558971" cy="678656"/>
          </a:xfrm>
          <a:prstGeom prst="rect">
            <a:avLst/>
          </a:prstGeom>
          <a:noFill/>
          <a:ln w="0">
            <a:noFill/>
          </a:ln>
        </p:spPr>
        <p:txBody>
          <a:bodyPr wrap="none" lIns="0" tIns="0" rIns="0" bIns="0" anchor="t">
            <a:noAutofit/>
          </a:bodyPr>
          <a:lstStyle>
            <a:defPPr>
              <a:defRPr sz="4275" b="0" i="0">
                <a:solidFill>
                  <a:srgbClr val="0B0B0B"/>
                </a:solidFill>
                <a:latin typeface="Impact"/>
                <a:ea typeface="Impact"/>
                <a:cs typeface="Impact"/>
              </a:defRPr>
            </a:defPPr>
          </a:lstStyle>
          <a:p>
            <a:pPr>
              <a:defRPr sz="4275" b="0" i="0">
                <a:solidFill>
                  <a:srgbClr val="0B0B0B"/>
                </a:solidFill>
                <a:latin typeface="Impact"/>
                <a:ea typeface="Impact"/>
                <a:cs typeface="Impact"/>
              </a:defRPr>
            </a:pPr>
            <a:r>
              <a:rPr sz="4275" b="0" i="0">
                <a:solidFill>
                  <a:srgbClr val="0B0B0B"/>
                </a:solidFill>
                <a:latin typeface="Impact"/>
                <a:ea typeface="Impact"/>
                <a:cs typeface="Impact"/>
              </a:rPr>
              <a:t>64 COTIZACIONES</a:t>
            </a:r>
          </a:p>
        </p:txBody>
      </p:sp>
      <p:sp>
        <p:nvSpPr>
          <p:cNvPr id="4" name="text-4-2">
            <a:extLst>
              <a:ext uri="{FF2B5EF4-FFF2-40B4-BE49-F238E27FC236}">
                <a16:creationId xmlns:a16="http://schemas.microsoft.com/office/drawing/2014/main" id="{8045C2E1-C753-49C3-A842-37091B35A7AD}"/>
              </a:ext>
            </a:extLst>
          </p:cNvPr>
          <p:cNvSpPr>
            <a:spLocks noGrp="1"/>
          </p:cNvSpPr>
          <p:nvPr/>
        </p:nvSpPr>
        <p:spPr>
          <a:xfrm>
            <a:off x="532209" y="1231097"/>
            <a:ext cx="5168907" cy="678656"/>
          </a:xfrm>
          <a:prstGeom prst="rect">
            <a:avLst/>
          </a:prstGeom>
          <a:noFill/>
          <a:ln w="0">
            <a:noFill/>
          </a:ln>
        </p:spPr>
        <p:txBody>
          <a:bodyPr wrap="none" lIns="0" tIns="0" rIns="0" bIns="0" anchor="t">
            <a:noAutofit/>
          </a:bodyPr>
          <a:lstStyle>
            <a:defPPr>
              <a:defRPr sz="4275" b="0" i="0">
                <a:solidFill>
                  <a:srgbClr val="0B0B0B"/>
                </a:solidFill>
                <a:latin typeface="Impact"/>
                <a:ea typeface="Impact"/>
                <a:cs typeface="Impact"/>
              </a:defRPr>
            </a:defPPr>
          </a:lstStyle>
          <a:p>
            <a:pPr>
              <a:defRPr sz="4275" b="0" i="0">
                <a:solidFill>
                  <a:srgbClr val="0B0B0B"/>
                </a:solidFill>
                <a:latin typeface="Impact"/>
                <a:ea typeface="Impact"/>
                <a:cs typeface="Impact"/>
              </a:defRPr>
            </a:pPr>
            <a:r>
              <a:rPr sz="4275" b="0" i="0">
                <a:solidFill>
                  <a:srgbClr val="0B0B0B"/>
                </a:solidFill>
                <a:latin typeface="Impact"/>
                <a:ea typeface="Impact"/>
                <a:cs typeface="Impact"/>
              </a:rPr>
              <a:t>QUE TODAVÍA NO AVANZAN</a:t>
            </a:r>
          </a:p>
        </p:txBody>
      </p:sp>
      <p:sp>
        <p:nvSpPr>
          <p:cNvPr id="5" name="text-4-3">
            <a:extLst>
              <a:ext uri="{FF2B5EF4-FFF2-40B4-BE49-F238E27FC236}">
                <a16:creationId xmlns:a16="http://schemas.microsoft.com/office/drawing/2014/main" id="{CBD81C49-F23F-4D1C-BE14-33E05340EA59}"/>
              </a:ext>
            </a:extLst>
          </p:cNvPr>
          <p:cNvSpPr>
            <a:spLocks noGrp="1"/>
          </p:cNvSpPr>
          <p:nvPr/>
        </p:nvSpPr>
        <p:spPr>
          <a:xfrm>
            <a:off x="532209" y="2029188"/>
            <a:ext cx="1006438" cy="964406"/>
          </a:xfrm>
          <a:prstGeom prst="rect">
            <a:avLst/>
          </a:prstGeom>
          <a:noFill/>
          <a:ln w="0">
            <a:noFill/>
          </a:ln>
        </p:spPr>
        <p:txBody>
          <a:bodyPr wrap="none" lIns="0" tIns="0" rIns="0" bIns="0" anchor="t">
            <a:noAutofit/>
          </a:bodyPr>
          <a:lstStyle>
            <a:defPPr>
              <a:defRPr sz="6075" b="0" i="0">
                <a:solidFill>
                  <a:srgbClr val="0B0B0B"/>
                </a:solidFill>
                <a:latin typeface="Impact"/>
                <a:ea typeface="Impact"/>
                <a:cs typeface="Impact"/>
              </a:defRPr>
            </a:defPPr>
          </a:lstStyle>
          <a:p>
            <a:pPr>
              <a:defRPr sz="6075" b="0" i="0">
                <a:solidFill>
                  <a:srgbClr val="0B0B0B"/>
                </a:solidFill>
                <a:latin typeface="Impact"/>
                <a:ea typeface="Impact"/>
                <a:cs typeface="Impact"/>
              </a:defRPr>
            </a:pPr>
            <a:r>
              <a:rPr sz="6075" b="0" i="0">
                <a:solidFill>
                  <a:srgbClr val="0B0B0B"/>
                </a:solidFill>
                <a:latin typeface="Impact"/>
                <a:ea typeface="Impact"/>
                <a:cs typeface="Impact"/>
              </a:rPr>
              <a:t>131</a:t>
            </a:r>
          </a:p>
        </p:txBody>
      </p:sp>
      <p:sp>
        <p:nvSpPr>
          <p:cNvPr id="6" name="text-4-4">
            <a:extLst>
              <a:ext uri="{FF2B5EF4-FFF2-40B4-BE49-F238E27FC236}">
                <a16:creationId xmlns:a16="http://schemas.microsoft.com/office/drawing/2014/main" id="{FF58291F-A574-4542-AE61-706999B1E663}"/>
              </a:ext>
            </a:extLst>
          </p:cNvPr>
          <p:cNvSpPr>
            <a:spLocks noGrp="1"/>
          </p:cNvSpPr>
          <p:nvPr/>
        </p:nvSpPr>
        <p:spPr>
          <a:xfrm>
            <a:off x="532209" y="2951645"/>
            <a:ext cx="1499275"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chats recibidos / día</a:t>
            </a:r>
          </a:p>
        </p:txBody>
      </p:sp>
      <p:sp>
        <p:nvSpPr>
          <p:cNvPr id="7" name="text-4-5">
            <a:extLst>
              <a:ext uri="{FF2B5EF4-FFF2-40B4-BE49-F238E27FC236}">
                <a16:creationId xmlns:a16="http://schemas.microsoft.com/office/drawing/2014/main" id="{145F51FD-6488-4262-A466-726529792313}"/>
              </a:ext>
            </a:extLst>
          </p:cNvPr>
          <p:cNvSpPr>
            <a:spLocks noGrp="1"/>
          </p:cNvSpPr>
          <p:nvPr/>
        </p:nvSpPr>
        <p:spPr>
          <a:xfrm>
            <a:off x="3356335" y="2029188"/>
            <a:ext cx="733863" cy="964406"/>
          </a:xfrm>
          <a:prstGeom prst="rect">
            <a:avLst/>
          </a:prstGeom>
          <a:noFill/>
          <a:ln w="0">
            <a:noFill/>
          </a:ln>
        </p:spPr>
        <p:txBody>
          <a:bodyPr wrap="none" lIns="0" tIns="0" rIns="0" bIns="0" anchor="t">
            <a:noAutofit/>
          </a:bodyPr>
          <a:lstStyle>
            <a:defPPr>
              <a:defRPr sz="6075" b="0" i="0">
                <a:solidFill>
                  <a:srgbClr val="0B0B0B"/>
                </a:solidFill>
                <a:latin typeface="Impact"/>
                <a:ea typeface="Impact"/>
                <a:cs typeface="Impact"/>
              </a:defRPr>
            </a:defPPr>
          </a:lstStyle>
          <a:p>
            <a:pPr>
              <a:defRPr sz="6075" b="0" i="0">
                <a:solidFill>
                  <a:srgbClr val="0B0B0B"/>
                </a:solidFill>
                <a:latin typeface="Impact"/>
                <a:ea typeface="Impact"/>
                <a:cs typeface="Impact"/>
              </a:defRPr>
            </a:pPr>
            <a:r>
              <a:rPr sz="6075" b="0" i="0">
                <a:solidFill>
                  <a:srgbClr val="0B0B0B"/>
                </a:solidFill>
                <a:latin typeface="Impact"/>
                <a:ea typeface="Impact"/>
                <a:cs typeface="Impact"/>
              </a:rPr>
              <a:t>67</a:t>
            </a:r>
          </a:p>
        </p:txBody>
      </p:sp>
      <p:sp>
        <p:nvSpPr>
          <p:cNvPr id="8" name="text-4-6">
            <a:extLst>
              <a:ext uri="{FF2B5EF4-FFF2-40B4-BE49-F238E27FC236}">
                <a16:creationId xmlns:a16="http://schemas.microsoft.com/office/drawing/2014/main" id="{EE434D05-2F1B-4D25-9E1B-CEFE9C6A3B89}"/>
              </a:ext>
            </a:extLst>
          </p:cNvPr>
          <p:cNvSpPr>
            <a:spLocks noGrp="1"/>
          </p:cNvSpPr>
          <p:nvPr/>
        </p:nvSpPr>
        <p:spPr>
          <a:xfrm>
            <a:off x="3356335" y="2951645"/>
            <a:ext cx="1901005"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terminan en transferencia</a:t>
            </a:r>
          </a:p>
        </p:txBody>
      </p:sp>
      <p:sp>
        <p:nvSpPr>
          <p:cNvPr id="9" name="text-4-7">
            <a:extLst>
              <a:ext uri="{FF2B5EF4-FFF2-40B4-BE49-F238E27FC236}">
                <a16:creationId xmlns:a16="http://schemas.microsoft.com/office/drawing/2014/main" id="{78559559-56BB-48AC-866B-69E3121195D3}"/>
              </a:ext>
            </a:extLst>
          </p:cNvPr>
          <p:cNvSpPr>
            <a:spLocks noGrp="1"/>
          </p:cNvSpPr>
          <p:nvPr/>
        </p:nvSpPr>
        <p:spPr>
          <a:xfrm>
            <a:off x="6180460" y="2029188"/>
            <a:ext cx="827359" cy="964406"/>
          </a:xfrm>
          <a:prstGeom prst="rect">
            <a:avLst/>
          </a:prstGeom>
          <a:noFill/>
          <a:ln w="0">
            <a:noFill/>
          </a:ln>
        </p:spPr>
        <p:txBody>
          <a:bodyPr wrap="none" lIns="0" tIns="0" rIns="0" bIns="0" anchor="t">
            <a:noAutofit/>
          </a:bodyPr>
          <a:lstStyle>
            <a:defPPr>
              <a:defRPr sz="6075" b="0" i="0">
                <a:solidFill>
                  <a:srgbClr val="DC0A1E"/>
                </a:solidFill>
                <a:latin typeface="Impact"/>
                <a:ea typeface="Impact"/>
                <a:cs typeface="Impact"/>
              </a:defRPr>
            </a:defPPr>
          </a:lstStyle>
          <a:p>
            <a:pPr>
              <a:defRPr sz="6075" b="0" i="0">
                <a:solidFill>
                  <a:srgbClr val="DC0A1E"/>
                </a:solidFill>
                <a:latin typeface="Impact"/>
                <a:ea typeface="Impact"/>
                <a:cs typeface="Impact"/>
              </a:defRPr>
            </a:pPr>
            <a:r>
              <a:rPr sz="6075" b="0" i="0">
                <a:solidFill>
                  <a:srgbClr val="DC0A1E"/>
                </a:solidFill>
                <a:latin typeface="Impact"/>
                <a:ea typeface="Impact"/>
                <a:cs typeface="Impact"/>
              </a:rPr>
              <a:t>64</a:t>
            </a:r>
          </a:p>
        </p:txBody>
      </p:sp>
      <p:sp>
        <p:nvSpPr>
          <p:cNvPr id="10" name="text-4-8">
            <a:extLst>
              <a:ext uri="{FF2B5EF4-FFF2-40B4-BE49-F238E27FC236}">
                <a16:creationId xmlns:a16="http://schemas.microsoft.com/office/drawing/2014/main" id="{D15CB435-88CF-4CCF-90D5-67CB85EB3F20}"/>
              </a:ext>
            </a:extLst>
          </p:cNvPr>
          <p:cNvSpPr>
            <a:spLocks noGrp="1"/>
          </p:cNvSpPr>
          <p:nvPr/>
        </p:nvSpPr>
        <p:spPr>
          <a:xfrm>
            <a:off x="6180460" y="2951645"/>
            <a:ext cx="1590794" cy="205383"/>
          </a:xfrm>
          <a:prstGeom prst="rect">
            <a:avLst/>
          </a:prstGeom>
          <a:noFill/>
          <a:ln w="0">
            <a:noFill/>
          </a:ln>
        </p:spPr>
        <p:txBody>
          <a:bodyPr wrap="none" lIns="0" tIns="0" rIns="0" bIns="0" anchor="t">
            <a:noAutofit/>
          </a:bodyPr>
          <a:lstStyle>
            <a:defPPr>
              <a:defRPr sz="1294" b="0" i="0">
                <a:solidFill>
                  <a:srgbClr val="DC0A1E"/>
                </a:solidFill>
                <a:latin typeface="Arial"/>
                <a:ea typeface="Arial"/>
                <a:cs typeface="Arial"/>
              </a:defRPr>
            </a:defPPr>
          </a:lstStyle>
          <a:p>
            <a:pPr>
              <a:defRPr sz="1294" b="0" i="0">
                <a:solidFill>
                  <a:srgbClr val="DC0A1E"/>
                </a:solidFill>
                <a:latin typeface="Arial"/>
                <a:ea typeface="Arial"/>
                <a:cs typeface="Arial"/>
              </a:defRPr>
            </a:pPr>
            <a:r>
              <a:rPr sz="1294" b="0" i="0">
                <a:solidFill>
                  <a:srgbClr val="DC0A1E"/>
                </a:solidFill>
                <a:latin typeface="Arial"/>
                <a:ea typeface="Arial"/>
                <a:cs typeface="Arial"/>
              </a:rPr>
              <a:t>quedan en cotización</a:t>
            </a:r>
          </a:p>
        </p:txBody>
      </p:sp>
      <p:sp>
        <p:nvSpPr>
          <p:cNvPr id="11" name="text-4-9">
            <a:extLst>
              <a:ext uri="{FF2B5EF4-FFF2-40B4-BE49-F238E27FC236}">
                <a16:creationId xmlns:a16="http://schemas.microsoft.com/office/drawing/2014/main" id="{9E03C43B-5B73-48EE-ACDA-BCFC49F2D776}"/>
              </a:ext>
            </a:extLst>
          </p:cNvPr>
          <p:cNvSpPr>
            <a:spLocks noGrp="1"/>
          </p:cNvSpPr>
          <p:nvPr/>
        </p:nvSpPr>
        <p:spPr>
          <a:xfrm>
            <a:off x="532209" y="3383654"/>
            <a:ext cx="4852301" cy="250031"/>
          </a:xfrm>
          <a:prstGeom prst="rect">
            <a:avLst/>
          </a:prstGeom>
          <a:noFill/>
          <a:ln w="0">
            <a:noFill/>
          </a:ln>
        </p:spPr>
        <p:txBody>
          <a:bodyPr wrap="none" lIns="0" tIns="0" rIns="0" bIns="0" anchor="t">
            <a:noAutofit/>
          </a:bodyPr>
          <a:lstStyle>
            <a:defPPr>
              <a:defRPr sz="1575" b="0" i="0">
                <a:solidFill>
                  <a:srgbClr val="0B0B0B"/>
                </a:solidFill>
                <a:latin typeface="Arial"/>
                <a:ea typeface="Arial"/>
                <a:cs typeface="Arial"/>
              </a:defRPr>
            </a:defPPr>
          </a:lstStyle>
          <a:p>
            <a:pPr>
              <a:defRPr sz="1575" b="0" i="0">
                <a:solidFill>
                  <a:srgbClr val="0B0B0B"/>
                </a:solidFill>
                <a:latin typeface="Arial"/>
                <a:ea typeface="Arial"/>
                <a:cs typeface="Arial"/>
              </a:defRPr>
            </a:pPr>
            <a:r>
              <a:rPr sz="1575" b="0" i="0">
                <a:solidFill>
                  <a:srgbClr val="0B0B0B"/>
                </a:solidFill>
                <a:latin typeface="Arial"/>
                <a:ea typeface="Arial"/>
                <a:cs typeface="Arial"/>
              </a:rPr>
              <a:t>Entender qué les faltó. Dar seguimiento con el equipo.</a:t>
            </a:r>
          </a:p>
        </p:txBody>
      </p:sp>
      <p:sp>
        <p:nvSpPr>
          <p:cNvPr id="12" name="text-4-10">
            <a:extLst>
              <a:ext uri="{FF2B5EF4-FFF2-40B4-BE49-F238E27FC236}">
                <a16:creationId xmlns:a16="http://schemas.microsoft.com/office/drawing/2014/main" id="{5C5AF285-3B4F-4600-A540-D5DEC7AD54C1}"/>
              </a:ext>
            </a:extLst>
          </p:cNvPr>
          <p:cNvSpPr>
            <a:spLocks noGrp="1"/>
          </p:cNvSpPr>
          <p:nvPr/>
        </p:nvSpPr>
        <p:spPr>
          <a:xfrm>
            <a:off x="532209" y="4603583"/>
            <a:ext cx="5803324" cy="133945"/>
          </a:xfrm>
          <a:prstGeom prst="rect">
            <a:avLst/>
          </a:prstGeom>
          <a:noFill/>
          <a:ln w="0">
            <a:noFill/>
          </a:ln>
        </p:spPr>
        <p:txBody>
          <a:bodyPr wrap="none" lIns="0" tIns="0" rIns="0" bIns="0" anchor="t">
            <a:noAutofit/>
          </a:bodyPr>
          <a:lstStyle>
            <a:defPPr>
              <a:defRPr sz="844" b="0" i="0">
                <a:solidFill>
                  <a:srgbClr val="0B0B0B"/>
                </a:solidFill>
                <a:latin typeface="Arial"/>
                <a:ea typeface="Arial"/>
                <a:cs typeface="Arial"/>
              </a:defRPr>
            </a:defPPr>
          </a:lstStyle>
          <a:p>
            <a:pPr>
              <a:defRPr sz="844" b="0" i="0">
                <a:solidFill>
                  <a:srgbClr val="0B0B0B"/>
                </a:solidFill>
                <a:latin typeface="Arial"/>
                <a:ea typeface="Arial"/>
                <a:cs typeface="Arial"/>
              </a:defRPr>
            </a:pPr>
            <a:r>
              <a:rPr sz="844" b="0" i="0">
                <a:solidFill>
                  <a:srgbClr val="0B0B0B"/>
                </a:solidFill>
                <a:latin typeface="Arial"/>
                <a:ea typeface="Arial"/>
                <a:cs typeface="Arial"/>
              </a:rPr>
              <a:t>Promedios informados. Seguimiento a consultas con datos disponibles y autorización. No todas son ventas recuperables.</a:t>
            </a:r>
          </a:p>
        </p:txBody>
      </p:sp>
      <p:sp>
        <p:nvSpPr>
          <p:cNvPr id="13" name="text-4-11">
            <a:extLst>
              <a:ext uri="{FF2B5EF4-FFF2-40B4-BE49-F238E27FC236}">
                <a16:creationId xmlns:a16="http://schemas.microsoft.com/office/drawing/2014/main" id="{F32C937D-0DC3-4CB6-AFD1-151727258FE0}"/>
              </a:ext>
            </a:extLst>
          </p:cNvPr>
          <p:cNvSpPr>
            <a:spLocks noGrp="1"/>
          </p:cNvSpPr>
          <p:nvPr/>
        </p:nvSpPr>
        <p:spPr>
          <a:xfrm>
            <a:off x="532209" y="4923697"/>
            <a:ext cx="1700955"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01 / PROBLEMÁTICA / OMNI by 5.5</a:t>
            </a:r>
          </a:p>
        </p:txBody>
      </p:sp>
      <p:sp>
        <p:nvSpPr>
          <p:cNvPr id="14" name="text-4-12">
            <a:extLst>
              <a:ext uri="{FF2B5EF4-FFF2-40B4-BE49-F238E27FC236}">
                <a16:creationId xmlns:a16="http://schemas.microsoft.com/office/drawing/2014/main" id="{2EB992AC-8D2D-4D16-A6AA-7CAEE50593E1}"/>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04 / 5.5</a:t>
            </a:r>
          </a:p>
        </p:txBody>
      </p:sp>
    </p:spTree>
    <p:extLst>
      <p:ext uri="{BB962C8B-B14F-4D97-AF65-F5344CB8AC3E}">
        <p14:creationId xmlns:p14="http://schemas.microsoft.com/office/powerpoint/2010/main" val="139600201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498374DE-30CB-4BE2-ACA9-239ADD67D438}"/>
              </a:ext>
            </a:extLst>
          </p:cNvPr>
          <p:cNvPicPr>
            <a:picLocks noChangeAspect="1"/>
          </p:cNvPicPr>
          <p:nvPr/>
        </p:nvPicPr>
        <p:blipFill>
          <a:blip r:embed="rId3"/>
          <a:stretch/>
        </p:blipFill>
        <p:spPr>
          <a:xfrm>
            <a:off x="0" y="0"/>
            <a:ext cx="9324594" cy="5248656"/>
          </a:xfrm>
          <a:prstGeom prst="rect">
            <a:avLst/>
          </a:prstGeom>
        </p:spPr>
      </p:pic>
      <p:sp>
        <p:nvSpPr>
          <p:cNvPr id="2" name="text-5-0">
            <a:extLst>
              <a:ext uri="{FF2B5EF4-FFF2-40B4-BE49-F238E27FC236}">
                <a16:creationId xmlns:a16="http://schemas.microsoft.com/office/drawing/2014/main" id="{D608DB17-2A26-44ED-B271-C4FC47CE9421}"/>
              </a:ext>
            </a:extLst>
          </p:cNvPr>
          <p:cNvSpPr>
            <a:spLocks noGrp="1"/>
          </p:cNvSpPr>
          <p:nvPr/>
        </p:nvSpPr>
        <p:spPr>
          <a:xfrm>
            <a:off x="532209" y="382979"/>
            <a:ext cx="2010159"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5-1">
            <a:extLst>
              <a:ext uri="{FF2B5EF4-FFF2-40B4-BE49-F238E27FC236}">
                <a16:creationId xmlns:a16="http://schemas.microsoft.com/office/drawing/2014/main" id="{B317926D-CAB6-4050-93EB-A60B432F6748}"/>
              </a:ext>
            </a:extLst>
          </p:cNvPr>
          <p:cNvSpPr>
            <a:spLocks noGrp="1"/>
          </p:cNvSpPr>
          <p:nvPr/>
        </p:nvSpPr>
        <p:spPr>
          <a:xfrm>
            <a:off x="532209" y="674010"/>
            <a:ext cx="5324770" cy="660797"/>
          </a:xfrm>
          <a:prstGeom prst="rect">
            <a:avLst/>
          </a:prstGeom>
          <a:noFill/>
          <a:ln w="0">
            <a:noFill/>
          </a:ln>
        </p:spPr>
        <p:txBody>
          <a:bodyPr wrap="none" lIns="0" tIns="0" rIns="0" bIns="0" anchor="t">
            <a:noAutofit/>
          </a:bodyPr>
          <a:lstStyle>
            <a:defPPr>
              <a:defRPr sz="4163" b="0" i="0">
                <a:solidFill>
                  <a:srgbClr val="F5F0E8"/>
                </a:solidFill>
                <a:latin typeface="Impact"/>
                <a:ea typeface="Impact"/>
                <a:cs typeface="Impact"/>
              </a:defRPr>
            </a:defPPr>
          </a:lstStyle>
          <a:p>
            <a:pPr>
              <a:defRPr sz="4163" b="0" i="0">
                <a:solidFill>
                  <a:srgbClr val="F5F0E8"/>
                </a:solidFill>
                <a:latin typeface="Impact"/>
                <a:ea typeface="Impact"/>
                <a:cs typeface="Impact"/>
              </a:defRPr>
            </a:pPr>
            <a:r>
              <a:rPr sz="4163" b="0" i="0">
                <a:solidFill>
                  <a:srgbClr val="F5F0E8"/>
                </a:solidFill>
                <a:latin typeface="Impact"/>
                <a:ea typeface="Impact"/>
                <a:cs typeface="Impact"/>
              </a:rPr>
              <a:t>CUATRO FORMAS DE LLEGAR</a:t>
            </a:r>
          </a:p>
        </p:txBody>
      </p:sp>
      <p:sp>
        <p:nvSpPr>
          <p:cNvPr id="4" name="text-5-2">
            <a:extLst>
              <a:ext uri="{FF2B5EF4-FFF2-40B4-BE49-F238E27FC236}">
                <a16:creationId xmlns:a16="http://schemas.microsoft.com/office/drawing/2014/main" id="{F1B0C940-3916-4933-B07A-C4D16CBCAF15}"/>
              </a:ext>
            </a:extLst>
          </p:cNvPr>
          <p:cNvSpPr>
            <a:spLocks noGrp="1"/>
          </p:cNvSpPr>
          <p:nvPr/>
        </p:nvSpPr>
        <p:spPr>
          <a:xfrm>
            <a:off x="532209" y="1216935"/>
            <a:ext cx="4811888" cy="660797"/>
          </a:xfrm>
          <a:prstGeom prst="rect">
            <a:avLst/>
          </a:prstGeom>
          <a:noFill/>
          <a:ln w="0">
            <a:noFill/>
          </a:ln>
        </p:spPr>
        <p:txBody>
          <a:bodyPr wrap="none" lIns="0" tIns="0" rIns="0" bIns="0" anchor="t">
            <a:noAutofit/>
          </a:bodyPr>
          <a:lstStyle>
            <a:defPPr>
              <a:defRPr sz="4163" b="0" i="0">
                <a:solidFill>
                  <a:srgbClr val="F5F0E8"/>
                </a:solidFill>
                <a:latin typeface="Impact"/>
                <a:ea typeface="Impact"/>
                <a:cs typeface="Impact"/>
              </a:defRPr>
            </a:defPPr>
          </a:lstStyle>
          <a:p>
            <a:pPr>
              <a:defRPr sz="4163" b="0" i="0">
                <a:solidFill>
                  <a:srgbClr val="F5F0E8"/>
                </a:solidFill>
                <a:latin typeface="Impact"/>
                <a:ea typeface="Impact"/>
                <a:cs typeface="Impact"/>
              </a:defRPr>
            </a:pPr>
            <a:r>
              <a:rPr sz="4163" b="0" i="0">
                <a:solidFill>
                  <a:srgbClr val="F5F0E8"/>
                </a:solidFill>
                <a:latin typeface="Impact"/>
                <a:ea typeface="Impact"/>
                <a:cs typeface="Impact"/>
              </a:rPr>
              <a:t>UN REGISTRO OPERATIVO</a:t>
            </a:r>
          </a:p>
        </p:txBody>
      </p:sp>
      <p:sp>
        <p:nvSpPr>
          <p:cNvPr id="5" name="text-5-3">
            <a:extLst>
              <a:ext uri="{FF2B5EF4-FFF2-40B4-BE49-F238E27FC236}">
                <a16:creationId xmlns:a16="http://schemas.microsoft.com/office/drawing/2014/main" id="{C68CA0AE-7AD7-4832-808F-6E06E4BCAF72}"/>
              </a:ext>
            </a:extLst>
          </p:cNvPr>
          <p:cNvSpPr>
            <a:spLocks noGrp="1"/>
          </p:cNvSpPr>
          <p:nvPr/>
        </p:nvSpPr>
        <p:spPr>
          <a:xfrm>
            <a:off x="532209" y="2233608"/>
            <a:ext cx="1158656" cy="339328"/>
          </a:xfrm>
          <a:prstGeom prst="rect">
            <a:avLst/>
          </a:prstGeom>
          <a:noFill/>
          <a:ln w="0">
            <a:noFill/>
          </a:ln>
        </p:spPr>
        <p:txBody>
          <a:bodyPr wrap="none" lIns="0" tIns="0" rIns="0" bIns="0" anchor="t">
            <a:noAutofit/>
          </a:bodyPr>
          <a:lstStyle>
            <a:defPPr>
              <a:defRPr sz="2138" b="0" i="0">
                <a:solidFill>
                  <a:srgbClr val="F5F0E8"/>
                </a:solidFill>
                <a:latin typeface="Impact"/>
                <a:ea typeface="Impact"/>
                <a:cs typeface="Impact"/>
              </a:defRPr>
            </a:defPPr>
          </a:lstStyle>
          <a:p>
            <a:pPr>
              <a:defRPr sz="2138" b="0" i="0">
                <a:solidFill>
                  <a:srgbClr val="F5F0E8"/>
                </a:solidFill>
                <a:latin typeface="Impact"/>
                <a:ea typeface="Impact"/>
                <a:cs typeface="Impact"/>
              </a:defRPr>
            </a:pPr>
            <a:r>
              <a:rPr sz="2138" b="0" i="0">
                <a:solidFill>
                  <a:srgbClr val="F5F0E8"/>
                </a:solidFill>
                <a:latin typeface="Impact"/>
                <a:ea typeface="Impact"/>
                <a:cs typeface="Impact"/>
              </a:rPr>
              <a:t>WHATSAPP</a:t>
            </a:r>
          </a:p>
        </p:txBody>
      </p:sp>
      <p:sp>
        <p:nvSpPr>
          <p:cNvPr id="6" name="text-5-4">
            <a:extLst>
              <a:ext uri="{FF2B5EF4-FFF2-40B4-BE49-F238E27FC236}">
                <a16:creationId xmlns:a16="http://schemas.microsoft.com/office/drawing/2014/main" id="{E991CA5A-2A97-4A75-B1B1-34A8DA69079E}"/>
              </a:ext>
            </a:extLst>
          </p:cNvPr>
          <p:cNvSpPr>
            <a:spLocks noGrp="1"/>
          </p:cNvSpPr>
          <p:nvPr/>
        </p:nvSpPr>
        <p:spPr>
          <a:xfrm>
            <a:off x="532209" y="2644464"/>
            <a:ext cx="1553989"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Conversación con IA</a:t>
            </a:r>
          </a:p>
        </p:txBody>
      </p:sp>
      <p:sp>
        <p:nvSpPr>
          <p:cNvPr id="7" name="text-5-5">
            <a:extLst>
              <a:ext uri="{FF2B5EF4-FFF2-40B4-BE49-F238E27FC236}">
                <a16:creationId xmlns:a16="http://schemas.microsoft.com/office/drawing/2014/main" id="{3F06F238-D22D-4C24-908D-51EB46A7E6A5}"/>
              </a:ext>
            </a:extLst>
          </p:cNvPr>
          <p:cNvSpPr>
            <a:spLocks noGrp="1"/>
          </p:cNvSpPr>
          <p:nvPr/>
        </p:nvSpPr>
        <p:spPr>
          <a:xfrm>
            <a:off x="2641402" y="2233608"/>
            <a:ext cx="507553" cy="339328"/>
          </a:xfrm>
          <a:prstGeom prst="rect">
            <a:avLst/>
          </a:prstGeom>
          <a:noFill/>
          <a:ln w="0">
            <a:noFill/>
          </a:ln>
        </p:spPr>
        <p:txBody>
          <a:bodyPr wrap="none" lIns="0" tIns="0" rIns="0" bIns="0" anchor="t">
            <a:noAutofit/>
          </a:bodyPr>
          <a:lstStyle>
            <a:defPPr>
              <a:defRPr sz="2138" b="0" i="0">
                <a:solidFill>
                  <a:srgbClr val="F5F0E8"/>
                </a:solidFill>
                <a:latin typeface="Impact"/>
                <a:ea typeface="Impact"/>
                <a:cs typeface="Impact"/>
              </a:defRPr>
            </a:defPPr>
          </a:lstStyle>
          <a:p>
            <a:pPr>
              <a:defRPr sz="2138" b="0" i="0">
                <a:solidFill>
                  <a:srgbClr val="F5F0E8"/>
                </a:solidFill>
                <a:latin typeface="Impact"/>
                <a:ea typeface="Impact"/>
                <a:cs typeface="Impact"/>
              </a:defRPr>
            </a:pPr>
            <a:r>
              <a:rPr sz="2138" b="0" i="0">
                <a:solidFill>
                  <a:srgbClr val="F5F0E8"/>
                </a:solidFill>
                <a:latin typeface="Impact"/>
                <a:ea typeface="Impact"/>
                <a:cs typeface="Impact"/>
              </a:rPr>
              <a:t>WEB</a:t>
            </a:r>
          </a:p>
        </p:txBody>
      </p:sp>
      <p:sp>
        <p:nvSpPr>
          <p:cNvPr id="8" name="text-5-6">
            <a:extLst>
              <a:ext uri="{FF2B5EF4-FFF2-40B4-BE49-F238E27FC236}">
                <a16:creationId xmlns:a16="http://schemas.microsoft.com/office/drawing/2014/main" id="{1EFFE770-78C0-4128-A849-B2A8F8EE6813}"/>
              </a:ext>
            </a:extLst>
          </p:cNvPr>
          <p:cNvSpPr>
            <a:spLocks noGrp="1"/>
          </p:cNvSpPr>
          <p:nvPr/>
        </p:nvSpPr>
        <p:spPr>
          <a:xfrm>
            <a:off x="2641402" y="2644464"/>
            <a:ext cx="1882439"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Formulario y seguimiento</a:t>
            </a:r>
          </a:p>
        </p:txBody>
      </p:sp>
      <p:sp>
        <p:nvSpPr>
          <p:cNvPr id="9" name="text-5-7">
            <a:extLst>
              <a:ext uri="{FF2B5EF4-FFF2-40B4-BE49-F238E27FC236}">
                <a16:creationId xmlns:a16="http://schemas.microsoft.com/office/drawing/2014/main" id="{EE7AEF0D-954D-4301-A65A-3EB6722CBA3C}"/>
              </a:ext>
            </a:extLst>
          </p:cNvPr>
          <p:cNvSpPr>
            <a:spLocks noGrp="1"/>
          </p:cNvSpPr>
          <p:nvPr/>
        </p:nvSpPr>
        <p:spPr>
          <a:xfrm>
            <a:off x="4750594" y="2233608"/>
            <a:ext cx="816493" cy="339328"/>
          </a:xfrm>
          <a:prstGeom prst="rect">
            <a:avLst/>
          </a:prstGeom>
          <a:noFill/>
          <a:ln w="0">
            <a:noFill/>
          </a:ln>
        </p:spPr>
        <p:txBody>
          <a:bodyPr wrap="none" lIns="0" tIns="0" rIns="0" bIns="0" anchor="t">
            <a:noAutofit/>
          </a:bodyPr>
          <a:lstStyle>
            <a:defPPr>
              <a:defRPr sz="2138" b="0" i="0">
                <a:solidFill>
                  <a:srgbClr val="F5F0E8"/>
                </a:solidFill>
                <a:latin typeface="Impact"/>
                <a:ea typeface="Impact"/>
                <a:cs typeface="Impact"/>
              </a:defRPr>
            </a:defPPr>
          </a:lstStyle>
          <a:p>
            <a:pPr>
              <a:defRPr sz="2138" b="0" i="0">
                <a:solidFill>
                  <a:srgbClr val="F5F0E8"/>
                </a:solidFill>
                <a:latin typeface="Impact"/>
                <a:ea typeface="Impact"/>
                <a:cs typeface="Impact"/>
              </a:defRPr>
            </a:pPr>
            <a:r>
              <a:rPr sz="2138" b="0" i="0">
                <a:solidFill>
                  <a:srgbClr val="F5F0E8"/>
                </a:solidFill>
                <a:latin typeface="Impact"/>
                <a:ea typeface="Impact"/>
                <a:cs typeface="Impact"/>
              </a:rPr>
              <a:t>APP iOS</a:t>
            </a:r>
          </a:p>
        </p:txBody>
      </p:sp>
      <p:sp>
        <p:nvSpPr>
          <p:cNvPr id="10" name="text-5-8">
            <a:extLst>
              <a:ext uri="{FF2B5EF4-FFF2-40B4-BE49-F238E27FC236}">
                <a16:creationId xmlns:a16="http://schemas.microsoft.com/office/drawing/2014/main" id="{90FE3268-DA61-4FBF-B285-4ACF4006650C}"/>
              </a:ext>
            </a:extLst>
          </p:cNvPr>
          <p:cNvSpPr>
            <a:spLocks noGrp="1"/>
          </p:cNvSpPr>
          <p:nvPr/>
        </p:nvSpPr>
        <p:spPr>
          <a:xfrm>
            <a:off x="4750594" y="2644464"/>
            <a:ext cx="1828054"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iPhone</a:t>
            </a:r>
          </a:p>
        </p:txBody>
      </p:sp>
      <p:sp>
        <p:nvSpPr>
          <p:cNvPr id="11" name="text-5-9">
            <a:extLst>
              <a:ext uri="{FF2B5EF4-FFF2-40B4-BE49-F238E27FC236}">
                <a16:creationId xmlns:a16="http://schemas.microsoft.com/office/drawing/2014/main" id="{51DDEC90-41A6-4A9A-9B9F-C9F8EE77110F}"/>
              </a:ext>
            </a:extLst>
          </p:cNvPr>
          <p:cNvSpPr>
            <a:spLocks noGrp="1"/>
          </p:cNvSpPr>
          <p:nvPr/>
        </p:nvSpPr>
        <p:spPr>
          <a:xfrm>
            <a:off x="6859786" y="2233608"/>
            <a:ext cx="1382634" cy="339328"/>
          </a:xfrm>
          <a:prstGeom prst="rect">
            <a:avLst/>
          </a:prstGeom>
          <a:noFill/>
          <a:ln w="0">
            <a:noFill/>
          </a:ln>
        </p:spPr>
        <p:txBody>
          <a:bodyPr wrap="none" lIns="0" tIns="0" rIns="0" bIns="0" anchor="t">
            <a:noAutofit/>
          </a:bodyPr>
          <a:lstStyle>
            <a:defPPr>
              <a:defRPr sz="2138" b="0" i="0">
                <a:solidFill>
                  <a:srgbClr val="F5F0E8"/>
                </a:solidFill>
                <a:latin typeface="Impact"/>
                <a:ea typeface="Impact"/>
                <a:cs typeface="Impact"/>
              </a:defRPr>
            </a:defPPr>
          </a:lstStyle>
          <a:p>
            <a:pPr>
              <a:defRPr sz="2138" b="0" i="0">
                <a:solidFill>
                  <a:srgbClr val="F5F0E8"/>
                </a:solidFill>
                <a:latin typeface="Impact"/>
                <a:ea typeface="Impact"/>
                <a:cs typeface="Impact"/>
              </a:defRPr>
            </a:pPr>
            <a:r>
              <a:rPr sz="2138" b="0" i="0">
                <a:solidFill>
                  <a:srgbClr val="F5F0E8"/>
                </a:solidFill>
                <a:latin typeface="Impact"/>
                <a:ea typeface="Impact"/>
                <a:cs typeface="Impact"/>
              </a:rPr>
              <a:t>APP ANDROID</a:t>
            </a:r>
          </a:p>
        </p:txBody>
      </p:sp>
      <p:sp>
        <p:nvSpPr>
          <p:cNvPr id="12" name="text-5-10">
            <a:extLst>
              <a:ext uri="{FF2B5EF4-FFF2-40B4-BE49-F238E27FC236}">
                <a16:creationId xmlns:a16="http://schemas.microsoft.com/office/drawing/2014/main" id="{BC451A77-1CA2-47AD-BF69-021D01E2C436}"/>
              </a:ext>
            </a:extLst>
          </p:cNvPr>
          <p:cNvSpPr>
            <a:spLocks noGrp="1"/>
          </p:cNvSpPr>
          <p:nvPr/>
        </p:nvSpPr>
        <p:spPr>
          <a:xfrm>
            <a:off x="6859786" y="2644464"/>
            <a:ext cx="1873901"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Experiencia para Android</a:t>
            </a:r>
          </a:p>
        </p:txBody>
      </p:sp>
      <p:sp>
        <p:nvSpPr>
          <p:cNvPr id="13" name="text-5-11">
            <a:extLst>
              <a:ext uri="{FF2B5EF4-FFF2-40B4-BE49-F238E27FC236}">
                <a16:creationId xmlns:a16="http://schemas.microsoft.com/office/drawing/2014/main" id="{F2B5EDF5-883F-494B-93F5-A19319674496}"/>
              </a:ext>
            </a:extLst>
          </p:cNvPr>
          <p:cNvSpPr>
            <a:spLocks noGrp="1"/>
          </p:cNvSpPr>
          <p:nvPr/>
        </p:nvSpPr>
        <p:spPr>
          <a:xfrm>
            <a:off x="532209" y="2978051"/>
            <a:ext cx="386486" cy="1143000"/>
          </a:xfrm>
          <a:prstGeom prst="rect">
            <a:avLst/>
          </a:prstGeom>
          <a:noFill/>
          <a:ln w="0">
            <a:noFill/>
          </a:ln>
        </p:spPr>
        <p:txBody>
          <a:bodyPr wrap="none" lIns="0" tIns="0" rIns="0" bIns="0" anchor="t">
            <a:noAutofit/>
          </a:bodyPr>
          <a:lstStyle>
            <a:defPPr>
              <a:defRPr sz="7200" b="0" i="0">
                <a:solidFill>
                  <a:srgbClr val="F5F0E8"/>
                </a:solidFill>
                <a:latin typeface="Impact"/>
                <a:ea typeface="Impact"/>
                <a:cs typeface="Impact"/>
              </a:defRPr>
            </a:defPPr>
          </a:lstStyle>
          <a:p>
            <a:pPr>
              <a:defRPr sz="7200" b="0" i="0">
                <a:solidFill>
                  <a:srgbClr val="F5F0E8"/>
                </a:solidFill>
                <a:latin typeface="Impact"/>
                <a:ea typeface="Impact"/>
                <a:cs typeface="Impact"/>
              </a:defRPr>
            </a:pPr>
            <a:r>
              <a:rPr sz="7200" b="0" i="0">
                <a:solidFill>
                  <a:srgbClr val="F5F0E8"/>
                </a:solidFill>
                <a:latin typeface="Impact"/>
                <a:ea typeface="Impact"/>
                <a:cs typeface="Impact"/>
              </a:rPr>
              <a:t>1</a:t>
            </a:r>
          </a:p>
        </p:txBody>
      </p:sp>
      <p:sp>
        <p:nvSpPr>
          <p:cNvPr id="14" name="text-5-12">
            <a:extLst>
              <a:ext uri="{FF2B5EF4-FFF2-40B4-BE49-F238E27FC236}">
                <a16:creationId xmlns:a16="http://schemas.microsoft.com/office/drawing/2014/main" id="{C36CFAA0-CE7D-43C5-A690-4FE2AAA03663}"/>
              </a:ext>
            </a:extLst>
          </p:cNvPr>
          <p:cNvSpPr>
            <a:spLocks noGrp="1"/>
          </p:cNvSpPr>
          <p:nvPr/>
        </p:nvSpPr>
        <p:spPr>
          <a:xfrm>
            <a:off x="1116211" y="3296576"/>
            <a:ext cx="3630821"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registro operativo como punto de encuentro</a:t>
            </a:r>
          </a:p>
        </p:txBody>
      </p:sp>
      <p:sp>
        <p:nvSpPr>
          <p:cNvPr id="15" name="text-5-13">
            <a:extLst>
              <a:ext uri="{FF2B5EF4-FFF2-40B4-BE49-F238E27FC236}">
                <a16:creationId xmlns:a16="http://schemas.microsoft.com/office/drawing/2014/main" id="{A3297C73-7088-41D2-9E00-9E5F172A4834}"/>
              </a:ext>
            </a:extLst>
          </p:cNvPr>
          <p:cNvSpPr>
            <a:spLocks noGrp="1"/>
          </p:cNvSpPr>
          <p:nvPr/>
        </p:nvSpPr>
        <p:spPr>
          <a:xfrm>
            <a:off x="1116211" y="3587439"/>
            <a:ext cx="2627074" cy="205383"/>
          </a:xfrm>
          <a:prstGeom prst="rect">
            <a:avLst/>
          </a:prstGeom>
          <a:noFill/>
          <a:ln w="0">
            <a:noFill/>
          </a:ln>
        </p:spPr>
        <p:txBody>
          <a:bodyPr wrap="none" lIns="0" tIns="0" rIns="0" bIns="0" anchor="t">
            <a:noAutofit/>
          </a:bodyPr>
          <a:lstStyle>
            <a:defPPr>
              <a:defRPr sz="1294" b="1" i="0">
                <a:solidFill>
                  <a:srgbClr val="F5F0E8"/>
                </a:solidFill>
                <a:latin typeface="Arial"/>
                <a:ea typeface="Arial"/>
                <a:cs typeface="Arial"/>
              </a:defRPr>
            </a:defPPr>
          </a:lstStyle>
          <a:p>
            <a:pPr>
              <a:defRPr sz="1294" b="1" i="0">
                <a:solidFill>
                  <a:srgbClr val="F5F0E8"/>
                </a:solidFill>
                <a:latin typeface="Arial"/>
                <a:ea typeface="Arial"/>
                <a:cs typeface="Arial"/>
              </a:defRPr>
            </a:pPr>
            <a:r>
              <a:rPr sz="1294" b="1" i="0">
                <a:solidFill>
                  <a:srgbClr val="F5F0E8"/>
                </a:solidFill>
                <a:latin typeface="Arial"/>
                <a:ea typeface="Arial"/>
                <a:cs typeface="Arial"/>
              </a:rPr>
              <a:t>Firebase + revisión en backoffice</a:t>
            </a:r>
          </a:p>
        </p:txBody>
      </p:sp>
      <p:sp>
        <p:nvSpPr>
          <p:cNvPr id="16" name="text-5-14">
            <a:extLst>
              <a:ext uri="{FF2B5EF4-FFF2-40B4-BE49-F238E27FC236}">
                <a16:creationId xmlns:a16="http://schemas.microsoft.com/office/drawing/2014/main" id="{1420AAD7-76A1-49B1-9B13-9A941A5AFE89}"/>
              </a:ext>
            </a:extLst>
          </p:cNvPr>
          <p:cNvSpPr>
            <a:spLocks noGrp="1"/>
          </p:cNvSpPr>
          <p:nvPr/>
        </p:nvSpPr>
        <p:spPr>
          <a:xfrm>
            <a:off x="532209" y="4603582"/>
            <a:ext cx="7226885" cy="133945"/>
          </a:xfrm>
          <a:prstGeom prst="rect">
            <a:avLst/>
          </a:prstGeom>
          <a:noFill/>
          <a:ln w="0">
            <a:noFill/>
          </a:ln>
        </p:spPr>
        <p:txBody>
          <a:bodyPr wrap="none" lIns="0" tIns="0" rIns="0" bIns="0" anchor="t">
            <a:noAutofit/>
          </a:bodyPr>
          <a:lstStyle>
            <a:defPPr>
              <a:defRPr sz="844" b="0" i="0">
                <a:solidFill>
                  <a:srgbClr val="F5F0E8"/>
                </a:solidFill>
                <a:latin typeface="Arial"/>
                <a:ea typeface="Arial"/>
                <a:cs typeface="Arial"/>
              </a:defRPr>
            </a:defPPr>
          </a:lstStyle>
          <a:p>
            <a:pPr>
              <a:defRPr sz="844" b="0" i="0">
                <a:solidFill>
                  <a:srgbClr val="F5F0E8"/>
                </a:solidFill>
                <a:latin typeface="Arial"/>
                <a:ea typeface="Arial"/>
                <a:cs typeface="Arial"/>
              </a:defRPr>
            </a:pPr>
            <a:r>
              <a:rPr sz="844" b="0" i="0">
                <a:solidFill>
                  <a:srgbClr val="F5F0E8"/>
                </a:solidFill>
                <a:latin typeface="Arial"/>
                <a:ea typeface="Arial"/>
                <a:cs typeface="Arial"/>
              </a:rPr>
              <a:t>Cuatro puntos de acceso propuestos. iOS y Android comparten el módulo móvil. Integración de identidad por validar; sin afirmar publicación en tiendas.</a:t>
            </a:r>
          </a:p>
        </p:txBody>
      </p:sp>
      <p:sp>
        <p:nvSpPr>
          <p:cNvPr id="17" name="text-5-15">
            <a:extLst>
              <a:ext uri="{FF2B5EF4-FFF2-40B4-BE49-F238E27FC236}">
                <a16:creationId xmlns:a16="http://schemas.microsoft.com/office/drawing/2014/main" id="{4D0EAAB9-526E-4096-A7E6-43CD42D13E2A}"/>
              </a:ext>
            </a:extLst>
          </p:cNvPr>
          <p:cNvSpPr>
            <a:spLocks noGrp="1"/>
          </p:cNvSpPr>
          <p:nvPr/>
        </p:nvSpPr>
        <p:spPr>
          <a:xfrm>
            <a:off x="532209" y="4923697"/>
            <a:ext cx="2065588"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8" name="text-5-16">
            <a:extLst>
              <a:ext uri="{FF2B5EF4-FFF2-40B4-BE49-F238E27FC236}">
                <a16:creationId xmlns:a16="http://schemas.microsoft.com/office/drawing/2014/main" id="{5949292B-009A-4595-B2CB-BADA6A0CF686}"/>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05 / 5.5</a:t>
            </a:r>
          </a:p>
        </p:txBody>
      </p:sp>
    </p:spTree>
    <p:extLst>
      <p:ext uri="{BB962C8B-B14F-4D97-AF65-F5344CB8AC3E}">
        <p14:creationId xmlns:p14="http://schemas.microsoft.com/office/powerpoint/2010/main" val="7683441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Imagen 14">
            <a:extLst>
              <a:ext uri="{FF2B5EF4-FFF2-40B4-BE49-F238E27FC236}">
                <a16:creationId xmlns:a16="http://schemas.microsoft.com/office/drawing/2014/main" id="{77A27EF3-57CC-40BF-830E-B5DC253A7127}"/>
              </a:ext>
            </a:extLst>
          </p:cNvPr>
          <p:cNvPicPr>
            <a:picLocks noChangeAspect="1"/>
          </p:cNvPicPr>
          <p:nvPr/>
        </p:nvPicPr>
        <p:blipFill>
          <a:blip r:embed="rId3"/>
          <a:stretch/>
        </p:blipFill>
        <p:spPr>
          <a:xfrm>
            <a:off x="0" y="0"/>
            <a:ext cx="9324594" cy="5248656"/>
          </a:xfrm>
          <a:prstGeom prst="rect">
            <a:avLst/>
          </a:prstGeom>
        </p:spPr>
      </p:pic>
      <p:sp>
        <p:nvSpPr>
          <p:cNvPr id="2" name="text-6-0">
            <a:extLst>
              <a:ext uri="{FF2B5EF4-FFF2-40B4-BE49-F238E27FC236}">
                <a16:creationId xmlns:a16="http://schemas.microsoft.com/office/drawing/2014/main" id="{9B4F3D9E-E92E-4D9C-AAF7-3A50E42810CD}"/>
              </a:ext>
            </a:extLst>
          </p:cNvPr>
          <p:cNvSpPr>
            <a:spLocks noGrp="1"/>
          </p:cNvSpPr>
          <p:nvPr/>
        </p:nvSpPr>
        <p:spPr>
          <a:xfrm>
            <a:off x="532209" y="382979"/>
            <a:ext cx="2010159"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6-1">
            <a:extLst>
              <a:ext uri="{FF2B5EF4-FFF2-40B4-BE49-F238E27FC236}">
                <a16:creationId xmlns:a16="http://schemas.microsoft.com/office/drawing/2014/main" id="{4AE8032A-45BC-4876-BBEC-5FB7FF3571AE}"/>
              </a:ext>
            </a:extLst>
          </p:cNvPr>
          <p:cNvSpPr>
            <a:spLocks noGrp="1"/>
          </p:cNvSpPr>
          <p:nvPr/>
        </p:nvSpPr>
        <p:spPr>
          <a:xfrm>
            <a:off x="532209" y="745761"/>
            <a:ext cx="4237848" cy="616148"/>
          </a:xfrm>
          <a:prstGeom prst="rect">
            <a:avLst/>
          </a:prstGeom>
          <a:noFill/>
          <a:ln w="0">
            <a:noFill/>
          </a:ln>
        </p:spPr>
        <p:txBody>
          <a:bodyPr wrap="none" lIns="0" tIns="0" rIns="0" bIns="0" anchor="t">
            <a:noAutofit/>
          </a:bodyPr>
          <a:lstStyle>
            <a:defPPr>
              <a:defRPr sz="3881" b="0" i="0">
                <a:solidFill>
                  <a:srgbClr val="F5F0E8"/>
                </a:solidFill>
                <a:latin typeface="Impact"/>
                <a:ea typeface="Impact"/>
                <a:cs typeface="Impact"/>
              </a:defRPr>
            </a:defPPr>
          </a:lstStyle>
          <a:p>
            <a:pPr>
              <a:defRPr sz="3881" b="0" i="0">
                <a:solidFill>
                  <a:srgbClr val="F5F0E8"/>
                </a:solidFill>
                <a:latin typeface="Impact"/>
                <a:ea typeface="Impact"/>
                <a:cs typeface="Impact"/>
              </a:defRPr>
            </a:pPr>
            <a:r>
              <a:rPr sz="3881" b="0" i="0">
                <a:solidFill>
                  <a:srgbClr val="F5F0E8"/>
                </a:solidFill>
                <a:latin typeface="Impact"/>
                <a:ea typeface="Impact"/>
                <a:cs typeface="Impact"/>
              </a:rPr>
              <a:t>ESCRIBE COMO HABLAS</a:t>
            </a:r>
          </a:p>
        </p:txBody>
      </p:sp>
      <p:sp>
        <p:nvSpPr>
          <p:cNvPr id="4" name="text-6-2">
            <a:extLst>
              <a:ext uri="{FF2B5EF4-FFF2-40B4-BE49-F238E27FC236}">
                <a16:creationId xmlns:a16="http://schemas.microsoft.com/office/drawing/2014/main" id="{54338968-4D9C-4F72-AACD-B04B389A6FF8}"/>
              </a:ext>
            </a:extLst>
          </p:cNvPr>
          <p:cNvSpPr>
            <a:spLocks noGrp="1"/>
          </p:cNvSpPr>
          <p:nvPr/>
        </p:nvSpPr>
        <p:spPr>
          <a:xfrm>
            <a:off x="532209" y="1245824"/>
            <a:ext cx="2965274" cy="616148"/>
          </a:xfrm>
          <a:prstGeom prst="rect">
            <a:avLst/>
          </a:prstGeom>
          <a:noFill/>
          <a:ln w="0">
            <a:noFill/>
          </a:ln>
        </p:spPr>
        <p:txBody>
          <a:bodyPr wrap="none" lIns="0" tIns="0" rIns="0" bIns="0" anchor="t">
            <a:noAutofit/>
          </a:bodyPr>
          <a:lstStyle>
            <a:defPPr>
              <a:defRPr sz="3881" b="0" i="0">
                <a:solidFill>
                  <a:srgbClr val="F5F0E8"/>
                </a:solidFill>
                <a:latin typeface="Impact"/>
                <a:ea typeface="Impact"/>
                <a:cs typeface="Impact"/>
              </a:defRPr>
            </a:defPPr>
          </a:lstStyle>
          <a:p>
            <a:pPr>
              <a:defRPr sz="3881" b="0" i="0">
                <a:solidFill>
                  <a:srgbClr val="F5F0E8"/>
                </a:solidFill>
                <a:latin typeface="Impact"/>
                <a:ea typeface="Impact"/>
                <a:cs typeface="Impact"/>
              </a:defRPr>
            </a:pPr>
            <a:r>
              <a:rPr sz="3881" b="0" i="0">
                <a:solidFill>
                  <a:srgbClr val="F5F0E8"/>
                </a:solidFill>
                <a:latin typeface="Impact"/>
                <a:ea typeface="Impact"/>
                <a:cs typeface="Impact"/>
              </a:rPr>
              <a:t>LA IA TE ORIENTA</a:t>
            </a:r>
          </a:p>
        </p:txBody>
      </p:sp>
      <p:sp>
        <p:nvSpPr>
          <p:cNvPr id="5" name="text-6-3">
            <a:extLst>
              <a:ext uri="{FF2B5EF4-FFF2-40B4-BE49-F238E27FC236}">
                <a16:creationId xmlns:a16="http://schemas.microsoft.com/office/drawing/2014/main" id="{0C16A049-F182-4D24-95D9-2A1461DF22E7}"/>
              </a:ext>
            </a:extLst>
          </p:cNvPr>
          <p:cNvSpPr>
            <a:spLocks noGrp="1"/>
          </p:cNvSpPr>
          <p:nvPr/>
        </p:nvSpPr>
        <p:spPr>
          <a:xfrm>
            <a:off x="532209" y="2033485"/>
            <a:ext cx="4274229" cy="250031"/>
          </a:xfrm>
          <a:prstGeom prst="rect">
            <a:avLst/>
          </a:prstGeom>
          <a:noFill/>
          <a:ln w="0">
            <a:noFill/>
          </a:ln>
        </p:spPr>
        <p:txBody>
          <a:bodyPr wrap="none" lIns="0" tIns="0" rIns="0" bIns="0" anchor="t">
            <a:noAutofit/>
          </a:bodyPr>
          <a:lstStyle>
            <a:defPPr>
              <a:defRPr sz="1575" b="0" i="0">
                <a:solidFill>
                  <a:srgbClr val="F5F0E8"/>
                </a:solidFill>
                <a:latin typeface="Arial"/>
                <a:ea typeface="Arial"/>
                <a:cs typeface="Arial"/>
              </a:defRPr>
            </a:defPPr>
          </a:lstStyle>
          <a:p>
            <a:pPr>
              <a:defRPr sz="1575" b="0" i="0">
                <a:solidFill>
                  <a:srgbClr val="F5F0E8"/>
                </a:solidFill>
                <a:latin typeface="Arial"/>
                <a:ea typeface="Arial"/>
                <a:cs typeface="Arial"/>
              </a:defRPr>
            </a:pPr>
            <a:r>
              <a:rPr sz="1575" b="0" i="0">
                <a:solidFill>
                  <a:srgbClr val="F5F0E8"/>
                </a:solidFill>
                <a:latin typeface="Arial"/>
                <a:ea typeface="Arial"/>
                <a:cs typeface="Arial"/>
              </a:rPr>
              <a:t>Entiende la intención y presenta una cotización.</a:t>
            </a:r>
          </a:p>
        </p:txBody>
      </p:sp>
      <p:sp>
        <p:nvSpPr>
          <p:cNvPr id="6" name="text-6-4">
            <a:extLst>
              <a:ext uri="{FF2B5EF4-FFF2-40B4-BE49-F238E27FC236}">
                <a16:creationId xmlns:a16="http://schemas.microsoft.com/office/drawing/2014/main" id="{790C9971-5570-4639-AFFD-BE4331A0978C}"/>
              </a:ext>
            </a:extLst>
          </p:cNvPr>
          <p:cNvSpPr>
            <a:spLocks noGrp="1"/>
          </p:cNvSpPr>
          <p:nvPr/>
        </p:nvSpPr>
        <p:spPr>
          <a:xfrm>
            <a:off x="532209" y="2656722"/>
            <a:ext cx="405846" cy="178594"/>
          </a:xfrm>
          <a:prstGeom prst="rect">
            <a:avLst/>
          </a:prstGeom>
          <a:noFill/>
          <a:ln w="0">
            <a:noFill/>
          </a:ln>
        </p:spPr>
        <p:txBody>
          <a:bodyPr wrap="none" lIns="0" tIns="0" rIns="0" bIns="0" anchor="t">
            <a:noAutofit/>
          </a:bodyPr>
          <a:lstStyle>
            <a:defPPr>
              <a:defRPr sz="1125" b="1" i="0">
                <a:solidFill>
                  <a:srgbClr val="FF4053"/>
                </a:solidFill>
                <a:latin typeface="Arial"/>
                <a:ea typeface="Arial"/>
                <a:cs typeface="Arial"/>
              </a:defRPr>
            </a:defPPr>
          </a:lstStyle>
          <a:p>
            <a:pPr>
              <a:defRPr sz="1125" b="1" i="0">
                <a:solidFill>
                  <a:srgbClr val="FF4053"/>
                </a:solidFill>
                <a:latin typeface="Arial"/>
                <a:ea typeface="Arial"/>
                <a:cs typeface="Arial"/>
              </a:defRPr>
            </a:pPr>
            <a:r>
              <a:rPr sz="1125" b="1" i="0">
                <a:solidFill>
                  <a:srgbClr val="FF4053"/>
                </a:solidFill>
                <a:latin typeface="Arial"/>
                <a:ea typeface="Arial"/>
                <a:cs typeface="Arial"/>
              </a:rPr>
              <a:t>LA IA</a:t>
            </a:r>
          </a:p>
        </p:txBody>
      </p:sp>
      <p:sp>
        <p:nvSpPr>
          <p:cNvPr id="7" name="text-6-5">
            <a:extLst>
              <a:ext uri="{FF2B5EF4-FFF2-40B4-BE49-F238E27FC236}">
                <a16:creationId xmlns:a16="http://schemas.microsoft.com/office/drawing/2014/main" id="{A03AE99F-6AE1-4252-AC21-A4B178F6D581}"/>
              </a:ext>
            </a:extLst>
          </p:cNvPr>
          <p:cNvSpPr>
            <a:spLocks noGrp="1"/>
          </p:cNvSpPr>
          <p:nvPr/>
        </p:nvSpPr>
        <p:spPr>
          <a:xfrm>
            <a:off x="2175272" y="2659428"/>
            <a:ext cx="2153450" cy="214313"/>
          </a:xfrm>
          <a:prstGeom prst="rect">
            <a:avLst/>
          </a:prstGeom>
          <a:noFill/>
          <a:ln w="0">
            <a:noFill/>
          </a:ln>
        </p:spPr>
        <p:txBody>
          <a:bodyPr wrap="none" lIns="0" tIns="0" rIns="0" bIns="0" anchor="t">
            <a:noAutofit/>
          </a:bodyPr>
          <a:lstStyle>
            <a:defPPr>
              <a:defRPr sz="1350" b="0" i="0">
                <a:solidFill>
                  <a:srgbClr val="F5F0E8"/>
                </a:solidFill>
                <a:latin typeface="Arial"/>
                <a:ea typeface="Arial"/>
                <a:cs typeface="Arial"/>
              </a:defRPr>
            </a:defPPr>
          </a:lstStyle>
          <a:p>
            <a:pPr>
              <a:defRPr sz="1350" b="0" i="0">
                <a:solidFill>
                  <a:srgbClr val="F5F0E8"/>
                </a:solidFill>
                <a:latin typeface="Arial"/>
                <a:ea typeface="Arial"/>
                <a:cs typeface="Arial"/>
              </a:defRPr>
            </a:pPr>
            <a:r>
              <a:rPr sz="1350" b="0" i="0">
                <a:solidFill>
                  <a:srgbClr val="F5F0E8"/>
                </a:solidFill>
                <a:latin typeface="Arial"/>
                <a:ea typeface="Arial"/>
                <a:cs typeface="Arial"/>
              </a:rPr>
              <a:t>Conversación y orientación.</a:t>
            </a:r>
          </a:p>
        </p:txBody>
      </p:sp>
      <p:sp>
        <p:nvSpPr>
          <p:cNvPr id="8" name="text-6-6">
            <a:extLst>
              <a:ext uri="{FF2B5EF4-FFF2-40B4-BE49-F238E27FC236}">
                <a16:creationId xmlns:a16="http://schemas.microsoft.com/office/drawing/2014/main" id="{6998F8AE-F6FF-477A-B7C9-F0AFE3DE2185}"/>
              </a:ext>
            </a:extLst>
          </p:cNvPr>
          <p:cNvSpPr>
            <a:spLocks noGrp="1"/>
          </p:cNvSpPr>
          <p:nvPr/>
        </p:nvSpPr>
        <p:spPr>
          <a:xfrm>
            <a:off x="532209" y="3113922"/>
            <a:ext cx="958929" cy="178594"/>
          </a:xfrm>
          <a:prstGeom prst="rect">
            <a:avLst/>
          </a:prstGeom>
          <a:noFill/>
          <a:ln w="0">
            <a:noFill/>
          </a:ln>
        </p:spPr>
        <p:txBody>
          <a:bodyPr wrap="none" lIns="0" tIns="0" rIns="0" bIns="0" anchor="t">
            <a:noAutofit/>
          </a:bodyPr>
          <a:lstStyle>
            <a:defPPr>
              <a:defRPr sz="1125" b="1" i="0">
                <a:solidFill>
                  <a:srgbClr val="FF4053"/>
                </a:solidFill>
                <a:latin typeface="Arial"/>
                <a:ea typeface="Arial"/>
                <a:cs typeface="Arial"/>
              </a:defRPr>
            </a:defPPr>
          </a:lstStyle>
          <a:p>
            <a:pPr>
              <a:defRPr sz="1125" b="1" i="0">
                <a:solidFill>
                  <a:srgbClr val="FF4053"/>
                </a:solidFill>
                <a:latin typeface="Arial"/>
                <a:ea typeface="Arial"/>
                <a:cs typeface="Arial"/>
              </a:defRPr>
            </a:pPr>
            <a:r>
              <a:rPr sz="1125" b="1" i="0">
                <a:solidFill>
                  <a:srgbClr val="FF4053"/>
                </a:solidFill>
                <a:latin typeface="Arial"/>
                <a:ea typeface="Arial"/>
                <a:cs typeface="Arial"/>
              </a:rPr>
              <a:t>LAS REGLAS</a:t>
            </a:r>
          </a:p>
        </p:txBody>
      </p:sp>
      <p:sp>
        <p:nvSpPr>
          <p:cNvPr id="9" name="text-6-7">
            <a:extLst>
              <a:ext uri="{FF2B5EF4-FFF2-40B4-BE49-F238E27FC236}">
                <a16:creationId xmlns:a16="http://schemas.microsoft.com/office/drawing/2014/main" id="{61532289-E5BC-431E-989A-773ED909721D}"/>
              </a:ext>
            </a:extLst>
          </p:cNvPr>
          <p:cNvSpPr>
            <a:spLocks noGrp="1"/>
          </p:cNvSpPr>
          <p:nvPr/>
        </p:nvSpPr>
        <p:spPr>
          <a:xfrm>
            <a:off x="2175272" y="3116628"/>
            <a:ext cx="2048865" cy="214313"/>
          </a:xfrm>
          <a:prstGeom prst="rect">
            <a:avLst/>
          </a:prstGeom>
          <a:noFill/>
          <a:ln w="0">
            <a:noFill/>
          </a:ln>
        </p:spPr>
        <p:txBody>
          <a:bodyPr wrap="none" lIns="0" tIns="0" rIns="0" bIns="0" anchor="t">
            <a:noAutofit/>
          </a:bodyPr>
          <a:lstStyle>
            <a:defPPr>
              <a:defRPr sz="1350" b="0" i="0">
                <a:solidFill>
                  <a:srgbClr val="F5F0E8"/>
                </a:solidFill>
                <a:latin typeface="Arial"/>
                <a:ea typeface="Arial"/>
                <a:cs typeface="Arial"/>
              </a:defRPr>
            </a:defPPr>
          </a:lstStyle>
          <a:p>
            <a:pPr>
              <a:defRPr sz="1350" b="0" i="0">
                <a:solidFill>
                  <a:srgbClr val="F5F0E8"/>
                </a:solidFill>
                <a:latin typeface="Arial"/>
                <a:ea typeface="Arial"/>
                <a:cs typeface="Arial"/>
              </a:defRPr>
            </a:pPr>
            <a:r>
              <a:rPr sz="1350" b="0" i="0">
                <a:solidFill>
                  <a:srgbClr val="F5F0E8"/>
                </a:solidFill>
                <a:latin typeface="Arial"/>
                <a:ea typeface="Arial"/>
                <a:cs typeface="Arial"/>
              </a:rPr>
              <a:t>Importes, datos y estados.</a:t>
            </a:r>
          </a:p>
        </p:txBody>
      </p:sp>
      <p:sp>
        <p:nvSpPr>
          <p:cNvPr id="10" name="text-6-8">
            <a:extLst>
              <a:ext uri="{FF2B5EF4-FFF2-40B4-BE49-F238E27FC236}">
                <a16:creationId xmlns:a16="http://schemas.microsoft.com/office/drawing/2014/main" id="{DAEA4043-F683-42D1-BFAD-BB1BA6AD2180}"/>
              </a:ext>
            </a:extLst>
          </p:cNvPr>
          <p:cNvSpPr>
            <a:spLocks noGrp="1"/>
          </p:cNvSpPr>
          <p:nvPr/>
        </p:nvSpPr>
        <p:spPr>
          <a:xfrm>
            <a:off x="532209" y="3571122"/>
            <a:ext cx="813592" cy="178594"/>
          </a:xfrm>
          <a:prstGeom prst="rect">
            <a:avLst/>
          </a:prstGeom>
          <a:noFill/>
          <a:ln w="0">
            <a:noFill/>
          </a:ln>
        </p:spPr>
        <p:txBody>
          <a:bodyPr wrap="none" lIns="0" tIns="0" rIns="0" bIns="0" anchor="t">
            <a:noAutofit/>
          </a:bodyPr>
          <a:lstStyle>
            <a:defPPr>
              <a:defRPr sz="1125" b="1" i="0">
                <a:solidFill>
                  <a:srgbClr val="FF4053"/>
                </a:solidFill>
                <a:latin typeface="Arial"/>
                <a:ea typeface="Arial"/>
                <a:cs typeface="Arial"/>
              </a:defRPr>
            </a:defPPr>
          </a:lstStyle>
          <a:p>
            <a:pPr>
              <a:defRPr sz="1125" b="1" i="0">
                <a:solidFill>
                  <a:srgbClr val="FF4053"/>
                </a:solidFill>
                <a:latin typeface="Arial"/>
                <a:ea typeface="Arial"/>
                <a:cs typeface="Arial"/>
              </a:defRPr>
            </a:pPr>
            <a:r>
              <a:rPr sz="1125" b="1" i="0">
                <a:solidFill>
                  <a:srgbClr val="FF4053"/>
                </a:solidFill>
                <a:latin typeface="Arial"/>
                <a:ea typeface="Arial"/>
                <a:cs typeface="Arial"/>
              </a:rPr>
              <a:t>EL EQUIPO</a:t>
            </a:r>
          </a:p>
        </p:txBody>
      </p:sp>
      <p:sp>
        <p:nvSpPr>
          <p:cNvPr id="11" name="text-6-9">
            <a:extLst>
              <a:ext uri="{FF2B5EF4-FFF2-40B4-BE49-F238E27FC236}">
                <a16:creationId xmlns:a16="http://schemas.microsoft.com/office/drawing/2014/main" id="{61244240-06DD-485D-9F23-60719A7A571F}"/>
              </a:ext>
            </a:extLst>
          </p:cNvPr>
          <p:cNvSpPr>
            <a:spLocks noGrp="1"/>
          </p:cNvSpPr>
          <p:nvPr/>
        </p:nvSpPr>
        <p:spPr>
          <a:xfrm>
            <a:off x="2175272" y="3573828"/>
            <a:ext cx="2763298" cy="214313"/>
          </a:xfrm>
          <a:prstGeom prst="rect">
            <a:avLst/>
          </a:prstGeom>
          <a:noFill/>
          <a:ln w="0">
            <a:noFill/>
          </a:ln>
        </p:spPr>
        <p:txBody>
          <a:bodyPr wrap="none" lIns="0" tIns="0" rIns="0" bIns="0" anchor="t">
            <a:noAutofit/>
          </a:bodyPr>
          <a:lstStyle>
            <a:defPPr>
              <a:defRPr sz="1350" b="0" i="0">
                <a:solidFill>
                  <a:srgbClr val="F5F0E8"/>
                </a:solidFill>
                <a:latin typeface="Arial"/>
                <a:ea typeface="Arial"/>
                <a:cs typeface="Arial"/>
              </a:defRPr>
            </a:defPPr>
          </a:lstStyle>
          <a:p>
            <a:pPr>
              <a:defRPr sz="1350" b="0" i="0">
                <a:solidFill>
                  <a:srgbClr val="F5F0E8"/>
                </a:solidFill>
                <a:latin typeface="Arial"/>
                <a:ea typeface="Arial"/>
                <a:cs typeface="Arial"/>
              </a:defRPr>
            </a:pPr>
            <a:r>
              <a:rPr sz="1350" b="0" i="0">
                <a:solidFill>
                  <a:srgbClr val="F5F0E8"/>
                </a:solidFill>
                <a:latin typeface="Arial"/>
                <a:ea typeface="Arial"/>
                <a:cs typeface="Arial"/>
              </a:rPr>
              <a:t>Revisión del ingreso y excepciones.</a:t>
            </a:r>
          </a:p>
        </p:txBody>
      </p:sp>
      <p:sp>
        <p:nvSpPr>
          <p:cNvPr id="12" name="text-6-10">
            <a:extLst>
              <a:ext uri="{FF2B5EF4-FFF2-40B4-BE49-F238E27FC236}">
                <a16:creationId xmlns:a16="http://schemas.microsoft.com/office/drawing/2014/main" id="{A2A43201-CDD6-4F4F-BB95-A964487B97B2}"/>
              </a:ext>
            </a:extLst>
          </p:cNvPr>
          <p:cNvSpPr>
            <a:spLocks noGrp="1"/>
          </p:cNvSpPr>
          <p:nvPr/>
        </p:nvSpPr>
        <p:spPr>
          <a:xfrm>
            <a:off x="532209" y="4603582"/>
            <a:ext cx="4987435" cy="133945"/>
          </a:xfrm>
          <a:prstGeom prst="rect">
            <a:avLst/>
          </a:prstGeom>
          <a:noFill/>
          <a:ln w="0">
            <a:noFill/>
          </a:ln>
        </p:spPr>
        <p:txBody>
          <a:bodyPr wrap="none" lIns="0" tIns="0" rIns="0" bIns="0" anchor="t">
            <a:noAutofit/>
          </a:bodyPr>
          <a:lstStyle>
            <a:defPPr>
              <a:defRPr sz="844" b="0" i="0">
                <a:solidFill>
                  <a:srgbClr val="F5F0E8"/>
                </a:solidFill>
                <a:latin typeface="Arial"/>
                <a:ea typeface="Arial"/>
                <a:cs typeface="Arial"/>
              </a:defRPr>
            </a:defPPr>
          </a:lstStyle>
          <a:p>
            <a:pPr>
              <a:defRPr sz="844" b="0" i="0">
                <a:solidFill>
                  <a:srgbClr val="F5F0E8"/>
                </a:solidFill>
                <a:latin typeface="Arial"/>
                <a:ea typeface="Arial"/>
                <a:cs typeface="Arial"/>
              </a:defRPr>
            </a:pPr>
            <a:r>
              <a:rPr sz="844" b="0" i="0">
                <a:solidFill>
                  <a:srgbClr val="F5F0E8"/>
                </a:solidFill>
                <a:latin typeface="Arial"/>
                <a:ea typeface="Arial"/>
                <a:cs typeface="Arial"/>
              </a:rPr>
              <a:t>Captura del módulo conversacional del equipo. Derivación a un asesor con contexto: siguiente iteración.</a:t>
            </a:r>
          </a:p>
        </p:txBody>
      </p:sp>
      <p:sp>
        <p:nvSpPr>
          <p:cNvPr id="13" name="text-6-11">
            <a:extLst>
              <a:ext uri="{FF2B5EF4-FFF2-40B4-BE49-F238E27FC236}">
                <a16:creationId xmlns:a16="http://schemas.microsoft.com/office/drawing/2014/main" id="{FD1059FD-7259-45A3-94EB-01A4A22B2BCC}"/>
              </a:ext>
            </a:extLst>
          </p:cNvPr>
          <p:cNvSpPr>
            <a:spLocks noGrp="1"/>
          </p:cNvSpPr>
          <p:nvPr/>
        </p:nvSpPr>
        <p:spPr>
          <a:xfrm>
            <a:off x="532209" y="4923697"/>
            <a:ext cx="2065588"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4" name="text-6-12">
            <a:extLst>
              <a:ext uri="{FF2B5EF4-FFF2-40B4-BE49-F238E27FC236}">
                <a16:creationId xmlns:a16="http://schemas.microsoft.com/office/drawing/2014/main" id="{4938DB05-6DC5-4D8B-873F-CB8C771EF0E1}"/>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06 / 5.5</a:t>
            </a:r>
          </a:p>
        </p:txBody>
      </p:sp>
    </p:spTree>
    <p:extLst>
      <p:ext uri="{BB962C8B-B14F-4D97-AF65-F5344CB8AC3E}">
        <p14:creationId xmlns:p14="http://schemas.microsoft.com/office/powerpoint/2010/main" val="17304248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7DD62D7E-55DC-4A2B-A078-793AB28EEEE4}"/>
              </a:ext>
            </a:extLst>
          </p:cNvPr>
          <p:cNvPicPr>
            <a:picLocks noChangeAspect="1"/>
          </p:cNvPicPr>
          <p:nvPr/>
        </p:nvPicPr>
        <p:blipFill>
          <a:blip r:embed="rId3"/>
          <a:stretch/>
        </p:blipFill>
        <p:spPr>
          <a:xfrm>
            <a:off x="0" y="0"/>
            <a:ext cx="9324594" cy="5248656"/>
          </a:xfrm>
          <a:prstGeom prst="rect">
            <a:avLst/>
          </a:prstGeom>
        </p:spPr>
      </p:pic>
      <p:sp>
        <p:nvSpPr>
          <p:cNvPr id="2" name="text-7-0">
            <a:extLst>
              <a:ext uri="{FF2B5EF4-FFF2-40B4-BE49-F238E27FC236}">
                <a16:creationId xmlns:a16="http://schemas.microsoft.com/office/drawing/2014/main" id="{4B318617-8A08-4483-A5C6-44EF98872976}"/>
              </a:ext>
            </a:extLst>
          </p:cNvPr>
          <p:cNvSpPr>
            <a:spLocks noGrp="1"/>
          </p:cNvSpPr>
          <p:nvPr/>
        </p:nvSpPr>
        <p:spPr>
          <a:xfrm>
            <a:off x="532209" y="382979"/>
            <a:ext cx="2010159"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02 / SOLUCIÓN PROPUESTA</a:t>
            </a:r>
          </a:p>
        </p:txBody>
      </p:sp>
      <p:sp>
        <p:nvSpPr>
          <p:cNvPr id="3" name="text-7-1">
            <a:extLst>
              <a:ext uri="{FF2B5EF4-FFF2-40B4-BE49-F238E27FC236}">
                <a16:creationId xmlns:a16="http://schemas.microsoft.com/office/drawing/2014/main" id="{EC1E32DC-C715-412D-BE1F-C9F0C92F1E5B}"/>
              </a:ext>
            </a:extLst>
          </p:cNvPr>
          <p:cNvSpPr>
            <a:spLocks noGrp="1"/>
          </p:cNvSpPr>
          <p:nvPr/>
        </p:nvSpPr>
        <p:spPr>
          <a:xfrm>
            <a:off x="532209" y="673884"/>
            <a:ext cx="3704717" cy="678656"/>
          </a:xfrm>
          <a:prstGeom prst="rect">
            <a:avLst/>
          </a:prstGeom>
          <a:noFill/>
          <a:ln w="0">
            <a:noFill/>
          </a:ln>
        </p:spPr>
        <p:txBody>
          <a:bodyPr wrap="none" lIns="0" tIns="0" rIns="0" bIns="0" anchor="t">
            <a:noAutofit/>
          </a:bodyPr>
          <a:lstStyle>
            <a:defPPr>
              <a:defRPr sz="4275" b="0" i="0">
                <a:solidFill>
                  <a:srgbClr val="F5F0E8"/>
                </a:solidFill>
                <a:latin typeface="Impact"/>
                <a:ea typeface="Impact"/>
                <a:cs typeface="Impact"/>
              </a:defRPr>
            </a:defPPr>
          </a:lstStyle>
          <a:p>
            <a:pPr>
              <a:defRPr sz="4275" b="0" i="0">
                <a:solidFill>
                  <a:srgbClr val="F5F0E8"/>
                </a:solidFill>
                <a:latin typeface="Impact"/>
                <a:ea typeface="Impact"/>
                <a:cs typeface="Impact"/>
              </a:defRPr>
            </a:pPr>
            <a:r>
              <a:rPr sz="4275" b="0" i="0">
                <a:solidFill>
                  <a:srgbClr val="F5F0E8"/>
                </a:solidFill>
                <a:latin typeface="Impact"/>
                <a:ea typeface="Impact"/>
                <a:cs typeface="Impact"/>
              </a:rPr>
              <a:t>EL CLIENTE AVANZA</a:t>
            </a:r>
          </a:p>
        </p:txBody>
      </p:sp>
      <p:sp>
        <p:nvSpPr>
          <p:cNvPr id="4" name="text-7-2">
            <a:extLst>
              <a:ext uri="{FF2B5EF4-FFF2-40B4-BE49-F238E27FC236}">
                <a16:creationId xmlns:a16="http://schemas.microsoft.com/office/drawing/2014/main" id="{5010B251-5839-487D-B50D-0F2CE0EA9E4E}"/>
              </a:ext>
            </a:extLst>
          </p:cNvPr>
          <p:cNvSpPr>
            <a:spLocks noGrp="1"/>
          </p:cNvSpPr>
          <p:nvPr/>
        </p:nvSpPr>
        <p:spPr>
          <a:xfrm>
            <a:off x="532209" y="1231097"/>
            <a:ext cx="3945959" cy="678656"/>
          </a:xfrm>
          <a:prstGeom prst="rect">
            <a:avLst/>
          </a:prstGeom>
          <a:noFill/>
          <a:ln w="0">
            <a:noFill/>
          </a:ln>
        </p:spPr>
        <p:txBody>
          <a:bodyPr wrap="none" lIns="0" tIns="0" rIns="0" bIns="0" anchor="t">
            <a:noAutofit/>
          </a:bodyPr>
          <a:lstStyle>
            <a:defPPr>
              <a:defRPr sz="4275" b="0" i="0">
                <a:solidFill>
                  <a:srgbClr val="F5F0E8"/>
                </a:solidFill>
                <a:latin typeface="Impact"/>
                <a:ea typeface="Impact"/>
                <a:cs typeface="Impact"/>
              </a:defRPr>
            </a:defPPr>
          </a:lstStyle>
          <a:p>
            <a:pPr>
              <a:defRPr sz="4275" b="0" i="0">
                <a:solidFill>
                  <a:srgbClr val="F5F0E8"/>
                </a:solidFill>
                <a:latin typeface="Impact"/>
                <a:ea typeface="Impact"/>
                <a:cs typeface="Impact"/>
              </a:defRPr>
            </a:pPr>
            <a:r>
              <a:rPr sz="4275" b="0" i="0">
                <a:solidFill>
                  <a:srgbClr val="F5F0E8"/>
                </a:solidFill>
                <a:latin typeface="Impact"/>
                <a:ea typeface="Impact"/>
                <a:cs typeface="Impact"/>
              </a:rPr>
              <a:t>DESDE SU PANTALLA</a:t>
            </a:r>
          </a:p>
        </p:txBody>
      </p:sp>
      <p:sp>
        <p:nvSpPr>
          <p:cNvPr id="5" name="text-7-3">
            <a:extLst>
              <a:ext uri="{FF2B5EF4-FFF2-40B4-BE49-F238E27FC236}">
                <a16:creationId xmlns:a16="http://schemas.microsoft.com/office/drawing/2014/main" id="{04528B61-80C2-45D0-B465-8B406A997BA2}"/>
              </a:ext>
            </a:extLst>
          </p:cNvPr>
          <p:cNvSpPr>
            <a:spLocks noGrp="1"/>
          </p:cNvSpPr>
          <p:nvPr/>
        </p:nvSpPr>
        <p:spPr>
          <a:xfrm>
            <a:off x="5854303" y="2219006"/>
            <a:ext cx="319785" cy="383977"/>
          </a:xfrm>
          <a:prstGeom prst="rect">
            <a:avLst/>
          </a:prstGeom>
          <a:noFill/>
          <a:ln w="0">
            <a:noFill/>
          </a:ln>
        </p:spPr>
        <p:txBody>
          <a:bodyPr wrap="none" lIns="0" tIns="0" rIns="0" bIns="0" anchor="t">
            <a:noAutofit/>
          </a:bodyPr>
          <a:lstStyle>
            <a:defPPr>
              <a:defRPr sz="2419" b="0" i="0">
                <a:solidFill>
                  <a:srgbClr val="F5F0E8"/>
                </a:solidFill>
                <a:latin typeface="Impact"/>
                <a:ea typeface="Impact"/>
                <a:cs typeface="Impact"/>
              </a:defRPr>
            </a:defPPr>
          </a:lstStyle>
          <a:p>
            <a:pPr>
              <a:defRPr sz="2419" b="0" i="0">
                <a:solidFill>
                  <a:srgbClr val="F5F0E8"/>
                </a:solidFill>
                <a:latin typeface="Impact"/>
                <a:ea typeface="Impact"/>
                <a:cs typeface="Impact"/>
              </a:defRPr>
            </a:pPr>
            <a:r>
              <a:rPr sz="2419" b="0" i="0">
                <a:solidFill>
                  <a:srgbClr val="F5F0E8"/>
                </a:solidFill>
                <a:latin typeface="Impact"/>
                <a:ea typeface="Impact"/>
                <a:cs typeface="Impact"/>
              </a:rPr>
              <a:t>01</a:t>
            </a:r>
          </a:p>
        </p:txBody>
      </p:sp>
      <p:sp>
        <p:nvSpPr>
          <p:cNvPr id="6" name="text-7-4">
            <a:extLst>
              <a:ext uri="{FF2B5EF4-FFF2-40B4-BE49-F238E27FC236}">
                <a16:creationId xmlns:a16="http://schemas.microsoft.com/office/drawing/2014/main" id="{5072527D-058C-41BE-8FDA-10946A248E54}"/>
              </a:ext>
            </a:extLst>
          </p:cNvPr>
          <p:cNvSpPr>
            <a:spLocks noGrp="1"/>
          </p:cNvSpPr>
          <p:nvPr/>
        </p:nvSpPr>
        <p:spPr>
          <a:xfrm>
            <a:off x="5854303" y="2695147"/>
            <a:ext cx="2105787" cy="214313"/>
          </a:xfrm>
          <a:prstGeom prst="rect">
            <a:avLst/>
          </a:prstGeom>
          <a:noFill/>
          <a:ln w="0">
            <a:noFill/>
          </a:ln>
        </p:spPr>
        <p:txBody>
          <a:bodyPr wrap="none" lIns="0" tIns="0" rIns="0" bIns="0" anchor="t">
            <a:noAutofit/>
          </a:bodyPr>
          <a:lstStyle>
            <a:defPPr>
              <a:defRPr sz="1350" b="0" i="0">
                <a:solidFill>
                  <a:srgbClr val="F5F0E8"/>
                </a:solidFill>
                <a:latin typeface="Arial"/>
                <a:ea typeface="Arial"/>
                <a:cs typeface="Arial"/>
              </a:defRPr>
            </a:defPPr>
          </a:lstStyle>
          <a:p>
            <a:pPr>
              <a:defRPr sz="1350" b="0" i="0">
                <a:solidFill>
                  <a:srgbClr val="F5F0E8"/>
                </a:solidFill>
                <a:latin typeface="Arial"/>
                <a:ea typeface="Arial"/>
                <a:cs typeface="Arial"/>
              </a:defRPr>
            </a:pPr>
            <a:r>
              <a:rPr sz="1350" b="0" i="0">
                <a:solidFill>
                  <a:srgbClr val="F5F0E8"/>
                </a:solidFill>
                <a:latin typeface="Arial"/>
                <a:ea typeface="Arial"/>
                <a:cs typeface="Arial"/>
              </a:rPr>
              <a:t>Cotiza y registra el destino.</a:t>
            </a:r>
          </a:p>
        </p:txBody>
      </p:sp>
      <p:sp>
        <p:nvSpPr>
          <p:cNvPr id="7" name="text-7-5">
            <a:extLst>
              <a:ext uri="{FF2B5EF4-FFF2-40B4-BE49-F238E27FC236}">
                <a16:creationId xmlns:a16="http://schemas.microsoft.com/office/drawing/2014/main" id="{E90303B4-2E70-4A3D-8222-BDC48F2FB570}"/>
              </a:ext>
            </a:extLst>
          </p:cNvPr>
          <p:cNvSpPr>
            <a:spLocks noGrp="1"/>
          </p:cNvSpPr>
          <p:nvPr/>
        </p:nvSpPr>
        <p:spPr>
          <a:xfrm>
            <a:off x="5854303" y="3140550"/>
            <a:ext cx="356954" cy="383977"/>
          </a:xfrm>
          <a:prstGeom prst="rect">
            <a:avLst/>
          </a:prstGeom>
          <a:noFill/>
          <a:ln w="0">
            <a:noFill/>
          </a:ln>
        </p:spPr>
        <p:txBody>
          <a:bodyPr wrap="none" lIns="0" tIns="0" rIns="0" bIns="0" anchor="t">
            <a:noAutofit/>
          </a:bodyPr>
          <a:lstStyle>
            <a:defPPr>
              <a:defRPr sz="2419" b="0" i="0">
                <a:solidFill>
                  <a:srgbClr val="F5F0E8"/>
                </a:solidFill>
                <a:latin typeface="Impact"/>
                <a:ea typeface="Impact"/>
                <a:cs typeface="Impact"/>
              </a:defRPr>
            </a:defPPr>
          </a:lstStyle>
          <a:p>
            <a:pPr>
              <a:defRPr sz="2419" b="0" i="0">
                <a:solidFill>
                  <a:srgbClr val="F5F0E8"/>
                </a:solidFill>
                <a:latin typeface="Impact"/>
                <a:ea typeface="Impact"/>
                <a:cs typeface="Impact"/>
              </a:defRPr>
            </a:pPr>
            <a:r>
              <a:rPr sz="2419" b="0" i="0">
                <a:solidFill>
                  <a:srgbClr val="F5F0E8"/>
                </a:solidFill>
                <a:latin typeface="Impact"/>
                <a:ea typeface="Impact"/>
                <a:cs typeface="Impact"/>
              </a:rPr>
              <a:t>02</a:t>
            </a:r>
          </a:p>
        </p:txBody>
      </p:sp>
      <p:sp>
        <p:nvSpPr>
          <p:cNvPr id="8" name="text-7-6">
            <a:extLst>
              <a:ext uri="{FF2B5EF4-FFF2-40B4-BE49-F238E27FC236}">
                <a16:creationId xmlns:a16="http://schemas.microsoft.com/office/drawing/2014/main" id="{D1CA7965-3E43-4BFA-AFF7-B8194175998F}"/>
              </a:ext>
            </a:extLst>
          </p:cNvPr>
          <p:cNvSpPr>
            <a:spLocks noGrp="1"/>
          </p:cNvSpPr>
          <p:nvPr/>
        </p:nvSpPr>
        <p:spPr>
          <a:xfrm>
            <a:off x="5854303" y="3616691"/>
            <a:ext cx="1944110" cy="214313"/>
          </a:xfrm>
          <a:prstGeom prst="rect">
            <a:avLst/>
          </a:prstGeom>
          <a:noFill/>
          <a:ln w="0">
            <a:noFill/>
          </a:ln>
        </p:spPr>
        <p:txBody>
          <a:bodyPr wrap="none" lIns="0" tIns="0" rIns="0" bIns="0" anchor="t">
            <a:noAutofit/>
          </a:bodyPr>
          <a:lstStyle>
            <a:defPPr>
              <a:defRPr sz="1350" b="0" i="0">
                <a:solidFill>
                  <a:srgbClr val="F5F0E8"/>
                </a:solidFill>
                <a:latin typeface="Arial"/>
                <a:ea typeface="Arial"/>
                <a:cs typeface="Arial"/>
              </a:defRPr>
            </a:defPPr>
          </a:lstStyle>
          <a:p>
            <a:pPr>
              <a:defRPr sz="1350" b="0" i="0">
                <a:solidFill>
                  <a:srgbClr val="F5F0E8"/>
                </a:solidFill>
                <a:latin typeface="Arial"/>
                <a:ea typeface="Arial"/>
                <a:cs typeface="Arial"/>
              </a:defRPr>
            </a:pPr>
            <a:r>
              <a:rPr sz="1350" b="0" i="0">
                <a:solidFill>
                  <a:srgbClr val="F5F0E8"/>
                </a:solidFill>
                <a:latin typeface="Arial"/>
                <a:ea typeface="Arial"/>
                <a:cs typeface="Arial"/>
              </a:rPr>
              <a:t>Adjunta su comprobante.</a:t>
            </a:r>
          </a:p>
        </p:txBody>
      </p:sp>
      <p:sp>
        <p:nvSpPr>
          <p:cNvPr id="9" name="text-7-7">
            <a:extLst>
              <a:ext uri="{FF2B5EF4-FFF2-40B4-BE49-F238E27FC236}">
                <a16:creationId xmlns:a16="http://schemas.microsoft.com/office/drawing/2014/main" id="{F91F296C-18A9-4C6A-BC62-39EFC39BD964}"/>
              </a:ext>
            </a:extLst>
          </p:cNvPr>
          <p:cNvSpPr>
            <a:spLocks noGrp="1"/>
          </p:cNvSpPr>
          <p:nvPr/>
        </p:nvSpPr>
        <p:spPr>
          <a:xfrm>
            <a:off x="5854303" y="4062094"/>
            <a:ext cx="365556" cy="383977"/>
          </a:xfrm>
          <a:prstGeom prst="rect">
            <a:avLst/>
          </a:prstGeom>
          <a:noFill/>
          <a:ln w="0">
            <a:noFill/>
          </a:ln>
        </p:spPr>
        <p:txBody>
          <a:bodyPr wrap="none" lIns="0" tIns="0" rIns="0" bIns="0" anchor="t">
            <a:noAutofit/>
          </a:bodyPr>
          <a:lstStyle>
            <a:defPPr>
              <a:defRPr sz="2419" b="0" i="0">
                <a:solidFill>
                  <a:srgbClr val="F5F0E8"/>
                </a:solidFill>
                <a:latin typeface="Impact"/>
                <a:ea typeface="Impact"/>
                <a:cs typeface="Impact"/>
              </a:defRPr>
            </a:defPPr>
          </a:lstStyle>
          <a:p>
            <a:pPr>
              <a:defRPr sz="2419" b="0" i="0">
                <a:solidFill>
                  <a:srgbClr val="F5F0E8"/>
                </a:solidFill>
                <a:latin typeface="Impact"/>
                <a:ea typeface="Impact"/>
                <a:cs typeface="Impact"/>
              </a:defRPr>
            </a:pPr>
            <a:r>
              <a:rPr sz="2419" b="0" i="0">
                <a:solidFill>
                  <a:srgbClr val="F5F0E8"/>
                </a:solidFill>
                <a:latin typeface="Impact"/>
                <a:ea typeface="Impact"/>
                <a:cs typeface="Impact"/>
              </a:rPr>
              <a:t>03</a:t>
            </a:r>
          </a:p>
        </p:txBody>
      </p:sp>
      <p:sp>
        <p:nvSpPr>
          <p:cNvPr id="10" name="text-7-8">
            <a:extLst>
              <a:ext uri="{FF2B5EF4-FFF2-40B4-BE49-F238E27FC236}">
                <a16:creationId xmlns:a16="http://schemas.microsoft.com/office/drawing/2014/main" id="{8B0F2269-84AB-4968-BA28-D5304A5DC7A8}"/>
              </a:ext>
            </a:extLst>
          </p:cNvPr>
          <p:cNvSpPr>
            <a:spLocks noGrp="1"/>
          </p:cNvSpPr>
          <p:nvPr/>
        </p:nvSpPr>
        <p:spPr>
          <a:xfrm>
            <a:off x="5854303" y="4538235"/>
            <a:ext cx="1505712" cy="214313"/>
          </a:xfrm>
          <a:prstGeom prst="rect">
            <a:avLst/>
          </a:prstGeom>
          <a:noFill/>
          <a:ln w="0">
            <a:noFill/>
          </a:ln>
        </p:spPr>
        <p:txBody>
          <a:bodyPr wrap="none" lIns="0" tIns="0" rIns="0" bIns="0" anchor="t">
            <a:noAutofit/>
          </a:bodyPr>
          <a:lstStyle>
            <a:defPPr>
              <a:defRPr sz="1350" b="0" i="0">
                <a:solidFill>
                  <a:srgbClr val="F5F0E8"/>
                </a:solidFill>
                <a:latin typeface="Arial"/>
                <a:ea typeface="Arial"/>
                <a:cs typeface="Arial"/>
              </a:defRPr>
            </a:defPPr>
          </a:lstStyle>
          <a:p>
            <a:pPr>
              <a:defRPr sz="1350" b="0" i="0">
                <a:solidFill>
                  <a:srgbClr val="F5F0E8"/>
                </a:solidFill>
                <a:latin typeface="Arial"/>
                <a:ea typeface="Arial"/>
                <a:cs typeface="Arial"/>
              </a:defRPr>
            </a:pPr>
            <a:r>
              <a:rPr sz="1350" b="0" i="0">
                <a:solidFill>
                  <a:srgbClr val="F5F0E8"/>
                </a:solidFill>
                <a:latin typeface="Arial"/>
                <a:ea typeface="Arial"/>
                <a:cs typeface="Arial"/>
              </a:rPr>
              <a:t>Consulta el estado.</a:t>
            </a:r>
          </a:p>
        </p:txBody>
      </p:sp>
      <p:sp>
        <p:nvSpPr>
          <p:cNvPr id="11" name="text-7-9">
            <a:extLst>
              <a:ext uri="{FF2B5EF4-FFF2-40B4-BE49-F238E27FC236}">
                <a16:creationId xmlns:a16="http://schemas.microsoft.com/office/drawing/2014/main" id="{DC36EC95-7480-4E3B-99FE-F77CE88BD6B0}"/>
              </a:ext>
            </a:extLst>
          </p:cNvPr>
          <p:cNvSpPr>
            <a:spLocks noGrp="1"/>
          </p:cNvSpPr>
          <p:nvPr/>
        </p:nvSpPr>
        <p:spPr>
          <a:xfrm>
            <a:off x="532209" y="4923697"/>
            <a:ext cx="2065588"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02 / SOLUCIÓN PROPUESTA / OMNI by 5.5</a:t>
            </a:r>
          </a:p>
        </p:txBody>
      </p:sp>
      <p:sp>
        <p:nvSpPr>
          <p:cNvPr id="12" name="text-7-10">
            <a:extLst>
              <a:ext uri="{FF2B5EF4-FFF2-40B4-BE49-F238E27FC236}">
                <a16:creationId xmlns:a16="http://schemas.microsoft.com/office/drawing/2014/main" id="{410DFA47-6D71-4356-AD29-639CA7A3B132}"/>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07 / 5.5</a:t>
            </a:r>
          </a:p>
        </p:txBody>
      </p:sp>
    </p:spTree>
    <p:extLst>
      <p:ext uri="{BB962C8B-B14F-4D97-AF65-F5344CB8AC3E}">
        <p14:creationId xmlns:p14="http://schemas.microsoft.com/office/powerpoint/2010/main" val="12980183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Imagen 11">
            <a:extLst>
              <a:ext uri="{FF2B5EF4-FFF2-40B4-BE49-F238E27FC236}">
                <a16:creationId xmlns:a16="http://schemas.microsoft.com/office/drawing/2014/main" id="{1782090E-D033-4CF8-A4C2-1579F844F55C}"/>
              </a:ext>
            </a:extLst>
          </p:cNvPr>
          <p:cNvPicPr>
            <a:picLocks noChangeAspect="1"/>
          </p:cNvPicPr>
          <p:nvPr/>
        </p:nvPicPr>
        <p:blipFill>
          <a:blip r:embed="rId3"/>
          <a:stretch/>
        </p:blipFill>
        <p:spPr>
          <a:xfrm>
            <a:off x="0" y="0"/>
            <a:ext cx="9324594" cy="5248656"/>
          </a:xfrm>
          <a:prstGeom prst="rect">
            <a:avLst/>
          </a:prstGeom>
        </p:spPr>
      </p:pic>
      <p:sp>
        <p:nvSpPr>
          <p:cNvPr id="2" name="text-8-0">
            <a:extLst>
              <a:ext uri="{FF2B5EF4-FFF2-40B4-BE49-F238E27FC236}">
                <a16:creationId xmlns:a16="http://schemas.microsoft.com/office/drawing/2014/main" id="{F144374E-C403-4166-8BC0-FA3DF3064C22}"/>
              </a:ext>
            </a:extLst>
          </p:cNvPr>
          <p:cNvSpPr>
            <a:spLocks noGrp="1"/>
          </p:cNvSpPr>
          <p:nvPr/>
        </p:nvSpPr>
        <p:spPr>
          <a:xfrm>
            <a:off x="532209" y="382979"/>
            <a:ext cx="2010159"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02 / SOLUCIÓN PROPUESTA</a:t>
            </a:r>
          </a:p>
        </p:txBody>
      </p:sp>
      <p:sp>
        <p:nvSpPr>
          <p:cNvPr id="3" name="text-8-1">
            <a:extLst>
              <a:ext uri="{FF2B5EF4-FFF2-40B4-BE49-F238E27FC236}">
                <a16:creationId xmlns:a16="http://schemas.microsoft.com/office/drawing/2014/main" id="{69905FFD-2DA4-4543-BDE6-663520933347}"/>
              </a:ext>
            </a:extLst>
          </p:cNvPr>
          <p:cNvSpPr>
            <a:spLocks noGrp="1"/>
          </p:cNvSpPr>
          <p:nvPr/>
        </p:nvSpPr>
        <p:spPr>
          <a:xfrm>
            <a:off x="532209" y="681530"/>
            <a:ext cx="3444096" cy="607219"/>
          </a:xfrm>
          <a:prstGeom prst="rect">
            <a:avLst/>
          </a:prstGeom>
          <a:noFill/>
          <a:ln w="0">
            <a:noFill/>
          </a:ln>
        </p:spPr>
        <p:txBody>
          <a:bodyPr wrap="none" lIns="0" tIns="0" rIns="0" bIns="0" anchor="t">
            <a:noAutofit/>
          </a:bodyPr>
          <a:lstStyle>
            <a:defPPr>
              <a:defRPr sz="3825" b="0" i="0">
                <a:solidFill>
                  <a:srgbClr val="0B0B0B"/>
                </a:solidFill>
                <a:latin typeface="Impact"/>
                <a:ea typeface="Impact"/>
                <a:cs typeface="Impact"/>
              </a:defRPr>
            </a:defPPr>
          </a:lstStyle>
          <a:p>
            <a:pPr>
              <a:defRPr sz="3825" b="0" i="0">
                <a:solidFill>
                  <a:srgbClr val="0B0B0B"/>
                </a:solidFill>
                <a:latin typeface="Impact"/>
                <a:ea typeface="Impact"/>
                <a:cs typeface="Impact"/>
              </a:defRPr>
            </a:pPr>
            <a:r>
              <a:rPr sz="3825" b="0" i="0">
                <a:solidFill>
                  <a:srgbClr val="0B0B0B"/>
                </a:solidFill>
                <a:latin typeface="Impact"/>
                <a:ea typeface="Impact"/>
                <a:cs typeface="Impact"/>
              </a:rPr>
              <a:t>MENOS DIGITACIÓN</a:t>
            </a:r>
          </a:p>
        </p:txBody>
      </p:sp>
      <p:sp>
        <p:nvSpPr>
          <p:cNvPr id="4" name="text-8-2">
            <a:extLst>
              <a:ext uri="{FF2B5EF4-FFF2-40B4-BE49-F238E27FC236}">
                <a16:creationId xmlns:a16="http://schemas.microsoft.com/office/drawing/2014/main" id="{C8EDD753-7584-422F-8102-25B8E14C70C8}"/>
              </a:ext>
            </a:extLst>
          </p:cNvPr>
          <p:cNvSpPr>
            <a:spLocks noGrp="1"/>
          </p:cNvSpPr>
          <p:nvPr/>
        </p:nvSpPr>
        <p:spPr>
          <a:xfrm>
            <a:off x="532209" y="1174449"/>
            <a:ext cx="4289992" cy="607219"/>
          </a:xfrm>
          <a:prstGeom prst="rect">
            <a:avLst/>
          </a:prstGeom>
          <a:noFill/>
          <a:ln w="0">
            <a:noFill/>
          </a:ln>
        </p:spPr>
        <p:txBody>
          <a:bodyPr wrap="none" lIns="0" tIns="0" rIns="0" bIns="0" anchor="t">
            <a:noAutofit/>
          </a:bodyPr>
          <a:lstStyle>
            <a:defPPr>
              <a:defRPr sz="3825" b="0" i="0">
                <a:solidFill>
                  <a:srgbClr val="0B0B0B"/>
                </a:solidFill>
                <a:latin typeface="Impact"/>
                <a:ea typeface="Impact"/>
                <a:cs typeface="Impact"/>
              </a:defRPr>
            </a:defPPr>
          </a:lstStyle>
          <a:p>
            <a:pPr>
              <a:defRPr sz="3825" b="0" i="0">
                <a:solidFill>
                  <a:srgbClr val="0B0B0B"/>
                </a:solidFill>
                <a:latin typeface="Impact"/>
                <a:ea typeface="Impact"/>
                <a:cs typeface="Impact"/>
              </a:defRPr>
            </a:pPr>
            <a:r>
              <a:rPr sz="3825" b="0" i="0">
                <a:solidFill>
                  <a:srgbClr val="0B0B0B"/>
                </a:solidFill>
                <a:latin typeface="Impact"/>
                <a:ea typeface="Impact"/>
                <a:cs typeface="Impact"/>
              </a:rPr>
              <a:t>MÁS CONTROL DEL CASO</a:t>
            </a:r>
          </a:p>
        </p:txBody>
      </p:sp>
      <p:sp>
        <p:nvSpPr>
          <p:cNvPr id="5" name="text-8-3">
            <a:extLst>
              <a:ext uri="{FF2B5EF4-FFF2-40B4-BE49-F238E27FC236}">
                <a16:creationId xmlns:a16="http://schemas.microsoft.com/office/drawing/2014/main" id="{4A4B2D53-6207-4223-860C-189AEE5DEB4D}"/>
              </a:ext>
            </a:extLst>
          </p:cNvPr>
          <p:cNvSpPr>
            <a:spLocks noGrp="1"/>
          </p:cNvSpPr>
          <p:nvPr/>
        </p:nvSpPr>
        <p:spPr>
          <a:xfrm>
            <a:off x="532209" y="4130364"/>
            <a:ext cx="887235" cy="205383"/>
          </a:xfrm>
          <a:prstGeom prst="rect">
            <a:avLst/>
          </a:prstGeom>
          <a:noFill/>
          <a:ln w="0">
            <a:noFill/>
          </a:ln>
        </p:spPr>
        <p:txBody>
          <a:bodyPr wrap="none" lIns="0" tIns="0" rIns="0" bIns="0" anchor="t">
            <a:noAutofit/>
          </a:bodyPr>
          <a:lstStyle>
            <a:defPPr>
              <a:defRPr sz="1294" b="1" i="0">
                <a:solidFill>
                  <a:srgbClr val="0B0B0B"/>
                </a:solidFill>
                <a:latin typeface="Arial"/>
                <a:ea typeface="Arial"/>
                <a:cs typeface="Arial"/>
              </a:defRPr>
            </a:defPPr>
          </a:lstStyle>
          <a:p>
            <a:pPr>
              <a:defRPr sz="1294" b="1" i="0">
                <a:solidFill>
                  <a:srgbClr val="0B0B0B"/>
                </a:solidFill>
                <a:latin typeface="Arial"/>
                <a:ea typeface="Arial"/>
                <a:cs typeface="Arial"/>
              </a:defRPr>
            </a:pPr>
            <a:r>
              <a:rPr sz="1294" b="1" i="0">
                <a:solidFill>
                  <a:srgbClr val="0B0B0B"/>
                </a:solidFill>
                <a:latin typeface="Arial"/>
                <a:ea typeface="Arial"/>
                <a:cs typeface="Arial"/>
              </a:rPr>
              <a:t>Registrada</a:t>
            </a:r>
          </a:p>
        </p:txBody>
      </p:sp>
      <p:sp>
        <p:nvSpPr>
          <p:cNvPr id="6" name="text-8-4">
            <a:extLst>
              <a:ext uri="{FF2B5EF4-FFF2-40B4-BE49-F238E27FC236}">
                <a16:creationId xmlns:a16="http://schemas.microsoft.com/office/drawing/2014/main" id="{8D199991-97E5-4796-BA60-0EBE19C00B40}"/>
              </a:ext>
            </a:extLst>
          </p:cNvPr>
          <p:cNvSpPr>
            <a:spLocks noGrp="1"/>
          </p:cNvSpPr>
          <p:nvPr/>
        </p:nvSpPr>
        <p:spPr>
          <a:xfrm>
            <a:off x="2868104" y="4130364"/>
            <a:ext cx="923875" cy="205383"/>
          </a:xfrm>
          <a:prstGeom prst="rect">
            <a:avLst/>
          </a:prstGeom>
          <a:noFill/>
          <a:ln w="0">
            <a:noFill/>
          </a:ln>
        </p:spPr>
        <p:txBody>
          <a:bodyPr wrap="none" lIns="0" tIns="0" rIns="0" bIns="0" anchor="t">
            <a:noAutofit/>
          </a:bodyPr>
          <a:lstStyle>
            <a:defPPr>
              <a:defRPr sz="1294" b="1" i="0">
                <a:solidFill>
                  <a:srgbClr val="0B0B0B"/>
                </a:solidFill>
                <a:latin typeface="Arial"/>
                <a:ea typeface="Arial"/>
                <a:cs typeface="Arial"/>
              </a:defRPr>
            </a:defPPr>
          </a:lstStyle>
          <a:p>
            <a:pPr>
              <a:defRPr sz="1294" b="1" i="0">
                <a:solidFill>
                  <a:srgbClr val="0B0B0B"/>
                </a:solidFill>
                <a:latin typeface="Arial"/>
                <a:ea typeface="Arial"/>
                <a:cs typeface="Arial"/>
              </a:defRPr>
            </a:pPr>
            <a:r>
              <a:rPr sz="1294" b="1" i="0">
                <a:solidFill>
                  <a:srgbClr val="0B0B0B"/>
                </a:solidFill>
                <a:latin typeface="Arial"/>
                <a:ea typeface="Arial"/>
                <a:cs typeface="Arial"/>
              </a:rPr>
              <a:t>En revisión</a:t>
            </a:r>
          </a:p>
        </p:txBody>
      </p:sp>
      <p:sp>
        <p:nvSpPr>
          <p:cNvPr id="7" name="text-8-5">
            <a:extLst>
              <a:ext uri="{FF2B5EF4-FFF2-40B4-BE49-F238E27FC236}">
                <a16:creationId xmlns:a16="http://schemas.microsoft.com/office/drawing/2014/main" id="{C3840ABE-A11C-4F0C-9C8F-7F6EFFFDE163}"/>
              </a:ext>
            </a:extLst>
          </p:cNvPr>
          <p:cNvSpPr>
            <a:spLocks noGrp="1"/>
          </p:cNvSpPr>
          <p:nvPr/>
        </p:nvSpPr>
        <p:spPr>
          <a:xfrm>
            <a:off x="5240387" y="4130364"/>
            <a:ext cx="804917" cy="205383"/>
          </a:xfrm>
          <a:prstGeom prst="rect">
            <a:avLst/>
          </a:prstGeom>
          <a:noFill/>
          <a:ln w="0">
            <a:noFill/>
          </a:ln>
        </p:spPr>
        <p:txBody>
          <a:bodyPr wrap="none" lIns="0" tIns="0" rIns="0" bIns="0" anchor="t">
            <a:noAutofit/>
          </a:bodyPr>
          <a:lstStyle>
            <a:defPPr>
              <a:defRPr sz="1294" b="1" i="0">
                <a:solidFill>
                  <a:srgbClr val="0B0B0B"/>
                </a:solidFill>
                <a:latin typeface="Arial"/>
                <a:ea typeface="Arial"/>
                <a:cs typeface="Arial"/>
              </a:defRPr>
            </a:defPPr>
          </a:lstStyle>
          <a:p>
            <a:pPr>
              <a:defRPr sz="1294" b="1" i="0">
                <a:solidFill>
                  <a:srgbClr val="0B0B0B"/>
                </a:solidFill>
                <a:latin typeface="Arial"/>
                <a:ea typeface="Arial"/>
                <a:cs typeface="Arial"/>
              </a:defRPr>
            </a:pPr>
            <a:r>
              <a:rPr sz="1294" b="1" i="0">
                <a:solidFill>
                  <a:srgbClr val="0B0B0B"/>
                </a:solidFill>
                <a:latin typeface="Arial"/>
                <a:ea typeface="Arial"/>
                <a:cs typeface="Arial"/>
              </a:rPr>
              <a:t>Aprobada</a:t>
            </a:r>
          </a:p>
        </p:txBody>
      </p:sp>
      <p:sp>
        <p:nvSpPr>
          <p:cNvPr id="8" name="text-8-6">
            <a:extLst>
              <a:ext uri="{FF2B5EF4-FFF2-40B4-BE49-F238E27FC236}">
                <a16:creationId xmlns:a16="http://schemas.microsoft.com/office/drawing/2014/main" id="{8EF6FE33-B517-4C1C-8EAF-BDF26171909D}"/>
              </a:ext>
            </a:extLst>
          </p:cNvPr>
          <p:cNvSpPr>
            <a:spLocks noGrp="1"/>
          </p:cNvSpPr>
          <p:nvPr/>
        </p:nvSpPr>
        <p:spPr>
          <a:xfrm>
            <a:off x="7493905" y="4130364"/>
            <a:ext cx="1334640" cy="205383"/>
          </a:xfrm>
          <a:prstGeom prst="rect">
            <a:avLst/>
          </a:prstGeom>
          <a:noFill/>
          <a:ln w="0">
            <a:noFill/>
          </a:ln>
        </p:spPr>
        <p:txBody>
          <a:bodyPr wrap="none" lIns="0" tIns="0" rIns="0" bIns="0" anchor="t">
            <a:noAutofit/>
          </a:bodyPr>
          <a:lstStyle>
            <a:defPPr>
              <a:defRPr sz="1294" b="1" i="0">
                <a:solidFill>
                  <a:srgbClr val="0B0B0B"/>
                </a:solidFill>
                <a:latin typeface="Arial"/>
                <a:ea typeface="Arial"/>
                <a:cs typeface="Arial"/>
              </a:defRPr>
            </a:defPPr>
          </a:lstStyle>
          <a:p>
            <a:pPr>
              <a:defRPr sz="1294" b="1" i="0">
                <a:solidFill>
                  <a:srgbClr val="0B0B0B"/>
                </a:solidFill>
                <a:latin typeface="Arial"/>
                <a:ea typeface="Arial"/>
                <a:cs typeface="Arial"/>
              </a:defRPr>
            </a:pPr>
            <a:r>
              <a:rPr sz="1294" b="1" i="0">
                <a:solidFill>
                  <a:srgbClr val="0B0B0B"/>
                </a:solidFill>
                <a:latin typeface="Arial"/>
                <a:ea typeface="Arial"/>
                <a:cs typeface="Arial"/>
              </a:rPr>
              <a:t>Envío registrado</a:t>
            </a:r>
          </a:p>
        </p:txBody>
      </p:sp>
      <p:sp>
        <p:nvSpPr>
          <p:cNvPr id="9" name="text-8-7">
            <a:extLst>
              <a:ext uri="{FF2B5EF4-FFF2-40B4-BE49-F238E27FC236}">
                <a16:creationId xmlns:a16="http://schemas.microsoft.com/office/drawing/2014/main" id="{2CA5D187-2AEE-45AC-8E30-5F5BD764F0EA}"/>
              </a:ext>
            </a:extLst>
          </p:cNvPr>
          <p:cNvSpPr>
            <a:spLocks noGrp="1"/>
          </p:cNvSpPr>
          <p:nvPr/>
        </p:nvSpPr>
        <p:spPr>
          <a:xfrm>
            <a:off x="532209" y="4603582"/>
            <a:ext cx="5196176" cy="133945"/>
          </a:xfrm>
          <a:prstGeom prst="rect">
            <a:avLst/>
          </a:prstGeom>
          <a:noFill/>
          <a:ln w="0">
            <a:noFill/>
          </a:ln>
        </p:spPr>
        <p:txBody>
          <a:bodyPr wrap="none" lIns="0" tIns="0" rIns="0" bIns="0" anchor="t">
            <a:noAutofit/>
          </a:bodyPr>
          <a:lstStyle>
            <a:defPPr>
              <a:defRPr sz="844" b="0" i="0">
                <a:solidFill>
                  <a:srgbClr val="0B0B0B"/>
                </a:solidFill>
                <a:latin typeface="Arial"/>
                <a:ea typeface="Arial"/>
                <a:cs typeface="Arial"/>
              </a:defRPr>
            </a:defPPr>
          </a:lstStyle>
          <a:p>
            <a:pPr>
              <a:defRPr sz="844" b="0" i="0">
                <a:solidFill>
                  <a:srgbClr val="0B0B0B"/>
                </a:solidFill>
                <a:latin typeface="Arial"/>
                <a:ea typeface="Arial"/>
                <a:cs typeface="Arial"/>
              </a:defRPr>
            </a:pPr>
            <a:r>
              <a:rPr sz="844" b="0" i="0">
                <a:solidFill>
                  <a:srgbClr val="0B0B0B"/>
                </a:solidFill>
                <a:latin typeface="Arial"/>
                <a:ea typeface="Arial"/>
                <a:cs typeface="Arial"/>
              </a:rPr>
              <a:t>Captura del módulo interno aportada por el equipo. Los estados no acreditan ejecución bancaria automática.</a:t>
            </a:r>
          </a:p>
        </p:txBody>
      </p:sp>
      <p:sp>
        <p:nvSpPr>
          <p:cNvPr id="10" name="text-8-8">
            <a:extLst>
              <a:ext uri="{FF2B5EF4-FFF2-40B4-BE49-F238E27FC236}">
                <a16:creationId xmlns:a16="http://schemas.microsoft.com/office/drawing/2014/main" id="{BC479EE6-2B47-426A-A2DD-44C5B4B5DE8D}"/>
              </a:ext>
            </a:extLst>
          </p:cNvPr>
          <p:cNvSpPr>
            <a:spLocks noGrp="1"/>
          </p:cNvSpPr>
          <p:nvPr/>
        </p:nvSpPr>
        <p:spPr>
          <a:xfrm>
            <a:off x="532209" y="4923697"/>
            <a:ext cx="2065588"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02 / SOLUCIÓN PROPUESTA / OMNI by 5.5</a:t>
            </a:r>
          </a:p>
        </p:txBody>
      </p:sp>
      <p:sp>
        <p:nvSpPr>
          <p:cNvPr id="11" name="text-8-9">
            <a:extLst>
              <a:ext uri="{FF2B5EF4-FFF2-40B4-BE49-F238E27FC236}">
                <a16:creationId xmlns:a16="http://schemas.microsoft.com/office/drawing/2014/main" id="{733B015E-37FC-450A-8C7C-D44C02B97764}"/>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08 / 5.5</a:t>
            </a:r>
          </a:p>
        </p:txBody>
      </p:sp>
    </p:spTree>
    <p:extLst>
      <p:ext uri="{BB962C8B-B14F-4D97-AF65-F5344CB8AC3E}">
        <p14:creationId xmlns:p14="http://schemas.microsoft.com/office/powerpoint/2010/main" val="15489875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A2A72FA7-838F-408D-A671-A80340C32014}"/>
              </a:ext>
            </a:extLst>
          </p:cNvPr>
          <p:cNvPicPr>
            <a:picLocks noChangeAspect="1"/>
          </p:cNvPicPr>
          <p:nvPr/>
        </p:nvPicPr>
        <p:blipFill>
          <a:blip r:embed="rId3"/>
          <a:stretch/>
        </p:blipFill>
        <p:spPr>
          <a:xfrm>
            <a:off x="0" y="0"/>
            <a:ext cx="9324594" cy="5248656"/>
          </a:xfrm>
          <a:prstGeom prst="rect">
            <a:avLst/>
          </a:prstGeom>
        </p:spPr>
      </p:pic>
      <p:sp>
        <p:nvSpPr>
          <p:cNvPr id="2" name="text-9-0">
            <a:extLst>
              <a:ext uri="{FF2B5EF4-FFF2-40B4-BE49-F238E27FC236}">
                <a16:creationId xmlns:a16="http://schemas.microsoft.com/office/drawing/2014/main" id="{94EC30B2-D173-40CD-B676-29E47C853AC0}"/>
              </a:ext>
            </a:extLst>
          </p:cNvPr>
          <p:cNvSpPr>
            <a:spLocks noGrp="1"/>
          </p:cNvSpPr>
          <p:nvPr/>
        </p:nvSpPr>
        <p:spPr>
          <a:xfrm>
            <a:off x="532209" y="382979"/>
            <a:ext cx="2393681"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03 / IMPACTO · MÉTRICAS Y KPIs</a:t>
            </a:r>
          </a:p>
        </p:txBody>
      </p:sp>
      <p:sp>
        <p:nvSpPr>
          <p:cNvPr id="3" name="text-9-1">
            <a:extLst>
              <a:ext uri="{FF2B5EF4-FFF2-40B4-BE49-F238E27FC236}">
                <a16:creationId xmlns:a16="http://schemas.microsoft.com/office/drawing/2014/main" id="{80EEFC54-716B-4891-A8AD-3E9CE8ED3247}"/>
              </a:ext>
            </a:extLst>
          </p:cNvPr>
          <p:cNvSpPr>
            <a:spLocks noGrp="1"/>
          </p:cNvSpPr>
          <p:nvPr/>
        </p:nvSpPr>
        <p:spPr>
          <a:xfrm>
            <a:off x="532209" y="674261"/>
            <a:ext cx="2217024" cy="625078"/>
          </a:xfrm>
          <a:prstGeom prst="rect">
            <a:avLst/>
          </a:prstGeom>
          <a:noFill/>
          <a:ln w="0">
            <a:noFill/>
          </a:ln>
        </p:spPr>
        <p:txBody>
          <a:bodyPr wrap="none" lIns="0" tIns="0" rIns="0" bIns="0" anchor="t">
            <a:noAutofit/>
          </a:bodyPr>
          <a:lstStyle>
            <a:defPPr>
              <a:defRPr sz="3938" b="0" i="0">
                <a:solidFill>
                  <a:srgbClr val="0B0B0B"/>
                </a:solidFill>
                <a:latin typeface="Impact"/>
                <a:ea typeface="Impact"/>
                <a:cs typeface="Impact"/>
              </a:defRPr>
            </a:defPPr>
          </a:lstStyle>
          <a:p>
            <a:pPr>
              <a:defRPr sz="3938" b="0" i="0">
                <a:solidFill>
                  <a:srgbClr val="0B0B0B"/>
                </a:solidFill>
                <a:latin typeface="Impact"/>
                <a:ea typeface="Impact"/>
                <a:cs typeface="Impact"/>
              </a:defRPr>
            </a:pPr>
            <a:r>
              <a:rPr sz="3938" b="0" i="0">
                <a:solidFill>
                  <a:srgbClr val="0B0B0B"/>
                </a:solidFill>
                <a:latin typeface="Impact"/>
                <a:ea typeface="Impact"/>
                <a:cs typeface="Impact"/>
              </a:rPr>
              <a:t>CADA ETAPA</a:t>
            </a:r>
          </a:p>
        </p:txBody>
      </p:sp>
      <p:sp>
        <p:nvSpPr>
          <p:cNvPr id="4" name="text-9-2">
            <a:extLst>
              <a:ext uri="{FF2B5EF4-FFF2-40B4-BE49-F238E27FC236}">
                <a16:creationId xmlns:a16="http://schemas.microsoft.com/office/drawing/2014/main" id="{B54D978B-A603-4B7C-A447-41A1DEFDA210}"/>
              </a:ext>
            </a:extLst>
          </p:cNvPr>
          <p:cNvSpPr>
            <a:spLocks noGrp="1"/>
          </p:cNvSpPr>
          <p:nvPr/>
        </p:nvSpPr>
        <p:spPr>
          <a:xfrm>
            <a:off x="532209" y="1181467"/>
            <a:ext cx="5233296" cy="625078"/>
          </a:xfrm>
          <a:prstGeom prst="rect">
            <a:avLst/>
          </a:prstGeom>
          <a:noFill/>
          <a:ln w="0">
            <a:noFill/>
          </a:ln>
        </p:spPr>
        <p:txBody>
          <a:bodyPr wrap="none" lIns="0" tIns="0" rIns="0" bIns="0" anchor="t">
            <a:noAutofit/>
          </a:bodyPr>
          <a:lstStyle>
            <a:defPPr>
              <a:defRPr sz="3938" b="0" i="0">
                <a:solidFill>
                  <a:srgbClr val="0B0B0B"/>
                </a:solidFill>
                <a:latin typeface="Impact"/>
                <a:ea typeface="Impact"/>
                <a:cs typeface="Impact"/>
              </a:defRPr>
            </a:defPPr>
          </a:lstStyle>
          <a:p>
            <a:pPr>
              <a:defRPr sz="3938" b="0" i="0">
                <a:solidFill>
                  <a:srgbClr val="0B0B0B"/>
                </a:solidFill>
                <a:latin typeface="Impact"/>
                <a:ea typeface="Impact"/>
                <a:cs typeface="Impact"/>
              </a:defRPr>
            </a:pPr>
            <a:r>
              <a:rPr sz="3938" b="0" i="0">
                <a:solidFill>
                  <a:srgbClr val="0B0B0B"/>
                </a:solidFill>
                <a:latin typeface="Impact"/>
                <a:ea typeface="Impact"/>
                <a:cs typeface="Impact"/>
              </a:rPr>
              <a:t>TIENE QUE DEJAR UN NÚMERO</a:t>
            </a:r>
          </a:p>
        </p:txBody>
      </p:sp>
      <p:sp>
        <p:nvSpPr>
          <p:cNvPr id="5" name="text-9-3">
            <a:extLst>
              <a:ext uri="{FF2B5EF4-FFF2-40B4-BE49-F238E27FC236}">
                <a16:creationId xmlns:a16="http://schemas.microsoft.com/office/drawing/2014/main" id="{23BE1D41-5CEA-4C09-ADB8-34E635A89782}"/>
              </a:ext>
            </a:extLst>
          </p:cNvPr>
          <p:cNvSpPr>
            <a:spLocks noGrp="1"/>
          </p:cNvSpPr>
          <p:nvPr/>
        </p:nvSpPr>
        <p:spPr>
          <a:xfrm>
            <a:off x="532209" y="4603582"/>
            <a:ext cx="6405442" cy="133945"/>
          </a:xfrm>
          <a:prstGeom prst="rect">
            <a:avLst/>
          </a:prstGeom>
          <a:noFill/>
          <a:ln w="0">
            <a:noFill/>
          </a:ln>
        </p:spPr>
        <p:txBody>
          <a:bodyPr wrap="none" lIns="0" tIns="0" rIns="0" bIns="0" anchor="t">
            <a:noAutofit/>
          </a:bodyPr>
          <a:lstStyle>
            <a:defPPr>
              <a:defRPr sz="844" b="0" i="0">
                <a:solidFill>
                  <a:srgbClr val="0B0B0B"/>
                </a:solidFill>
                <a:latin typeface="Arial"/>
                <a:ea typeface="Arial"/>
                <a:cs typeface="Arial"/>
              </a:defRPr>
            </a:defPPr>
          </a:lstStyle>
          <a:p>
            <a:pPr>
              <a:defRPr sz="844" b="0" i="0">
                <a:solidFill>
                  <a:srgbClr val="0B0B0B"/>
                </a:solidFill>
                <a:latin typeface="Arial"/>
                <a:ea typeface="Arial"/>
                <a:cs typeface="Arial"/>
              </a:defRPr>
            </a:pPr>
            <a:r>
              <a:rPr sz="844" b="0" i="0">
                <a:solidFill>
                  <a:srgbClr val="0B0B0B"/>
                </a:solidFill>
                <a:latin typeface="Arial"/>
                <a:ea typeface="Arial"/>
                <a:cs typeface="Arial"/>
              </a:rPr>
              <a:t>Base de conversión informada por Brasper. Ahorro de tiempo y reducción de errores: resultados a medir, no porcentajes ya obtenidos.</a:t>
            </a:r>
          </a:p>
        </p:txBody>
      </p:sp>
      <p:sp>
        <p:nvSpPr>
          <p:cNvPr id="6" name="text-9-4">
            <a:extLst>
              <a:ext uri="{FF2B5EF4-FFF2-40B4-BE49-F238E27FC236}">
                <a16:creationId xmlns:a16="http://schemas.microsoft.com/office/drawing/2014/main" id="{66D18548-E35B-4206-A124-972EAB5F3EAE}"/>
              </a:ext>
            </a:extLst>
          </p:cNvPr>
          <p:cNvSpPr>
            <a:spLocks noGrp="1"/>
          </p:cNvSpPr>
          <p:nvPr/>
        </p:nvSpPr>
        <p:spPr>
          <a:xfrm>
            <a:off x="532209" y="4923697"/>
            <a:ext cx="2315837"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03 / IMPACTO · MÉTRICAS Y KPIs / OMNI by 5.5</a:t>
            </a:r>
          </a:p>
        </p:txBody>
      </p:sp>
      <p:sp>
        <p:nvSpPr>
          <p:cNvPr id="7" name="text-9-5">
            <a:extLst>
              <a:ext uri="{FF2B5EF4-FFF2-40B4-BE49-F238E27FC236}">
                <a16:creationId xmlns:a16="http://schemas.microsoft.com/office/drawing/2014/main" id="{568C2471-6F14-4B72-8E3F-81F8F737B15D}"/>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09 / 5.5</a:t>
            </a:r>
          </a:p>
        </p:txBody>
      </p:sp>
      <p:graphicFrame>
        <p:nvGraphicFramePr>
          <p:cNvPr id="8" name="Tabla 7">
            <a:extLst>
              <a:ext uri="{FF2B5EF4-FFF2-40B4-BE49-F238E27FC236}">
                <a16:creationId xmlns:a16="http://schemas.microsoft.com/office/drawing/2014/main" id="{3F42A487-6E25-4F71-91F1-B34984596841}"/>
              </a:ext>
            </a:extLst>
          </p:cNvPr>
          <p:cNvGraphicFramePr/>
          <p:nvPr/>
        </p:nvGraphicFramePr>
        <p:xfrm>
          <a:off x="532209" y="1963778"/>
          <a:ext cx="8261748" cy="2443885"/>
        </p:xfrm>
        <a:graphic>
          <a:graphicData uri="http://schemas.openxmlformats.org/drawingml/2006/table">
            <a:tbl>
              <a:tblPr/>
              <a:tblGrid>
                <a:gridCol w="1759744">
                  <a:extLst>
                    <a:ext uri="{9D8B030D-6E8A-4147-A177-3AD203B41FA5}">
                      <a16:colId xmlns:a16="http://schemas.microsoft.com/office/drawing/2014/main" val="20000"/>
                    </a:ext>
                  </a:extLst>
                </a:gridCol>
                <a:gridCol w="2357438">
                  <a:extLst>
                    <a:ext uri="{9D8B030D-6E8A-4147-A177-3AD203B41FA5}">
                      <a16:colId xmlns:a16="http://schemas.microsoft.com/office/drawing/2014/main" val="20001"/>
                    </a:ext>
                  </a:extLst>
                </a:gridCol>
                <a:gridCol w="4144566">
                  <a:extLst>
                    <a:ext uri="{9D8B030D-6E8A-4147-A177-3AD203B41FA5}">
                      <a16:colId xmlns:a16="http://schemas.microsoft.com/office/drawing/2014/main" val="20002"/>
                    </a:ext>
                  </a:extLst>
                </a:gridCol>
              </a:tblGrid>
              <a:tr h="488777">
                <a:tc>
                  <a:txBody>
                    <a:bodyPr/>
                    <a:lstStyle/>
                    <a:p>
                      <a:r>
                        <a:rPr sz="1050" b="1">
                          <a:solidFill>
                            <a:srgbClr val="FFFFFF"/>
                          </a:solidFill>
                          <a:latin typeface="Arial"/>
                          <a:ea typeface="Arial"/>
                          <a:cs typeface="Arial"/>
                        </a:rPr>
                        <a:t>KPI</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Punto de partida</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Qué mediremos en el piloto</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extLst>
                  <a:ext uri="{0D108BD9-81ED-4DB2-BD59-A6C34878D82A}">
                    <a16:rowId xmlns:a16="http://schemas.microsoft.com/office/drawing/2014/main" val="10000"/>
                  </a:ext>
                </a:extLst>
              </a:tr>
              <a:tr h="488777">
                <a:tc>
                  <a:txBody>
                    <a:bodyPr/>
                    <a:lstStyle/>
                    <a:p>
                      <a:r>
                        <a:rPr sz="1050">
                          <a:solidFill>
                            <a:srgbClr val="0B0B0B"/>
                          </a:solidFill>
                          <a:latin typeface="Arial"/>
                          <a:ea typeface="Arial"/>
                          <a:cs typeface="Arial"/>
                        </a:rPr>
                        <a:t>Conversión</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51,1% de chats</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Transferencias / chats comparables</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1"/>
                  </a:ext>
                </a:extLst>
              </a:tr>
              <a:tr h="488777">
                <a:tc>
                  <a:txBody>
                    <a:bodyPr/>
                    <a:lstStyle/>
                    <a:p>
                      <a:r>
                        <a:rPr sz="1050">
                          <a:solidFill>
                            <a:srgbClr val="0B0B0B"/>
                          </a:solidFill>
                          <a:latin typeface="Arial"/>
                          <a:ea typeface="Arial"/>
                          <a:cs typeface="Arial"/>
                        </a:rPr>
                        <a:t>Tiempo por operación</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Sin medición de cierre</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Registro, validación y envío</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2"/>
                  </a:ext>
                </a:extLst>
              </a:tr>
              <a:tr h="488777">
                <a:tc>
                  <a:txBody>
                    <a:bodyPr/>
                    <a:lstStyle/>
                    <a:p>
                      <a:r>
                        <a:rPr sz="1050">
                          <a:solidFill>
                            <a:srgbClr val="0B0B0B"/>
                          </a:solidFill>
                          <a:latin typeface="Arial"/>
                          <a:ea typeface="Arial"/>
                          <a:cs typeface="Arial"/>
                        </a:rPr>
                        <a:t>Errores y retrabajo</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Línea base pendiente</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Correcciones / operaciones</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3"/>
                  </a:ext>
                </a:extLst>
              </a:tr>
              <a:tr h="488777">
                <a:tc>
                  <a:txBody>
                    <a:bodyPr/>
                    <a:lstStyle/>
                    <a:p>
                      <a:r>
                        <a:rPr sz="1050">
                          <a:solidFill>
                            <a:srgbClr val="0B0B0B"/>
                          </a:solidFill>
                          <a:latin typeface="Arial"/>
                          <a:ea typeface="Arial"/>
                          <a:cs typeface="Arial"/>
                        </a:rPr>
                        <a:t>Productividad</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Plantilla: 6 ventas + 3 contabilidad</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Operaciones / hora de equipo</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15530593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0C4E89B0-A5A1-4788-8ADE-58E3D80940F6}"/>
              </a:ext>
            </a:extLst>
          </p:cNvPr>
          <p:cNvPicPr>
            <a:picLocks noChangeAspect="1"/>
          </p:cNvPicPr>
          <p:nvPr/>
        </p:nvPicPr>
        <p:blipFill>
          <a:blip r:embed="rId3"/>
          <a:stretch/>
        </p:blipFill>
        <p:spPr>
          <a:xfrm>
            <a:off x="0" y="0"/>
            <a:ext cx="9324594" cy="5248656"/>
          </a:xfrm>
          <a:prstGeom prst="rect">
            <a:avLst/>
          </a:prstGeom>
        </p:spPr>
      </p:pic>
      <p:sp>
        <p:nvSpPr>
          <p:cNvPr id="2" name="text-10-0">
            <a:extLst>
              <a:ext uri="{FF2B5EF4-FFF2-40B4-BE49-F238E27FC236}">
                <a16:creationId xmlns:a16="http://schemas.microsoft.com/office/drawing/2014/main" id="{F68731AD-C0C0-46D9-A027-6784DBBC1497}"/>
              </a:ext>
            </a:extLst>
          </p:cNvPr>
          <p:cNvSpPr>
            <a:spLocks noGrp="1"/>
          </p:cNvSpPr>
          <p:nvPr/>
        </p:nvSpPr>
        <p:spPr>
          <a:xfrm>
            <a:off x="532209" y="382979"/>
            <a:ext cx="2927353"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03 / IMPACTO · GANANCIA PROYECTADA</a:t>
            </a:r>
          </a:p>
        </p:txBody>
      </p:sp>
      <p:sp>
        <p:nvSpPr>
          <p:cNvPr id="3" name="text-10-1">
            <a:extLst>
              <a:ext uri="{FF2B5EF4-FFF2-40B4-BE49-F238E27FC236}">
                <a16:creationId xmlns:a16="http://schemas.microsoft.com/office/drawing/2014/main" id="{5F153C58-044E-46FE-8612-8D92EE35C3DA}"/>
              </a:ext>
            </a:extLst>
          </p:cNvPr>
          <p:cNvSpPr>
            <a:spLocks noGrp="1"/>
          </p:cNvSpPr>
          <p:nvPr/>
        </p:nvSpPr>
        <p:spPr>
          <a:xfrm>
            <a:off x="532209" y="673884"/>
            <a:ext cx="4158752" cy="678656"/>
          </a:xfrm>
          <a:prstGeom prst="rect">
            <a:avLst/>
          </a:prstGeom>
          <a:noFill/>
          <a:ln w="0">
            <a:noFill/>
          </a:ln>
        </p:spPr>
        <p:txBody>
          <a:bodyPr wrap="none" lIns="0" tIns="0" rIns="0" bIns="0" anchor="t">
            <a:noAutofit/>
          </a:bodyPr>
          <a:lstStyle>
            <a:defPPr>
              <a:defRPr sz="4275" b="0" i="0">
                <a:solidFill>
                  <a:srgbClr val="F5F0E8"/>
                </a:solidFill>
                <a:latin typeface="Impact"/>
                <a:ea typeface="Impact"/>
                <a:cs typeface="Impact"/>
              </a:defRPr>
            </a:defPPr>
          </a:lstStyle>
          <a:p>
            <a:pPr>
              <a:defRPr sz="4275" b="0" i="0">
                <a:solidFill>
                  <a:srgbClr val="F5F0E8"/>
                </a:solidFill>
                <a:latin typeface="Impact"/>
                <a:ea typeface="Impact"/>
                <a:cs typeface="Impact"/>
              </a:defRPr>
            </a:pPr>
            <a:r>
              <a:rPr sz="4275" b="0" i="0">
                <a:solidFill>
                  <a:srgbClr val="F5F0E8"/>
                </a:solidFill>
                <a:latin typeface="Impact"/>
                <a:ea typeface="Impact"/>
                <a:cs typeface="Impact"/>
              </a:rPr>
              <a:t>TU PRÓXIMO CLIENTE</a:t>
            </a:r>
          </a:p>
        </p:txBody>
      </p:sp>
      <p:sp>
        <p:nvSpPr>
          <p:cNvPr id="4" name="text-10-2">
            <a:extLst>
              <a:ext uri="{FF2B5EF4-FFF2-40B4-BE49-F238E27FC236}">
                <a16:creationId xmlns:a16="http://schemas.microsoft.com/office/drawing/2014/main" id="{3D78E207-C6B7-4E5C-87B7-533128647E2F}"/>
              </a:ext>
            </a:extLst>
          </p:cNvPr>
          <p:cNvSpPr>
            <a:spLocks noGrp="1"/>
          </p:cNvSpPr>
          <p:nvPr/>
        </p:nvSpPr>
        <p:spPr>
          <a:xfrm>
            <a:off x="532209" y="1231097"/>
            <a:ext cx="4325610" cy="678656"/>
          </a:xfrm>
          <a:prstGeom prst="rect">
            <a:avLst/>
          </a:prstGeom>
          <a:noFill/>
          <a:ln w="0">
            <a:noFill/>
          </a:ln>
        </p:spPr>
        <p:txBody>
          <a:bodyPr wrap="none" lIns="0" tIns="0" rIns="0" bIns="0" anchor="t">
            <a:noAutofit/>
          </a:bodyPr>
          <a:lstStyle>
            <a:defPPr>
              <a:defRPr sz="4275" b="0" i="0">
                <a:solidFill>
                  <a:srgbClr val="F5F0E8"/>
                </a:solidFill>
                <a:latin typeface="Impact"/>
                <a:ea typeface="Impact"/>
                <a:cs typeface="Impact"/>
              </a:defRPr>
            </a:defPPr>
          </a:lstStyle>
          <a:p>
            <a:pPr>
              <a:defRPr sz="4275" b="0" i="0">
                <a:solidFill>
                  <a:srgbClr val="F5F0E8"/>
                </a:solidFill>
                <a:latin typeface="Impact"/>
                <a:ea typeface="Impact"/>
                <a:cs typeface="Impact"/>
              </a:defRPr>
            </a:pPr>
            <a:r>
              <a:rPr sz="4275" b="0" i="0">
                <a:solidFill>
                  <a:srgbClr val="F5F0E8"/>
                </a:solidFill>
                <a:latin typeface="Impact"/>
                <a:ea typeface="Impact"/>
                <a:cs typeface="Impact"/>
              </a:rPr>
              <a:t>NO ESPERA A MAÑANA</a:t>
            </a:r>
          </a:p>
        </p:txBody>
      </p:sp>
      <p:sp>
        <p:nvSpPr>
          <p:cNvPr id="5" name="text-10-3">
            <a:extLst>
              <a:ext uri="{FF2B5EF4-FFF2-40B4-BE49-F238E27FC236}">
                <a16:creationId xmlns:a16="http://schemas.microsoft.com/office/drawing/2014/main" id="{934B305E-5A02-4753-91A8-539D37C55CA5}"/>
              </a:ext>
            </a:extLst>
          </p:cNvPr>
          <p:cNvSpPr>
            <a:spLocks noGrp="1"/>
          </p:cNvSpPr>
          <p:nvPr/>
        </p:nvSpPr>
        <p:spPr>
          <a:xfrm>
            <a:off x="532209" y="1911309"/>
            <a:ext cx="2016042" cy="1473398"/>
          </a:xfrm>
          <a:prstGeom prst="rect">
            <a:avLst/>
          </a:prstGeom>
          <a:noFill/>
          <a:ln w="0">
            <a:noFill/>
          </a:ln>
        </p:spPr>
        <p:txBody>
          <a:bodyPr wrap="none" lIns="0" tIns="0" rIns="0" bIns="0" anchor="t">
            <a:noAutofit/>
          </a:bodyPr>
          <a:lstStyle>
            <a:defPPr>
              <a:defRPr sz="9281" b="0" i="0">
                <a:solidFill>
                  <a:srgbClr val="F5F0E8"/>
                </a:solidFill>
                <a:latin typeface="Impact"/>
                <a:ea typeface="Impact"/>
                <a:cs typeface="Impact"/>
              </a:defRPr>
            </a:defPPr>
          </a:lstStyle>
          <a:p>
            <a:pPr>
              <a:defRPr sz="9281" b="0" i="0">
                <a:solidFill>
                  <a:srgbClr val="F5F0E8"/>
                </a:solidFill>
                <a:latin typeface="Impact"/>
                <a:ea typeface="Impact"/>
                <a:cs typeface="Impact"/>
              </a:defRPr>
            </a:pPr>
            <a:r>
              <a:rPr sz="9281" b="0" i="0">
                <a:solidFill>
                  <a:srgbClr val="F5F0E8"/>
                </a:solidFill>
                <a:latin typeface="Impact"/>
                <a:ea typeface="Impact"/>
                <a:cs typeface="Impact"/>
              </a:rPr>
              <a:t>24/7</a:t>
            </a:r>
          </a:p>
        </p:txBody>
      </p:sp>
      <p:sp>
        <p:nvSpPr>
          <p:cNvPr id="6" name="text-10-4">
            <a:extLst>
              <a:ext uri="{FF2B5EF4-FFF2-40B4-BE49-F238E27FC236}">
                <a16:creationId xmlns:a16="http://schemas.microsoft.com/office/drawing/2014/main" id="{A6EFF28F-BA51-4DC6-98FA-9E55E9119C03}"/>
              </a:ext>
            </a:extLst>
          </p:cNvPr>
          <p:cNvSpPr>
            <a:spLocks noGrp="1"/>
          </p:cNvSpPr>
          <p:nvPr/>
        </p:nvSpPr>
        <p:spPr>
          <a:xfrm>
            <a:off x="2866876" y="2226366"/>
            <a:ext cx="2950663" cy="250031"/>
          </a:xfrm>
          <a:prstGeom prst="rect">
            <a:avLst/>
          </a:prstGeom>
          <a:noFill/>
          <a:ln w="0">
            <a:noFill/>
          </a:ln>
        </p:spPr>
        <p:txBody>
          <a:bodyPr wrap="none" lIns="0" tIns="0" rIns="0" bIns="0" anchor="t">
            <a:noAutofit/>
          </a:bodyPr>
          <a:lstStyle>
            <a:defPPr>
              <a:defRPr sz="1575" b="0" i="0">
                <a:solidFill>
                  <a:srgbClr val="F5F0E8"/>
                </a:solidFill>
                <a:latin typeface="Arial"/>
                <a:ea typeface="Arial"/>
                <a:cs typeface="Arial"/>
              </a:defRPr>
            </a:defPPr>
          </a:lstStyle>
          <a:p>
            <a:pPr>
              <a:defRPr sz="1575" b="0" i="0">
                <a:solidFill>
                  <a:srgbClr val="F5F0E8"/>
                </a:solidFill>
                <a:latin typeface="Arial"/>
                <a:ea typeface="Arial"/>
                <a:cs typeface="Arial"/>
              </a:defRPr>
            </a:pPr>
            <a:r>
              <a:rPr sz="1575" b="0" i="0">
                <a:solidFill>
                  <a:srgbClr val="F5F0E8"/>
                </a:solidFill>
                <a:latin typeface="Arial"/>
                <a:ea typeface="Arial"/>
                <a:cs typeface="Arial"/>
              </a:rPr>
              <a:t>para recibir intención de compra.</a:t>
            </a:r>
          </a:p>
        </p:txBody>
      </p:sp>
      <p:sp>
        <p:nvSpPr>
          <p:cNvPr id="7" name="text-10-5">
            <a:extLst>
              <a:ext uri="{FF2B5EF4-FFF2-40B4-BE49-F238E27FC236}">
                <a16:creationId xmlns:a16="http://schemas.microsoft.com/office/drawing/2014/main" id="{7A7183D6-0F36-414A-A7B0-BF0BECD4D929}"/>
              </a:ext>
            </a:extLst>
          </p:cNvPr>
          <p:cNvSpPr>
            <a:spLocks noGrp="1"/>
          </p:cNvSpPr>
          <p:nvPr/>
        </p:nvSpPr>
        <p:spPr>
          <a:xfrm>
            <a:off x="2866876" y="2519260"/>
            <a:ext cx="3451326" cy="250031"/>
          </a:xfrm>
          <a:prstGeom prst="rect">
            <a:avLst/>
          </a:prstGeom>
          <a:noFill/>
          <a:ln w="0">
            <a:noFill/>
          </a:ln>
        </p:spPr>
        <p:txBody>
          <a:bodyPr wrap="none" lIns="0" tIns="0" rIns="0" bIns="0" anchor="t">
            <a:noAutofit/>
          </a:bodyPr>
          <a:lstStyle>
            <a:defPPr>
              <a:defRPr sz="1575" b="0" i="0">
                <a:solidFill>
                  <a:srgbClr val="F5F0E8"/>
                </a:solidFill>
                <a:latin typeface="Arial"/>
                <a:ea typeface="Arial"/>
                <a:cs typeface="Arial"/>
              </a:defRPr>
            </a:defPPr>
          </a:lstStyle>
          <a:p>
            <a:pPr>
              <a:defRPr sz="1575" b="0" i="0">
                <a:solidFill>
                  <a:srgbClr val="F5F0E8"/>
                </a:solidFill>
                <a:latin typeface="Arial"/>
                <a:ea typeface="Arial"/>
                <a:cs typeface="Arial"/>
              </a:defRPr>
            </a:pPr>
            <a:r>
              <a:rPr sz="1575" b="0" i="0">
                <a:solidFill>
                  <a:srgbClr val="F5F0E8"/>
                </a:solidFill>
                <a:latin typeface="Arial"/>
                <a:ea typeface="Arial"/>
                <a:cs typeface="Arial"/>
              </a:rPr>
              <a:t>Más canales y una experiencia que da</a:t>
            </a:r>
          </a:p>
        </p:txBody>
      </p:sp>
      <p:sp>
        <p:nvSpPr>
          <p:cNvPr id="8" name="text-10-6">
            <a:extLst>
              <a:ext uri="{FF2B5EF4-FFF2-40B4-BE49-F238E27FC236}">
                <a16:creationId xmlns:a16="http://schemas.microsoft.com/office/drawing/2014/main" id="{24E3A4CF-C4CD-4FC0-9EB4-6F341822CF2F}"/>
              </a:ext>
            </a:extLst>
          </p:cNvPr>
          <p:cNvSpPr>
            <a:spLocks noGrp="1"/>
          </p:cNvSpPr>
          <p:nvPr/>
        </p:nvSpPr>
        <p:spPr>
          <a:xfrm>
            <a:off x="2866876" y="2812154"/>
            <a:ext cx="793995" cy="250031"/>
          </a:xfrm>
          <a:prstGeom prst="rect">
            <a:avLst/>
          </a:prstGeom>
          <a:noFill/>
          <a:ln w="0">
            <a:noFill/>
          </a:ln>
        </p:spPr>
        <p:txBody>
          <a:bodyPr wrap="none" lIns="0" tIns="0" rIns="0" bIns="0" anchor="t">
            <a:noAutofit/>
          </a:bodyPr>
          <a:lstStyle>
            <a:defPPr>
              <a:defRPr sz="1575" b="0" i="0">
                <a:solidFill>
                  <a:srgbClr val="F5F0E8"/>
                </a:solidFill>
                <a:latin typeface="Arial"/>
                <a:ea typeface="Arial"/>
                <a:cs typeface="Arial"/>
              </a:defRPr>
            </a:defPPr>
          </a:lstStyle>
          <a:p>
            <a:pPr>
              <a:defRPr sz="1575" b="0" i="0">
                <a:solidFill>
                  <a:srgbClr val="F5F0E8"/>
                </a:solidFill>
                <a:latin typeface="Arial"/>
                <a:ea typeface="Arial"/>
                <a:cs typeface="Arial"/>
              </a:defRPr>
            </a:pPr>
            <a:r>
              <a:rPr sz="1575" b="0" i="0">
                <a:solidFill>
                  <a:srgbClr val="F5F0E8"/>
                </a:solidFill>
                <a:latin typeface="Arial"/>
                <a:ea typeface="Arial"/>
                <a:cs typeface="Arial"/>
              </a:rPr>
              <a:t>claridad.</a:t>
            </a:r>
          </a:p>
        </p:txBody>
      </p:sp>
      <p:sp>
        <p:nvSpPr>
          <p:cNvPr id="9" name="text-10-7">
            <a:extLst>
              <a:ext uri="{FF2B5EF4-FFF2-40B4-BE49-F238E27FC236}">
                <a16:creationId xmlns:a16="http://schemas.microsoft.com/office/drawing/2014/main" id="{9ABD4E06-D531-45A5-B916-FEF4DECFB229}"/>
              </a:ext>
            </a:extLst>
          </p:cNvPr>
          <p:cNvSpPr>
            <a:spLocks noGrp="1"/>
          </p:cNvSpPr>
          <p:nvPr/>
        </p:nvSpPr>
        <p:spPr>
          <a:xfrm>
            <a:off x="532209" y="3496419"/>
            <a:ext cx="266700" cy="571500"/>
          </a:xfrm>
          <a:prstGeom prst="rect">
            <a:avLst/>
          </a:prstGeom>
          <a:noFill/>
          <a:ln w="0">
            <a:noFill/>
          </a:ln>
        </p:spPr>
        <p:txBody>
          <a:bodyPr wrap="none" lIns="0" tIns="0" rIns="0" bIns="0" anchor="t">
            <a:noAutofit/>
          </a:bodyPr>
          <a:lstStyle>
            <a:defPPr>
              <a:defRPr sz="3600" b="0" i="0">
                <a:solidFill>
                  <a:srgbClr val="F5F0E8"/>
                </a:solidFill>
                <a:latin typeface="Impact"/>
                <a:ea typeface="Impact"/>
                <a:cs typeface="Impact"/>
              </a:defRPr>
            </a:defPPr>
          </a:lstStyle>
          <a:p>
            <a:pPr>
              <a:defRPr sz="3600" b="0" i="0">
                <a:solidFill>
                  <a:srgbClr val="F5F0E8"/>
                </a:solidFill>
                <a:latin typeface="Impact"/>
                <a:ea typeface="Impact"/>
                <a:cs typeface="Impact"/>
              </a:defRPr>
            </a:pPr>
            <a:r>
              <a:rPr sz="3600" b="0" i="0">
                <a:solidFill>
                  <a:srgbClr val="F5F0E8"/>
                </a:solidFill>
                <a:latin typeface="Impact"/>
                <a:ea typeface="Impact"/>
                <a:cs typeface="Impact"/>
              </a:rPr>
              <a:t>4</a:t>
            </a:r>
          </a:p>
        </p:txBody>
      </p:sp>
      <p:sp>
        <p:nvSpPr>
          <p:cNvPr id="10" name="text-10-8">
            <a:extLst>
              <a:ext uri="{FF2B5EF4-FFF2-40B4-BE49-F238E27FC236}">
                <a16:creationId xmlns:a16="http://schemas.microsoft.com/office/drawing/2014/main" id="{3FE2BF96-F595-4E0A-B300-10622580F3AC}"/>
              </a:ext>
            </a:extLst>
          </p:cNvPr>
          <p:cNvSpPr>
            <a:spLocks noGrp="1"/>
          </p:cNvSpPr>
          <p:nvPr/>
        </p:nvSpPr>
        <p:spPr>
          <a:xfrm>
            <a:off x="532209" y="4073214"/>
            <a:ext cx="3061006"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puntos de acceso: WhatsApp, web, iOS y</a:t>
            </a:r>
          </a:p>
        </p:txBody>
      </p:sp>
      <p:sp>
        <p:nvSpPr>
          <p:cNvPr id="11" name="text-10-9">
            <a:extLst>
              <a:ext uri="{FF2B5EF4-FFF2-40B4-BE49-F238E27FC236}">
                <a16:creationId xmlns:a16="http://schemas.microsoft.com/office/drawing/2014/main" id="{E6301F8D-3F42-4C4A-8B53-6AB1CD458B92}"/>
              </a:ext>
            </a:extLst>
          </p:cNvPr>
          <p:cNvSpPr>
            <a:spLocks noGrp="1"/>
          </p:cNvSpPr>
          <p:nvPr/>
        </p:nvSpPr>
        <p:spPr>
          <a:xfrm>
            <a:off x="532209" y="4237520"/>
            <a:ext cx="604299"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Android</a:t>
            </a:r>
          </a:p>
        </p:txBody>
      </p:sp>
      <p:sp>
        <p:nvSpPr>
          <p:cNvPr id="12" name="text-10-10">
            <a:extLst>
              <a:ext uri="{FF2B5EF4-FFF2-40B4-BE49-F238E27FC236}">
                <a16:creationId xmlns:a16="http://schemas.microsoft.com/office/drawing/2014/main" id="{9337761F-460B-4904-A2B7-35E7117EFFDD}"/>
              </a:ext>
            </a:extLst>
          </p:cNvPr>
          <p:cNvSpPr>
            <a:spLocks noGrp="1"/>
          </p:cNvSpPr>
          <p:nvPr/>
        </p:nvSpPr>
        <p:spPr>
          <a:xfrm>
            <a:off x="4768453" y="3496419"/>
            <a:ext cx="1349244" cy="571500"/>
          </a:xfrm>
          <a:prstGeom prst="rect">
            <a:avLst/>
          </a:prstGeom>
          <a:noFill/>
          <a:ln w="0">
            <a:noFill/>
          </a:ln>
        </p:spPr>
        <p:txBody>
          <a:bodyPr wrap="none" lIns="0" tIns="0" rIns="0" bIns="0" anchor="t">
            <a:noAutofit/>
          </a:bodyPr>
          <a:lstStyle>
            <a:defPPr>
              <a:defRPr sz="3600" b="0" i="0">
                <a:solidFill>
                  <a:srgbClr val="F5F0E8"/>
                </a:solidFill>
                <a:latin typeface="Impact"/>
                <a:ea typeface="Impact"/>
                <a:cs typeface="Impact"/>
              </a:defRPr>
            </a:defPPr>
          </a:lstStyle>
          <a:p>
            <a:pPr>
              <a:defRPr sz="3600" b="0" i="0">
                <a:solidFill>
                  <a:srgbClr val="F5F0E8"/>
                </a:solidFill>
                <a:latin typeface="Impact"/>
                <a:ea typeface="Impact"/>
                <a:cs typeface="Impact"/>
              </a:defRPr>
            </a:pPr>
            <a:r>
              <a:rPr sz="3600" b="0" i="0">
                <a:solidFill>
                  <a:srgbClr val="F5F0E8"/>
                </a:solidFill>
                <a:latin typeface="Impact"/>
                <a:ea typeface="Impact"/>
                <a:cs typeface="Impact"/>
              </a:rPr>
              <a:t>64 / día</a:t>
            </a:r>
          </a:p>
        </p:txBody>
      </p:sp>
      <p:sp>
        <p:nvSpPr>
          <p:cNvPr id="13" name="text-10-11">
            <a:extLst>
              <a:ext uri="{FF2B5EF4-FFF2-40B4-BE49-F238E27FC236}">
                <a16:creationId xmlns:a16="http://schemas.microsoft.com/office/drawing/2014/main" id="{F2D134E5-45B8-4A0C-AF5D-335563884161}"/>
              </a:ext>
            </a:extLst>
          </p:cNvPr>
          <p:cNvSpPr>
            <a:spLocks noGrp="1"/>
          </p:cNvSpPr>
          <p:nvPr/>
        </p:nvSpPr>
        <p:spPr>
          <a:xfrm>
            <a:off x="4768453" y="4073214"/>
            <a:ext cx="3060679"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cotizaciones para investigar y acompañar</a:t>
            </a:r>
          </a:p>
        </p:txBody>
      </p:sp>
      <p:sp>
        <p:nvSpPr>
          <p:cNvPr id="14" name="text-10-12">
            <a:extLst>
              <a:ext uri="{FF2B5EF4-FFF2-40B4-BE49-F238E27FC236}">
                <a16:creationId xmlns:a16="http://schemas.microsoft.com/office/drawing/2014/main" id="{D9312B38-4168-4AB9-8030-630DDFD31A60}"/>
              </a:ext>
            </a:extLst>
          </p:cNvPr>
          <p:cNvSpPr>
            <a:spLocks noGrp="1"/>
          </p:cNvSpPr>
          <p:nvPr/>
        </p:nvSpPr>
        <p:spPr>
          <a:xfrm>
            <a:off x="532209" y="4603582"/>
            <a:ext cx="6547525" cy="133945"/>
          </a:xfrm>
          <a:prstGeom prst="rect">
            <a:avLst/>
          </a:prstGeom>
          <a:noFill/>
          <a:ln w="0">
            <a:noFill/>
          </a:ln>
        </p:spPr>
        <p:txBody>
          <a:bodyPr wrap="none" lIns="0" tIns="0" rIns="0" bIns="0" anchor="t">
            <a:noAutofit/>
          </a:bodyPr>
          <a:lstStyle>
            <a:defPPr>
              <a:defRPr sz="844" b="0" i="0">
                <a:solidFill>
                  <a:srgbClr val="F5F0E8"/>
                </a:solidFill>
                <a:latin typeface="Arial"/>
                <a:ea typeface="Arial"/>
                <a:cs typeface="Arial"/>
              </a:defRPr>
            </a:defPPr>
          </a:lstStyle>
          <a:p>
            <a:pPr>
              <a:defRPr sz="844" b="0" i="0">
                <a:solidFill>
                  <a:srgbClr val="F5F0E8"/>
                </a:solidFill>
                <a:latin typeface="Arial"/>
                <a:ea typeface="Arial"/>
                <a:cs typeface="Arial"/>
              </a:defRPr>
            </a:pPr>
            <a:r>
              <a:rPr sz="844" b="0" i="0">
                <a:solidFill>
                  <a:srgbClr val="F5F0E8"/>
                </a:solidFill>
                <a:latin typeface="Arial"/>
                <a:ea typeface="Arial"/>
                <a:cs typeface="Arial"/>
              </a:rPr>
              <a:t>Potencial por medir: nueva demanda, conversión y seguimiento. Registrar motivos y contactos autorizados; revisión humana con horario.</a:t>
            </a:r>
          </a:p>
        </p:txBody>
      </p:sp>
      <p:sp>
        <p:nvSpPr>
          <p:cNvPr id="15" name="text-10-13">
            <a:extLst>
              <a:ext uri="{FF2B5EF4-FFF2-40B4-BE49-F238E27FC236}">
                <a16:creationId xmlns:a16="http://schemas.microsoft.com/office/drawing/2014/main" id="{9C33148C-8FB9-486A-82D0-73C22D1392E4}"/>
              </a:ext>
            </a:extLst>
          </p:cNvPr>
          <p:cNvSpPr>
            <a:spLocks noGrp="1"/>
          </p:cNvSpPr>
          <p:nvPr/>
        </p:nvSpPr>
        <p:spPr>
          <a:xfrm>
            <a:off x="532209" y="4923697"/>
            <a:ext cx="2693937"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03 / IMPACTO · GANANCIA PROYECTADA / OMNI by 5.5</a:t>
            </a:r>
          </a:p>
        </p:txBody>
      </p:sp>
      <p:sp>
        <p:nvSpPr>
          <p:cNvPr id="16" name="text-10-14">
            <a:extLst>
              <a:ext uri="{FF2B5EF4-FFF2-40B4-BE49-F238E27FC236}">
                <a16:creationId xmlns:a16="http://schemas.microsoft.com/office/drawing/2014/main" id="{FC2236A7-4A48-4F57-9419-49758EE57CB9}"/>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10 / 5.5</a:t>
            </a:r>
          </a:p>
        </p:txBody>
      </p:sp>
    </p:spTree>
    <p:extLst>
      <p:ext uri="{BB962C8B-B14F-4D97-AF65-F5344CB8AC3E}">
        <p14:creationId xmlns:p14="http://schemas.microsoft.com/office/powerpoint/2010/main" val="12903485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Imagen 17">
            <a:extLst>
              <a:ext uri="{FF2B5EF4-FFF2-40B4-BE49-F238E27FC236}">
                <a16:creationId xmlns:a16="http://schemas.microsoft.com/office/drawing/2014/main" id="{61F37E9D-CDDE-47D1-AF57-B391F8F5A229}"/>
              </a:ext>
            </a:extLst>
          </p:cNvPr>
          <p:cNvPicPr>
            <a:picLocks noChangeAspect="1"/>
          </p:cNvPicPr>
          <p:nvPr/>
        </p:nvPicPr>
        <p:blipFill>
          <a:blip r:embed="rId3"/>
          <a:stretch/>
        </p:blipFill>
        <p:spPr>
          <a:xfrm>
            <a:off x="0" y="0"/>
            <a:ext cx="9324594" cy="5248656"/>
          </a:xfrm>
          <a:prstGeom prst="rect">
            <a:avLst/>
          </a:prstGeom>
        </p:spPr>
      </p:pic>
      <p:sp>
        <p:nvSpPr>
          <p:cNvPr id="2" name="text-11-0">
            <a:extLst>
              <a:ext uri="{FF2B5EF4-FFF2-40B4-BE49-F238E27FC236}">
                <a16:creationId xmlns:a16="http://schemas.microsoft.com/office/drawing/2014/main" id="{621B0016-15DB-40F8-ADC7-9A0431D9678B}"/>
              </a:ext>
            </a:extLst>
          </p:cNvPr>
          <p:cNvSpPr>
            <a:spLocks noGrp="1"/>
          </p:cNvSpPr>
          <p:nvPr/>
        </p:nvSpPr>
        <p:spPr>
          <a:xfrm>
            <a:off x="532209" y="382979"/>
            <a:ext cx="2846411"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03 / IMPACTO · CAPACIDAD OPERATIVA</a:t>
            </a:r>
          </a:p>
        </p:txBody>
      </p:sp>
      <p:sp>
        <p:nvSpPr>
          <p:cNvPr id="3" name="text-11-1">
            <a:extLst>
              <a:ext uri="{FF2B5EF4-FFF2-40B4-BE49-F238E27FC236}">
                <a16:creationId xmlns:a16="http://schemas.microsoft.com/office/drawing/2014/main" id="{342A7342-8CA3-4043-9BCD-F83E1CA804D4}"/>
              </a:ext>
            </a:extLst>
          </p:cNvPr>
          <p:cNvSpPr>
            <a:spLocks noGrp="1"/>
          </p:cNvSpPr>
          <p:nvPr/>
        </p:nvSpPr>
        <p:spPr>
          <a:xfrm>
            <a:off x="532209" y="611335"/>
            <a:ext cx="4588808" cy="1446609"/>
          </a:xfrm>
          <a:prstGeom prst="rect">
            <a:avLst/>
          </a:prstGeom>
          <a:noFill/>
          <a:ln w="0">
            <a:noFill/>
          </a:ln>
        </p:spPr>
        <p:txBody>
          <a:bodyPr wrap="none" lIns="0" tIns="0" rIns="0" bIns="0" anchor="t">
            <a:noAutofit/>
          </a:bodyPr>
          <a:lstStyle>
            <a:defPPr>
              <a:defRPr sz="9113" b="0" i="0">
                <a:solidFill>
                  <a:srgbClr val="F5F0E8"/>
                </a:solidFill>
                <a:latin typeface="Impact"/>
                <a:ea typeface="Impact"/>
                <a:cs typeface="Impact"/>
              </a:defRPr>
            </a:defPPr>
          </a:lstStyle>
          <a:p>
            <a:pPr>
              <a:defRPr sz="9113" b="0" i="0">
                <a:solidFill>
                  <a:srgbClr val="F5F0E8"/>
                </a:solidFill>
                <a:latin typeface="Impact"/>
                <a:ea typeface="Impact"/>
                <a:cs typeface="Impact"/>
              </a:defRPr>
            </a:pPr>
            <a:r>
              <a:rPr sz="9113" b="0" i="0">
                <a:solidFill>
                  <a:srgbClr val="F5F0E8"/>
                </a:solidFill>
                <a:latin typeface="Impact"/>
                <a:ea typeface="Impact"/>
                <a:cs typeface="Impact"/>
              </a:rPr>
              <a:t>S/109.200</a:t>
            </a:r>
          </a:p>
        </p:txBody>
      </p:sp>
      <p:sp>
        <p:nvSpPr>
          <p:cNvPr id="4" name="text-11-2">
            <a:extLst>
              <a:ext uri="{FF2B5EF4-FFF2-40B4-BE49-F238E27FC236}">
                <a16:creationId xmlns:a16="http://schemas.microsoft.com/office/drawing/2014/main" id="{C3CC3B1D-451F-4D07-A499-16CDC6D2EC4B}"/>
              </a:ext>
            </a:extLst>
          </p:cNvPr>
          <p:cNvSpPr>
            <a:spLocks noGrp="1"/>
          </p:cNvSpPr>
          <p:nvPr/>
        </p:nvSpPr>
        <p:spPr>
          <a:xfrm>
            <a:off x="532209" y="2003557"/>
            <a:ext cx="4176265" cy="232172"/>
          </a:xfrm>
          <a:prstGeom prst="rect">
            <a:avLst/>
          </a:prstGeom>
          <a:noFill/>
          <a:ln w="0">
            <a:noFill/>
          </a:ln>
        </p:spPr>
        <p:txBody>
          <a:bodyPr wrap="none" lIns="0" tIns="0" rIns="0" bIns="0" anchor="t">
            <a:noAutofit/>
          </a:bodyPr>
          <a:lstStyle>
            <a:defPPr>
              <a:defRPr sz="1463" b="1" i="0">
                <a:solidFill>
                  <a:srgbClr val="F5F0E8"/>
                </a:solidFill>
                <a:latin typeface="Arial"/>
                <a:ea typeface="Arial"/>
                <a:cs typeface="Arial"/>
              </a:defRPr>
            </a:defPPr>
          </a:lstStyle>
          <a:p>
            <a:pPr>
              <a:defRPr sz="1463" b="1" i="0">
                <a:solidFill>
                  <a:srgbClr val="F5F0E8"/>
                </a:solidFill>
                <a:latin typeface="Arial"/>
                <a:ea typeface="Arial"/>
                <a:cs typeface="Arial"/>
              </a:defRPr>
            </a:pPr>
            <a:r>
              <a:rPr sz="1463" b="1" i="0">
                <a:solidFill>
                  <a:srgbClr val="F5F0E8"/>
                </a:solidFill>
                <a:latin typeface="Arial"/>
                <a:ea typeface="Arial"/>
                <a:cs typeface="Arial"/>
              </a:rPr>
              <a:t>AL AÑO DE AHORRO OPERATIVO POTENCIAL</a:t>
            </a:r>
          </a:p>
        </p:txBody>
      </p:sp>
      <p:sp>
        <p:nvSpPr>
          <p:cNvPr id="5" name="text-11-3">
            <a:extLst>
              <a:ext uri="{FF2B5EF4-FFF2-40B4-BE49-F238E27FC236}">
                <a16:creationId xmlns:a16="http://schemas.microsoft.com/office/drawing/2014/main" id="{69256B79-DFC8-48F5-A55D-C094F2D22128}"/>
              </a:ext>
            </a:extLst>
          </p:cNvPr>
          <p:cNvSpPr>
            <a:spLocks noGrp="1"/>
          </p:cNvSpPr>
          <p:nvPr/>
        </p:nvSpPr>
        <p:spPr>
          <a:xfrm>
            <a:off x="532209" y="2674762"/>
            <a:ext cx="889954" cy="589359"/>
          </a:xfrm>
          <a:prstGeom prst="rect">
            <a:avLst/>
          </a:prstGeom>
          <a:noFill/>
          <a:ln w="0">
            <a:noFill/>
          </a:ln>
        </p:spPr>
        <p:txBody>
          <a:bodyPr wrap="none" lIns="0" tIns="0" rIns="0" bIns="0" anchor="t">
            <a:noAutofit/>
          </a:bodyPr>
          <a:lstStyle>
            <a:defPPr>
              <a:defRPr sz="3713" b="0" i="0">
                <a:solidFill>
                  <a:srgbClr val="F5F0E8"/>
                </a:solidFill>
                <a:latin typeface="Impact"/>
                <a:ea typeface="Impact"/>
                <a:cs typeface="Impact"/>
              </a:defRPr>
            </a:defPPr>
          </a:lstStyle>
          <a:p>
            <a:pPr>
              <a:defRPr sz="3713" b="0" i="0">
                <a:solidFill>
                  <a:srgbClr val="F5F0E8"/>
                </a:solidFill>
                <a:latin typeface="Impact"/>
                <a:ea typeface="Impact"/>
                <a:cs typeface="Impact"/>
              </a:defRPr>
            </a:pPr>
            <a:r>
              <a:rPr sz="3713" b="0" i="0">
                <a:solidFill>
                  <a:srgbClr val="F5F0E8"/>
                </a:solidFill>
                <a:latin typeface="Impact"/>
                <a:ea typeface="Impact"/>
                <a:cs typeface="Impact"/>
              </a:rPr>
              <a:t>6 a 3</a:t>
            </a:r>
          </a:p>
        </p:txBody>
      </p:sp>
      <p:sp>
        <p:nvSpPr>
          <p:cNvPr id="6" name="text-11-4">
            <a:extLst>
              <a:ext uri="{FF2B5EF4-FFF2-40B4-BE49-F238E27FC236}">
                <a16:creationId xmlns:a16="http://schemas.microsoft.com/office/drawing/2014/main" id="{55830635-2F39-4D53-B347-46D66F322DF0}"/>
              </a:ext>
            </a:extLst>
          </p:cNvPr>
          <p:cNvSpPr>
            <a:spLocks noGrp="1"/>
          </p:cNvSpPr>
          <p:nvPr/>
        </p:nvSpPr>
        <p:spPr>
          <a:xfrm>
            <a:off x="532209" y="3293192"/>
            <a:ext cx="1989243" cy="187523"/>
          </a:xfrm>
          <a:prstGeom prst="rect">
            <a:avLst/>
          </a:prstGeom>
          <a:noFill/>
          <a:ln w="0">
            <a:noFill/>
          </a:ln>
        </p:spPr>
        <p:txBody>
          <a:bodyPr wrap="none" lIns="0" tIns="0" rIns="0" bIns="0" anchor="t">
            <a:noAutofit/>
          </a:bodyPr>
          <a:lstStyle>
            <a:defPPr>
              <a:defRPr sz="1181" b="0" i="0">
                <a:solidFill>
                  <a:srgbClr val="F5F0E8"/>
                </a:solidFill>
                <a:latin typeface="Arial"/>
                <a:ea typeface="Arial"/>
                <a:cs typeface="Arial"/>
              </a:defRPr>
            </a:defPPr>
          </a:lstStyle>
          <a:p>
            <a:pPr>
              <a:defRPr sz="1181" b="0" i="0">
                <a:solidFill>
                  <a:srgbClr val="F5F0E8"/>
                </a:solidFill>
                <a:latin typeface="Arial"/>
                <a:ea typeface="Arial"/>
                <a:cs typeface="Arial"/>
              </a:defRPr>
            </a:pPr>
            <a:r>
              <a:rPr sz="1181" b="0" i="0">
                <a:solidFill>
                  <a:srgbClr val="F5F0E8"/>
                </a:solidFill>
                <a:latin typeface="Arial"/>
                <a:ea typeface="Arial"/>
                <a:cs typeface="Arial"/>
              </a:rPr>
              <a:t>ventas · dedicación operativa</a:t>
            </a:r>
          </a:p>
        </p:txBody>
      </p:sp>
      <p:sp>
        <p:nvSpPr>
          <p:cNvPr id="7" name="text-11-5">
            <a:extLst>
              <a:ext uri="{FF2B5EF4-FFF2-40B4-BE49-F238E27FC236}">
                <a16:creationId xmlns:a16="http://schemas.microsoft.com/office/drawing/2014/main" id="{945DFD29-F14F-4342-BFEF-4E63BF0E057E}"/>
              </a:ext>
            </a:extLst>
          </p:cNvPr>
          <p:cNvSpPr>
            <a:spLocks noGrp="1"/>
          </p:cNvSpPr>
          <p:nvPr/>
        </p:nvSpPr>
        <p:spPr>
          <a:xfrm>
            <a:off x="532209" y="3507505"/>
            <a:ext cx="805296" cy="187523"/>
          </a:xfrm>
          <a:prstGeom prst="rect">
            <a:avLst/>
          </a:prstGeom>
          <a:noFill/>
          <a:ln w="0">
            <a:noFill/>
          </a:ln>
        </p:spPr>
        <p:txBody>
          <a:bodyPr wrap="none" lIns="0" tIns="0" rIns="0" bIns="0" anchor="t">
            <a:noAutofit/>
          </a:bodyPr>
          <a:lstStyle>
            <a:defPPr>
              <a:defRPr sz="1181" b="0" i="0">
                <a:solidFill>
                  <a:srgbClr val="F5F0E8"/>
                </a:solidFill>
                <a:latin typeface="Arial"/>
                <a:ea typeface="Arial"/>
                <a:cs typeface="Arial"/>
              </a:defRPr>
            </a:defPPr>
          </a:lstStyle>
          <a:p>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8" name="text-11-6">
            <a:extLst>
              <a:ext uri="{FF2B5EF4-FFF2-40B4-BE49-F238E27FC236}">
                <a16:creationId xmlns:a16="http://schemas.microsoft.com/office/drawing/2014/main" id="{C691A136-D019-4E5F-9B59-4855482985FD}"/>
              </a:ext>
            </a:extLst>
          </p:cNvPr>
          <p:cNvSpPr>
            <a:spLocks noGrp="1"/>
          </p:cNvSpPr>
          <p:nvPr/>
        </p:nvSpPr>
        <p:spPr>
          <a:xfrm>
            <a:off x="3206651" y="2674762"/>
            <a:ext cx="814407" cy="589359"/>
          </a:xfrm>
          <a:prstGeom prst="rect">
            <a:avLst/>
          </a:prstGeom>
          <a:noFill/>
          <a:ln w="0">
            <a:noFill/>
          </a:ln>
        </p:spPr>
        <p:txBody>
          <a:bodyPr wrap="none" lIns="0" tIns="0" rIns="0" bIns="0" anchor="t">
            <a:noAutofit/>
          </a:bodyPr>
          <a:lstStyle>
            <a:defPPr>
              <a:defRPr sz="3713" b="0" i="0">
                <a:solidFill>
                  <a:srgbClr val="F5F0E8"/>
                </a:solidFill>
                <a:latin typeface="Impact"/>
                <a:ea typeface="Impact"/>
                <a:cs typeface="Impact"/>
              </a:defRPr>
            </a:defPPr>
          </a:lstStyle>
          <a:p>
            <a:pPr>
              <a:defRPr sz="3713" b="0" i="0">
                <a:solidFill>
                  <a:srgbClr val="F5F0E8"/>
                </a:solidFill>
                <a:latin typeface="Impact"/>
                <a:ea typeface="Impact"/>
                <a:cs typeface="Impact"/>
              </a:defRPr>
            </a:pPr>
            <a:r>
              <a:rPr sz="3713" b="0" i="0">
                <a:solidFill>
                  <a:srgbClr val="F5F0E8"/>
                </a:solidFill>
                <a:latin typeface="Impact"/>
                <a:ea typeface="Impact"/>
                <a:cs typeface="Impact"/>
              </a:rPr>
              <a:t>3 a 1</a:t>
            </a:r>
          </a:p>
        </p:txBody>
      </p:sp>
      <p:sp>
        <p:nvSpPr>
          <p:cNvPr id="9" name="text-11-7">
            <a:extLst>
              <a:ext uri="{FF2B5EF4-FFF2-40B4-BE49-F238E27FC236}">
                <a16:creationId xmlns:a16="http://schemas.microsoft.com/office/drawing/2014/main" id="{8CFDFB6C-B5CD-4C75-B1E2-AAA85C7EF446}"/>
              </a:ext>
            </a:extLst>
          </p:cNvPr>
          <p:cNvSpPr>
            <a:spLocks noGrp="1"/>
          </p:cNvSpPr>
          <p:nvPr/>
        </p:nvSpPr>
        <p:spPr>
          <a:xfrm>
            <a:off x="3206651" y="3293192"/>
            <a:ext cx="2347791" cy="187523"/>
          </a:xfrm>
          <a:prstGeom prst="rect">
            <a:avLst/>
          </a:prstGeom>
          <a:noFill/>
          <a:ln w="0">
            <a:noFill/>
          </a:ln>
        </p:spPr>
        <p:txBody>
          <a:bodyPr wrap="none" lIns="0" tIns="0" rIns="0" bIns="0" anchor="t">
            <a:noAutofit/>
          </a:bodyPr>
          <a:lstStyle>
            <a:defPPr>
              <a:defRPr sz="1181" b="0" i="0">
                <a:solidFill>
                  <a:srgbClr val="F5F0E8"/>
                </a:solidFill>
                <a:latin typeface="Arial"/>
                <a:ea typeface="Arial"/>
                <a:cs typeface="Arial"/>
              </a:defRPr>
            </a:defPPr>
          </a:lstStyle>
          <a:p>
            <a:pPr>
              <a:defRPr sz="1181" b="0" i="0">
                <a:solidFill>
                  <a:srgbClr val="F5F0E8"/>
                </a:solidFill>
                <a:latin typeface="Arial"/>
                <a:ea typeface="Arial"/>
                <a:cs typeface="Arial"/>
              </a:defRPr>
            </a:pPr>
            <a:r>
              <a:rPr sz="1181" b="0" i="0">
                <a:solidFill>
                  <a:srgbClr val="F5F0E8"/>
                </a:solidFill>
                <a:latin typeface="Arial"/>
                <a:ea typeface="Arial"/>
                <a:cs typeface="Arial"/>
              </a:rPr>
              <a:t>contabilidad · dedicación operativa</a:t>
            </a:r>
          </a:p>
        </p:txBody>
      </p:sp>
      <p:sp>
        <p:nvSpPr>
          <p:cNvPr id="10" name="text-11-8">
            <a:extLst>
              <a:ext uri="{FF2B5EF4-FFF2-40B4-BE49-F238E27FC236}">
                <a16:creationId xmlns:a16="http://schemas.microsoft.com/office/drawing/2014/main" id="{7B55BAA9-5EC6-443D-892D-A691B697D8F7}"/>
              </a:ext>
            </a:extLst>
          </p:cNvPr>
          <p:cNvSpPr>
            <a:spLocks noGrp="1"/>
          </p:cNvSpPr>
          <p:nvPr/>
        </p:nvSpPr>
        <p:spPr>
          <a:xfrm>
            <a:off x="3206651" y="3507505"/>
            <a:ext cx="805296" cy="187523"/>
          </a:xfrm>
          <a:prstGeom prst="rect">
            <a:avLst/>
          </a:prstGeom>
          <a:noFill/>
          <a:ln w="0">
            <a:noFill/>
          </a:ln>
        </p:spPr>
        <p:txBody>
          <a:bodyPr wrap="none" lIns="0" tIns="0" rIns="0" bIns="0" anchor="t">
            <a:noAutofit/>
          </a:bodyPr>
          <a:lstStyle>
            <a:defPPr>
              <a:defRPr sz="1181" b="0" i="0">
                <a:solidFill>
                  <a:srgbClr val="F5F0E8"/>
                </a:solidFill>
                <a:latin typeface="Arial"/>
                <a:ea typeface="Arial"/>
                <a:cs typeface="Arial"/>
              </a:defRPr>
            </a:defPPr>
          </a:lstStyle>
          <a:p>
            <a:pPr>
              <a:defRPr sz="1181" b="0" i="0">
                <a:solidFill>
                  <a:srgbClr val="F5F0E8"/>
                </a:solidFill>
                <a:latin typeface="Arial"/>
                <a:ea typeface="Arial"/>
                <a:cs typeface="Arial"/>
              </a:defRPr>
            </a:pPr>
            <a:r>
              <a:rPr sz="1181" b="0" i="0">
                <a:solidFill>
                  <a:srgbClr val="F5F0E8"/>
                </a:solidFill>
                <a:latin typeface="Arial"/>
                <a:ea typeface="Arial"/>
                <a:cs typeface="Arial"/>
              </a:rPr>
              <a:t>equivalente</a:t>
            </a:r>
          </a:p>
        </p:txBody>
      </p:sp>
      <p:sp>
        <p:nvSpPr>
          <p:cNvPr id="11" name="text-11-9">
            <a:extLst>
              <a:ext uri="{FF2B5EF4-FFF2-40B4-BE49-F238E27FC236}">
                <a16:creationId xmlns:a16="http://schemas.microsoft.com/office/drawing/2014/main" id="{8929E728-9E1C-40CA-85A4-3AFD03E41245}"/>
              </a:ext>
            </a:extLst>
          </p:cNvPr>
          <p:cNvSpPr>
            <a:spLocks noGrp="1"/>
          </p:cNvSpPr>
          <p:nvPr/>
        </p:nvSpPr>
        <p:spPr>
          <a:xfrm>
            <a:off x="5881092" y="2674762"/>
            <a:ext cx="1410056" cy="589359"/>
          </a:xfrm>
          <a:prstGeom prst="rect">
            <a:avLst/>
          </a:prstGeom>
          <a:noFill/>
          <a:ln w="0">
            <a:noFill/>
          </a:ln>
        </p:spPr>
        <p:txBody>
          <a:bodyPr wrap="none" lIns="0" tIns="0" rIns="0" bIns="0" anchor="t">
            <a:noAutofit/>
          </a:bodyPr>
          <a:lstStyle>
            <a:defPPr>
              <a:defRPr sz="3713" b="0" i="0">
                <a:solidFill>
                  <a:srgbClr val="FF4053"/>
                </a:solidFill>
                <a:latin typeface="Impact"/>
                <a:ea typeface="Impact"/>
                <a:cs typeface="Impact"/>
              </a:defRPr>
            </a:defPPr>
          </a:lstStyle>
          <a:p>
            <a:pPr>
              <a:defRPr sz="3713" b="0" i="0">
                <a:solidFill>
                  <a:srgbClr val="FF4053"/>
                </a:solidFill>
                <a:latin typeface="Impact"/>
                <a:ea typeface="Impact"/>
                <a:cs typeface="Impact"/>
              </a:defRPr>
            </a:pPr>
            <a:r>
              <a:rPr sz="3713" b="0" i="0">
                <a:solidFill>
                  <a:srgbClr val="FF4053"/>
                </a:solidFill>
                <a:latin typeface="Impact"/>
                <a:ea typeface="Impact"/>
                <a:cs typeface="Impact"/>
              </a:rPr>
              <a:t>S/9.100</a:t>
            </a:r>
          </a:p>
        </p:txBody>
      </p:sp>
      <p:sp>
        <p:nvSpPr>
          <p:cNvPr id="12" name="text-11-10">
            <a:extLst>
              <a:ext uri="{FF2B5EF4-FFF2-40B4-BE49-F238E27FC236}">
                <a16:creationId xmlns:a16="http://schemas.microsoft.com/office/drawing/2014/main" id="{F38EA54C-5255-4D54-917B-BCF180326307}"/>
              </a:ext>
            </a:extLst>
          </p:cNvPr>
          <p:cNvSpPr>
            <a:spLocks noGrp="1"/>
          </p:cNvSpPr>
          <p:nvPr/>
        </p:nvSpPr>
        <p:spPr>
          <a:xfrm>
            <a:off x="5881092" y="3293192"/>
            <a:ext cx="2547767" cy="187523"/>
          </a:xfrm>
          <a:prstGeom prst="rect">
            <a:avLst/>
          </a:prstGeom>
          <a:noFill/>
          <a:ln w="0">
            <a:noFill/>
          </a:ln>
        </p:spPr>
        <p:txBody>
          <a:bodyPr wrap="none" lIns="0" tIns="0" rIns="0" bIns="0" anchor="t">
            <a:noAutofit/>
          </a:bodyPr>
          <a:lstStyle>
            <a:defPPr>
              <a:defRPr sz="1181" b="0" i="0">
                <a:solidFill>
                  <a:srgbClr val="F5F0E8"/>
                </a:solidFill>
                <a:latin typeface="Arial"/>
                <a:ea typeface="Arial"/>
                <a:cs typeface="Arial"/>
              </a:defRPr>
            </a:defPPr>
          </a:lstStyle>
          <a:p>
            <a:pPr>
              <a:defRPr sz="1181" b="0" i="0">
                <a:solidFill>
                  <a:srgbClr val="F5F0E8"/>
                </a:solidFill>
                <a:latin typeface="Arial"/>
                <a:ea typeface="Arial"/>
                <a:cs typeface="Arial"/>
              </a:defRPr>
            </a:pPr>
            <a:r>
              <a:rPr sz="1181" b="0" i="0">
                <a:solidFill>
                  <a:srgbClr val="F5F0E8"/>
                </a:solidFill>
                <a:latin typeface="Arial"/>
                <a:ea typeface="Arial"/>
                <a:cs typeface="Arial"/>
              </a:rPr>
              <a:t>valor mensual del tiempo y capacidad</a:t>
            </a:r>
          </a:p>
        </p:txBody>
      </p:sp>
      <p:sp>
        <p:nvSpPr>
          <p:cNvPr id="13" name="text-11-11">
            <a:extLst>
              <a:ext uri="{FF2B5EF4-FFF2-40B4-BE49-F238E27FC236}">
                <a16:creationId xmlns:a16="http://schemas.microsoft.com/office/drawing/2014/main" id="{F36071D2-494B-4F89-99FE-F76DA6FEA77B}"/>
              </a:ext>
            </a:extLst>
          </p:cNvPr>
          <p:cNvSpPr>
            <a:spLocks noGrp="1"/>
          </p:cNvSpPr>
          <p:nvPr/>
        </p:nvSpPr>
        <p:spPr>
          <a:xfrm>
            <a:off x="5881092" y="3507505"/>
            <a:ext cx="646727" cy="187523"/>
          </a:xfrm>
          <a:prstGeom prst="rect">
            <a:avLst/>
          </a:prstGeom>
          <a:noFill/>
          <a:ln w="0">
            <a:noFill/>
          </a:ln>
        </p:spPr>
        <p:txBody>
          <a:bodyPr wrap="none" lIns="0" tIns="0" rIns="0" bIns="0" anchor="t">
            <a:noAutofit/>
          </a:bodyPr>
          <a:lstStyle>
            <a:defPPr>
              <a:defRPr sz="1181" b="0" i="0">
                <a:solidFill>
                  <a:srgbClr val="F5F0E8"/>
                </a:solidFill>
                <a:latin typeface="Arial"/>
                <a:ea typeface="Arial"/>
                <a:cs typeface="Arial"/>
              </a:defRPr>
            </a:defPPr>
          </a:lstStyle>
          <a:p>
            <a:pPr>
              <a:defRPr sz="1181" b="0" i="0">
                <a:solidFill>
                  <a:srgbClr val="F5F0E8"/>
                </a:solidFill>
                <a:latin typeface="Arial"/>
                <a:ea typeface="Arial"/>
                <a:cs typeface="Arial"/>
              </a:defRPr>
            </a:pPr>
            <a:r>
              <a:rPr sz="1181" b="0" i="0">
                <a:solidFill>
                  <a:srgbClr val="F5F0E8"/>
                </a:solidFill>
                <a:latin typeface="Arial"/>
                <a:ea typeface="Arial"/>
                <a:cs typeface="Arial"/>
              </a:rPr>
              <a:t>liberados</a:t>
            </a:r>
          </a:p>
        </p:txBody>
      </p:sp>
      <p:sp>
        <p:nvSpPr>
          <p:cNvPr id="14" name="text-11-12">
            <a:extLst>
              <a:ext uri="{FF2B5EF4-FFF2-40B4-BE49-F238E27FC236}">
                <a16:creationId xmlns:a16="http://schemas.microsoft.com/office/drawing/2014/main" id="{E7C740FD-F002-4B07-B54C-E2C567044995}"/>
              </a:ext>
            </a:extLst>
          </p:cNvPr>
          <p:cNvSpPr>
            <a:spLocks noGrp="1"/>
          </p:cNvSpPr>
          <p:nvPr/>
        </p:nvSpPr>
        <p:spPr>
          <a:xfrm>
            <a:off x="532209" y="3940190"/>
            <a:ext cx="5076994" cy="241102"/>
          </a:xfrm>
          <a:prstGeom prst="rect">
            <a:avLst/>
          </a:prstGeom>
          <a:noFill/>
          <a:ln w="0">
            <a:noFill/>
          </a:ln>
        </p:spPr>
        <p:txBody>
          <a:bodyPr wrap="none" lIns="0" tIns="0" rIns="0" bIns="0" anchor="t">
            <a:noAutofit/>
          </a:bodyPr>
          <a:lstStyle>
            <a:defPPr>
              <a:defRPr sz="1519" b="0" i="0">
                <a:solidFill>
                  <a:srgbClr val="F5F0E8"/>
                </a:solidFill>
                <a:latin typeface="Arial"/>
                <a:ea typeface="Arial"/>
                <a:cs typeface="Arial"/>
              </a:defRPr>
            </a:defPPr>
          </a:lstStyle>
          <a:p>
            <a:pPr>
              <a:defRPr sz="1519" b="0" i="0">
                <a:solidFill>
                  <a:srgbClr val="F5F0E8"/>
                </a:solidFill>
                <a:latin typeface="Arial"/>
                <a:ea typeface="Arial"/>
                <a:cs typeface="Arial"/>
              </a:defRPr>
            </a:pPr>
            <a:r>
              <a:rPr sz="1519" b="0" i="0">
                <a:solidFill>
                  <a:srgbClr val="F5F0E8"/>
                </a:solidFill>
                <a:latin typeface="Arial"/>
                <a:ea typeface="Arial"/>
                <a:cs typeface="Arial"/>
              </a:rPr>
              <a:t>Más capacidad para captar, capacitar y hacer seguimiento.</a:t>
            </a:r>
          </a:p>
        </p:txBody>
      </p:sp>
      <p:sp>
        <p:nvSpPr>
          <p:cNvPr id="15" name="text-11-13">
            <a:extLst>
              <a:ext uri="{FF2B5EF4-FFF2-40B4-BE49-F238E27FC236}">
                <a16:creationId xmlns:a16="http://schemas.microsoft.com/office/drawing/2014/main" id="{49D23C55-2426-4849-A2B6-8FF619DCD939}"/>
              </a:ext>
            </a:extLst>
          </p:cNvPr>
          <p:cNvSpPr>
            <a:spLocks noGrp="1"/>
          </p:cNvSpPr>
          <p:nvPr/>
        </p:nvSpPr>
        <p:spPr>
          <a:xfrm>
            <a:off x="532209" y="4603582"/>
            <a:ext cx="6864313" cy="133945"/>
          </a:xfrm>
          <a:prstGeom prst="rect">
            <a:avLst/>
          </a:prstGeom>
          <a:noFill/>
          <a:ln w="0">
            <a:noFill/>
          </a:ln>
        </p:spPr>
        <p:txBody>
          <a:bodyPr wrap="none" lIns="0" tIns="0" rIns="0" bIns="0" anchor="t">
            <a:noAutofit/>
          </a:bodyPr>
          <a:lstStyle>
            <a:defPPr>
              <a:defRPr sz="844" b="0" i="0">
                <a:solidFill>
                  <a:srgbClr val="F5F0E8"/>
                </a:solidFill>
                <a:latin typeface="Arial"/>
                <a:ea typeface="Arial"/>
                <a:cs typeface="Arial"/>
              </a:defRPr>
            </a:defPPr>
          </a:lstStyle>
          <a:p>
            <a:pPr>
              <a:defRPr sz="844" b="0" i="0">
                <a:solidFill>
                  <a:srgbClr val="F5F0E8"/>
                </a:solidFill>
                <a:latin typeface="Arial"/>
                <a:ea typeface="Arial"/>
                <a:cs typeface="Arial"/>
              </a:defRPr>
            </a:pPr>
            <a:r>
              <a:rPr sz="844" b="0" i="0">
                <a:solidFill>
                  <a:srgbClr val="F5F0E8"/>
                </a:solidFill>
                <a:latin typeface="Arial"/>
                <a:ea typeface="Arial"/>
                <a:cs typeface="Arial"/>
              </a:rPr>
              <a:t>Equivalente salarial bruto del escenario, no ahorro de caja ejecutado. Reasignar tiempo a otras tareas. Antes de tecnología, cargas y transición.</a:t>
            </a:r>
          </a:p>
        </p:txBody>
      </p:sp>
      <p:sp>
        <p:nvSpPr>
          <p:cNvPr id="16" name="text-11-14">
            <a:extLst>
              <a:ext uri="{FF2B5EF4-FFF2-40B4-BE49-F238E27FC236}">
                <a16:creationId xmlns:a16="http://schemas.microsoft.com/office/drawing/2014/main" id="{3BDB5654-47C0-41C9-B543-C056C1EB22A5}"/>
              </a:ext>
            </a:extLst>
          </p:cNvPr>
          <p:cNvSpPr>
            <a:spLocks noGrp="1"/>
          </p:cNvSpPr>
          <p:nvPr/>
        </p:nvSpPr>
        <p:spPr>
          <a:xfrm>
            <a:off x="532209" y="4923697"/>
            <a:ext cx="2632040"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03 / IMPACTO · CAPACIDAD OPERATIVA / OMNI by 5.5</a:t>
            </a:r>
          </a:p>
        </p:txBody>
      </p:sp>
      <p:sp>
        <p:nvSpPr>
          <p:cNvPr id="17" name="text-11-15">
            <a:extLst>
              <a:ext uri="{FF2B5EF4-FFF2-40B4-BE49-F238E27FC236}">
                <a16:creationId xmlns:a16="http://schemas.microsoft.com/office/drawing/2014/main" id="{1AFFC951-1E6F-4886-95D5-2D5FFECAD7F9}"/>
              </a:ext>
            </a:extLst>
          </p:cNvPr>
          <p:cNvSpPr>
            <a:spLocks noGrp="1"/>
          </p:cNvSpPr>
          <p:nvPr/>
        </p:nvSpPr>
        <p:spPr>
          <a:xfrm>
            <a:off x="8451391" y="4923697"/>
            <a:ext cx="372769"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11 / 5.5</a:t>
            </a:r>
          </a:p>
        </p:txBody>
      </p:sp>
    </p:spTree>
    <p:extLst>
      <p:ext uri="{BB962C8B-B14F-4D97-AF65-F5344CB8AC3E}">
        <p14:creationId xmlns:p14="http://schemas.microsoft.com/office/powerpoint/2010/main" val="17209141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Imagen 23">
            <a:extLst>
              <a:ext uri="{FF2B5EF4-FFF2-40B4-BE49-F238E27FC236}">
                <a16:creationId xmlns:a16="http://schemas.microsoft.com/office/drawing/2014/main" id="{15F128A1-A9D6-4E27-BA12-08025935BD6E}"/>
              </a:ext>
            </a:extLst>
          </p:cNvPr>
          <p:cNvPicPr>
            <a:picLocks noChangeAspect="1"/>
          </p:cNvPicPr>
          <p:nvPr/>
        </p:nvPicPr>
        <p:blipFill>
          <a:blip r:embed="rId3"/>
          <a:stretch/>
        </p:blipFill>
        <p:spPr>
          <a:xfrm>
            <a:off x="0" y="0"/>
            <a:ext cx="9324594" cy="5248656"/>
          </a:xfrm>
          <a:prstGeom prst="rect">
            <a:avLst/>
          </a:prstGeom>
        </p:spPr>
      </p:pic>
      <p:sp>
        <p:nvSpPr>
          <p:cNvPr id="2" name="text-12-0">
            <a:extLst>
              <a:ext uri="{FF2B5EF4-FFF2-40B4-BE49-F238E27FC236}">
                <a16:creationId xmlns:a16="http://schemas.microsoft.com/office/drawing/2014/main" id="{0A4376BC-209C-49F6-91EF-0425328E2194}"/>
              </a:ext>
            </a:extLst>
          </p:cNvPr>
          <p:cNvSpPr>
            <a:spLocks noGrp="1"/>
          </p:cNvSpPr>
          <p:nvPr/>
        </p:nvSpPr>
        <p:spPr>
          <a:xfrm>
            <a:off x="532209" y="382979"/>
            <a:ext cx="2476738"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03 / IMPACTO · COSTO-BENEFICIO</a:t>
            </a:r>
          </a:p>
        </p:txBody>
      </p:sp>
      <p:sp>
        <p:nvSpPr>
          <p:cNvPr id="3" name="text-12-1">
            <a:extLst>
              <a:ext uri="{FF2B5EF4-FFF2-40B4-BE49-F238E27FC236}">
                <a16:creationId xmlns:a16="http://schemas.microsoft.com/office/drawing/2014/main" id="{C33D6EBA-B29A-4881-90E5-B62143262E1F}"/>
              </a:ext>
            </a:extLst>
          </p:cNvPr>
          <p:cNvSpPr>
            <a:spLocks noGrp="1"/>
          </p:cNvSpPr>
          <p:nvPr/>
        </p:nvSpPr>
        <p:spPr>
          <a:xfrm>
            <a:off x="532209" y="674261"/>
            <a:ext cx="3014842" cy="625078"/>
          </a:xfrm>
          <a:prstGeom prst="rect">
            <a:avLst/>
          </a:prstGeom>
          <a:noFill/>
          <a:ln w="0">
            <a:noFill/>
          </a:ln>
        </p:spPr>
        <p:txBody>
          <a:bodyPr wrap="none" lIns="0" tIns="0" rIns="0" bIns="0" anchor="t">
            <a:noAutofit/>
          </a:bodyPr>
          <a:lstStyle>
            <a:defPPr>
              <a:defRPr sz="3938" b="0" i="0">
                <a:solidFill>
                  <a:srgbClr val="F5F0E8"/>
                </a:solidFill>
                <a:latin typeface="Impact"/>
                <a:ea typeface="Impact"/>
                <a:cs typeface="Impact"/>
              </a:defRPr>
            </a:defPPr>
          </a:lstStyle>
          <a:p>
            <a:pPr>
              <a:defRPr sz="3938" b="0" i="0">
                <a:solidFill>
                  <a:srgbClr val="F5F0E8"/>
                </a:solidFill>
                <a:latin typeface="Impact"/>
                <a:ea typeface="Impact"/>
                <a:cs typeface="Impact"/>
              </a:defRPr>
            </a:pPr>
            <a:r>
              <a:rPr sz="3938" b="0" i="0">
                <a:solidFill>
                  <a:srgbClr val="F5F0E8"/>
                </a:solidFill>
                <a:latin typeface="Impact"/>
                <a:ea typeface="Impact"/>
                <a:cs typeface="Impact"/>
              </a:rPr>
              <a:t>CUÁNTO CUESTA</a:t>
            </a:r>
          </a:p>
        </p:txBody>
      </p:sp>
      <p:sp>
        <p:nvSpPr>
          <p:cNvPr id="4" name="text-12-2">
            <a:extLst>
              <a:ext uri="{FF2B5EF4-FFF2-40B4-BE49-F238E27FC236}">
                <a16:creationId xmlns:a16="http://schemas.microsoft.com/office/drawing/2014/main" id="{072BC2B8-1511-4B4F-88D7-C22B54075CAE}"/>
              </a:ext>
            </a:extLst>
          </p:cNvPr>
          <p:cNvSpPr>
            <a:spLocks noGrp="1"/>
          </p:cNvSpPr>
          <p:nvPr/>
        </p:nvSpPr>
        <p:spPr>
          <a:xfrm>
            <a:off x="532209" y="1181467"/>
            <a:ext cx="4403291" cy="625078"/>
          </a:xfrm>
          <a:prstGeom prst="rect">
            <a:avLst/>
          </a:prstGeom>
          <a:noFill/>
          <a:ln w="0">
            <a:noFill/>
          </a:ln>
        </p:spPr>
        <p:txBody>
          <a:bodyPr wrap="none" lIns="0" tIns="0" rIns="0" bIns="0" anchor="t">
            <a:noAutofit/>
          </a:bodyPr>
          <a:lstStyle>
            <a:defPPr>
              <a:defRPr sz="3938" b="0" i="0">
                <a:solidFill>
                  <a:srgbClr val="F5F0E8"/>
                </a:solidFill>
                <a:latin typeface="Impact"/>
                <a:ea typeface="Impact"/>
                <a:cs typeface="Impact"/>
              </a:defRPr>
            </a:defPPr>
          </a:lstStyle>
          <a:p>
            <a:pPr>
              <a:defRPr sz="3938" b="0" i="0">
                <a:solidFill>
                  <a:srgbClr val="F5F0E8"/>
                </a:solidFill>
                <a:latin typeface="Impact"/>
                <a:ea typeface="Impact"/>
                <a:cs typeface="Impact"/>
              </a:defRPr>
            </a:pPr>
            <a:r>
              <a:rPr sz="3938" b="0" i="0">
                <a:solidFill>
                  <a:srgbClr val="F5F0E8"/>
                </a:solidFill>
                <a:latin typeface="Impact"/>
                <a:ea typeface="Impact"/>
                <a:cs typeface="Impact"/>
              </a:rPr>
              <a:t>Y QUÉ PODRÍA DEVOLVER</a:t>
            </a:r>
          </a:p>
        </p:txBody>
      </p:sp>
      <p:sp>
        <p:nvSpPr>
          <p:cNvPr id="5" name="text-12-3">
            <a:extLst>
              <a:ext uri="{FF2B5EF4-FFF2-40B4-BE49-F238E27FC236}">
                <a16:creationId xmlns:a16="http://schemas.microsoft.com/office/drawing/2014/main" id="{B9F230DE-63FD-445B-9AC6-23E60BD6A301}"/>
              </a:ext>
            </a:extLst>
          </p:cNvPr>
          <p:cNvSpPr>
            <a:spLocks noGrp="1"/>
          </p:cNvSpPr>
          <p:nvPr/>
        </p:nvSpPr>
        <p:spPr>
          <a:xfrm>
            <a:off x="532209" y="2198168"/>
            <a:ext cx="1420415" cy="160734"/>
          </a:xfrm>
          <a:prstGeom prst="rect">
            <a:avLst/>
          </a:prstGeom>
          <a:noFill/>
          <a:ln w="0">
            <a:noFill/>
          </a:ln>
        </p:spPr>
        <p:txBody>
          <a:bodyPr wrap="none" lIns="0" tIns="0" rIns="0" bIns="0" anchor="t">
            <a:noAutofit/>
          </a:bodyPr>
          <a:lstStyle>
            <a:defPPr>
              <a:defRPr sz="1013" b="1" i="0">
                <a:solidFill>
                  <a:srgbClr val="F5F0E8"/>
                </a:solidFill>
                <a:latin typeface="Arial"/>
                <a:ea typeface="Arial"/>
                <a:cs typeface="Arial"/>
              </a:defRPr>
            </a:defPPr>
          </a:lstStyle>
          <a:p>
            <a:pPr>
              <a:defRPr sz="1013" b="1" i="0">
                <a:solidFill>
                  <a:srgbClr val="F5F0E8"/>
                </a:solidFill>
                <a:latin typeface="Arial"/>
                <a:ea typeface="Arial"/>
                <a:cs typeface="Arial"/>
              </a:defRPr>
            </a:pPr>
            <a:r>
              <a:rPr sz="1013" b="1" i="0">
                <a:solidFill>
                  <a:srgbClr val="F5F0E8"/>
                </a:solidFill>
                <a:latin typeface="Arial"/>
                <a:ea typeface="Arial"/>
                <a:cs typeface="Arial"/>
              </a:rPr>
              <a:t>PUESTA EN MARCHA</a:t>
            </a:r>
          </a:p>
        </p:txBody>
      </p:sp>
      <p:sp>
        <p:nvSpPr>
          <p:cNvPr id="6" name="text-12-4">
            <a:extLst>
              <a:ext uri="{FF2B5EF4-FFF2-40B4-BE49-F238E27FC236}">
                <a16:creationId xmlns:a16="http://schemas.microsoft.com/office/drawing/2014/main" id="{30E65CC1-31EF-4DAC-AEE3-692619D88C51}"/>
              </a:ext>
            </a:extLst>
          </p:cNvPr>
          <p:cNvSpPr>
            <a:spLocks noGrp="1"/>
          </p:cNvSpPr>
          <p:nvPr/>
        </p:nvSpPr>
        <p:spPr>
          <a:xfrm>
            <a:off x="532209" y="2417650"/>
            <a:ext cx="1566634" cy="580430"/>
          </a:xfrm>
          <a:prstGeom prst="rect">
            <a:avLst/>
          </a:prstGeom>
          <a:noFill/>
          <a:ln w="0">
            <a:noFill/>
          </a:ln>
        </p:spPr>
        <p:txBody>
          <a:bodyPr wrap="none" lIns="0" tIns="0" rIns="0" bIns="0" anchor="t">
            <a:noAutofit/>
          </a:bodyPr>
          <a:lstStyle>
            <a:defPPr>
              <a:defRPr sz="3656" b="0" i="0">
                <a:solidFill>
                  <a:srgbClr val="F5F0E8"/>
                </a:solidFill>
                <a:latin typeface="Impact"/>
                <a:ea typeface="Impact"/>
                <a:cs typeface="Impact"/>
              </a:defRPr>
            </a:defPPr>
          </a:lstStyle>
          <a:p>
            <a:pPr>
              <a:defRPr sz="3656" b="0" i="0">
                <a:solidFill>
                  <a:srgbClr val="F5F0E8"/>
                </a:solidFill>
                <a:latin typeface="Impact"/>
                <a:ea typeface="Impact"/>
                <a:cs typeface="Impact"/>
              </a:defRPr>
            </a:pPr>
            <a:r>
              <a:rPr sz="3656" b="0" i="0">
                <a:solidFill>
                  <a:srgbClr val="F5F0E8"/>
                </a:solidFill>
                <a:latin typeface="Impact"/>
                <a:ea typeface="Impact"/>
                <a:cs typeface="Impact"/>
              </a:rPr>
              <a:t>Incluida</a:t>
            </a:r>
          </a:p>
        </p:txBody>
      </p:sp>
      <p:sp>
        <p:nvSpPr>
          <p:cNvPr id="7" name="text-12-5">
            <a:extLst>
              <a:ext uri="{FF2B5EF4-FFF2-40B4-BE49-F238E27FC236}">
                <a16:creationId xmlns:a16="http://schemas.microsoft.com/office/drawing/2014/main" id="{60FA1CE6-7F76-4E13-92E1-95E81D38B754}"/>
              </a:ext>
            </a:extLst>
          </p:cNvPr>
          <p:cNvSpPr>
            <a:spLocks noGrp="1"/>
          </p:cNvSpPr>
          <p:nvPr/>
        </p:nvSpPr>
        <p:spPr>
          <a:xfrm>
            <a:off x="532209" y="3086700"/>
            <a:ext cx="2125532" cy="196453"/>
          </a:xfrm>
          <a:prstGeom prst="rect">
            <a:avLst/>
          </a:prstGeom>
          <a:noFill/>
          <a:ln w="0">
            <a:noFill/>
          </a:ln>
        </p:spPr>
        <p:txBody>
          <a:bodyPr wrap="none" lIns="0" tIns="0" rIns="0" bIns="0" anchor="t">
            <a:noAutofit/>
          </a:bodyPr>
          <a:lstStyle>
            <a:defPPr>
              <a:defRPr sz="1238" b="0" i="0">
                <a:solidFill>
                  <a:srgbClr val="F5F0E8"/>
                </a:solidFill>
                <a:latin typeface="Arial"/>
                <a:ea typeface="Arial"/>
                <a:cs typeface="Arial"/>
              </a:defRPr>
            </a:defPPr>
          </a:lstStyle>
          <a:p>
            <a:pPr>
              <a:defRPr sz="1238" b="0" i="0">
                <a:solidFill>
                  <a:srgbClr val="F5F0E8"/>
                </a:solidFill>
                <a:latin typeface="Arial"/>
                <a:ea typeface="Arial"/>
                <a:cs typeface="Arial"/>
              </a:defRPr>
            </a:pPr>
            <a:r>
              <a:rPr sz="1238" b="0" i="0">
                <a:solidFill>
                  <a:srgbClr val="F5F0E8"/>
                </a:solidFill>
                <a:latin typeface="Arial"/>
                <a:ea typeface="Arial"/>
                <a:cs typeface="Arial"/>
              </a:rPr>
              <a:t>Desarrollo e integración como</a:t>
            </a:r>
          </a:p>
        </p:txBody>
      </p:sp>
      <p:sp>
        <p:nvSpPr>
          <p:cNvPr id="8" name="text-12-6">
            <a:extLst>
              <a:ext uri="{FF2B5EF4-FFF2-40B4-BE49-F238E27FC236}">
                <a16:creationId xmlns:a16="http://schemas.microsoft.com/office/drawing/2014/main" id="{5BBC99AB-F071-48B7-8A13-0E101509A611}"/>
              </a:ext>
            </a:extLst>
          </p:cNvPr>
          <p:cNvSpPr>
            <a:spLocks noGrp="1"/>
          </p:cNvSpPr>
          <p:nvPr/>
        </p:nvSpPr>
        <p:spPr>
          <a:xfrm>
            <a:off x="532209" y="3315300"/>
            <a:ext cx="2143448" cy="196453"/>
          </a:xfrm>
          <a:prstGeom prst="rect">
            <a:avLst/>
          </a:prstGeom>
          <a:noFill/>
          <a:ln w="0">
            <a:noFill/>
          </a:ln>
        </p:spPr>
        <p:txBody>
          <a:bodyPr wrap="none" lIns="0" tIns="0" rIns="0" bIns="0" anchor="t">
            <a:noAutofit/>
          </a:bodyPr>
          <a:lstStyle>
            <a:defPPr>
              <a:defRPr sz="1238" b="0" i="0">
                <a:solidFill>
                  <a:srgbClr val="F5F0E8"/>
                </a:solidFill>
                <a:latin typeface="Arial"/>
                <a:ea typeface="Arial"/>
                <a:cs typeface="Arial"/>
              </a:defRPr>
            </a:defPPr>
          </a:lstStyle>
          <a:p>
            <a:pPr>
              <a:defRPr sz="1238" b="0" i="0">
                <a:solidFill>
                  <a:srgbClr val="F5F0E8"/>
                </a:solidFill>
                <a:latin typeface="Arial"/>
                <a:ea typeface="Arial"/>
                <a:cs typeface="Arial"/>
              </a:defRPr>
            </a:pPr>
            <a:r>
              <a:rPr sz="1238" b="0" i="0">
                <a:solidFill>
                  <a:srgbClr val="F5F0E8"/>
                </a:solidFill>
                <a:latin typeface="Arial"/>
                <a:ea typeface="Arial"/>
                <a:cs typeface="Arial"/>
              </a:rPr>
              <a:t>aporte del equipo al concurso.</a:t>
            </a:r>
          </a:p>
        </p:txBody>
      </p:sp>
      <p:sp>
        <p:nvSpPr>
          <p:cNvPr id="9" name="text-12-7">
            <a:extLst>
              <a:ext uri="{FF2B5EF4-FFF2-40B4-BE49-F238E27FC236}">
                <a16:creationId xmlns:a16="http://schemas.microsoft.com/office/drawing/2014/main" id="{B19DAEB6-9AFC-46F2-8797-E3BAA271BF66}"/>
              </a:ext>
            </a:extLst>
          </p:cNvPr>
          <p:cNvSpPr>
            <a:spLocks noGrp="1"/>
          </p:cNvSpPr>
          <p:nvPr/>
        </p:nvSpPr>
        <p:spPr>
          <a:xfrm>
            <a:off x="3361134" y="2198168"/>
            <a:ext cx="1642131" cy="160734"/>
          </a:xfrm>
          <a:prstGeom prst="rect">
            <a:avLst/>
          </a:prstGeom>
          <a:noFill/>
          <a:ln w="0">
            <a:noFill/>
          </a:ln>
        </p:spPr>
        <p:txBody>
          <a:bodyPr wrap="none" lIns="0" tIns="0" rIns="0" bIns="0" anchor="t">
            <a:noAutofit/>
          </a:bodyPr>
          <a:lstStyle>
            <a:defPPr>
              <a:defRPr sz="1013" b="1" i="0">
                <a:solidFill>
                  <a:srgbClr val="F5F0E8"/>
                </a:solidFill>
                <a:latin typeface="Arial"/>
                <a:ea typeface="Arial"/>
                <a:cs typeface="Arial"/>
              </a:defRPr>
            </a:defPPr>
          </a:lstStyle>
          <a:p>
            <a:pPr>
              <a:defRPr sz="1013" b="1" i="0">
                <a:solidFill>
                  <a:srgbClr val="F5F0E8"/>
                </a:solidFill>
                <a:latin typeface="Arial"/>
                <a:ea typeface="Arial"/>
                <a:cs typeface="Arial"/>
              </a:defRPr>
            </a:pPr>
            <a:r>
              <a:rPr sz="1013" b="1" i="0">
                <a:solidFill>
                  <a:srgbClr val="F5F0E8"/>
                </a:solidFill>
                <a:latin typeface="Arial"/>
                <a:ea typeface="Arial"/>
                <a:cs typeface="Arial"/>
              </a:rPr>
              <a:t>OPERACIÓN / OBJETIVO</a:t>
            </a:r>
          </a:p>
        </p:txBody>
      </p:sp>
      <p:sp>
        <p:nvSpPr>
          <p:cNvPr id="10" name="text-12-8">
            <a:extLst>
              <a:ext uri="{FF2B5EF4-FFF2-40B4-BE49-F238E27FC236}">
                <a16:creationId xmlns:a16="http://schemas.microsoft.com/office/drawing/2014/main" id="{EB3188DF-22A1-4396-B535-B1560ED1AC86}"/>
              </a:ext>
            </a:extLst>
          </p:cNvPr>
          <p:cNvSpPr>
            <a:spLocks noGrp="1"/>
          </p:cNvSpPr>
          <p:nvPr/>
        </p:nvSpPr>
        <p:spPr>
          <a:xfrm>
            <a:off x="3361134" y="2417650"/>
            <a:ext cx="1647925" cy="580430"/>
          </a:xfrm>
          <a:prstGeom prst="rect">
            <a:avLst/>
          </a:prstGeom>
          <a:noFill/>
          <a:ln w="0">
            <a:noFill/>
          </a:ln>
        </p:spPr>
        <p:txBody>
          <a:bodyPr wrap="none" lIns="0" tIns="0" rIns="0" bIns="0" anchor="t">
            <a:noAutofit/>
          </a:bodyPr>
          <a:lstStyle>
            <a:defPPr>
              <a:defRPr sz="3656" b="0" i="0">
                <a:solidFill>
                  <a:srgbClr val="F5F0E8"/>
                </a:solidFill>
                <a:latin typeface="Impact"/>
                <a:ea typeface="Impact"/>
                <a:cs typeface="Impact"/>
              </a:defRPr>
            </a:defPPr>
          </a:lstStyle>
          <a:p>
            <a:pPr>
              <a:defRPr sz="3656" b="0" i="0">
                <a:solidFill>
                  <a:srgbClr val="F5F0E8"/>
                </a:solidFill>
                <a:latin typeface="Impact"/>
                <a:ea typeface="Impact"/>
                <a:cs typeface="Impact"/>
              </a:defRPr>
            </a:pPr>
            <a:r>
              <a:rPr sz="3656" b="0" i="0">
                <a:solidFill>
                  <a:srgbClr val="F5F0E8"/>
                </a:solidFill>
                <a:latin typeface="Impact"/>
                <a:ea typeface="Impact"/>
                <a:cs typeface="Impact"/>
              </a:rPr>
              <a:t>≈S/1.400</a:t>
            </a:r>
          </a:p>
        </p:txBody>
      </p:sp>
      <p:sp>
        <p:nvSpPr>
          <p:cNvPr id="11" name="text-12-9">
            <a:extLst>
              <a:ext uri="{FF2B5EF4-FFF2-40B4-BE49-F238E27FC236}">
                <a16:creationId xmlns:a16="http://schemas.microsoft.com/office/drawing/2014/main" id="{04D5A208-8199-46FB-BB19-8AF3E91AF5A5}"/>
              </a:ext>
            </a:extLst>
          </p:cNvPr>
          <p:cNvSpPr>
            <a:spLocks noGrp="1"/>
          </p:cNvSpPr>
          <p:nvPr/>
        </p:nvSpPr>
        <p:spPr>
          <a:xfrm>
            <a:off x="3361134" y="3086700"/>
            <a:ext cx="806782" cy="196453"/>
          </a:xfrm>
          <a:prstGeom prst="rect">
            <a:avLst/>
          </a:prstGeom>
          <a:noFill/>
          <a:ln w="0">
            <a:noFill/>
          </a:ln>
        </p:spPr>
        <p:txBody>
          <a:bodyPr wrap="none" lIns="0" tIns="0" rIns="0" bIns="0" anchor="t">
            <a:noAutofit/>
          </a:bodyPr>
          <a:lstStyle>
            <a:defPPr>
              <a:defRPr sz="1238" b="0" i="0">
                <a:solidFill>
                  <a:srgbClr val="F5F0E8"/>
                </a:solidFill>
                <a:latin typeface="Arial"/>
                <a:ea typeface="Arial"/>
                <a:cs typeface="Arial"/>
              </a:defRPr>
            </a:defPPr>
          </a:lstStyle>
          <a:p>
            <a:pPr>
              <a:defRPr sz="1238" b="0" i="0">
                <a:solidFill>
                  <a:srgbClr val="F5F0E8"/>
                </a:solidFill>
                <a:latin typeface="Arial"/>
                <a:ea typeface="Arial"/>
                <a:cs typeface="Arial"/>
              </a:defRPr>
            </a:pPr>
            <a:r>
              <a:rPr sz="1238" b="0" i="0">
                <a:solidFill>
                  <a:srgbClr val="F5F0E8"/>
                </a:solidFill>
                <a:latin typeface="Arial"/>
                <a:ea typeface="Arial"/>
                <a:cs typeface="Arial"/>
              </a:rPr>
              <a:t>Con Meta. </a:t>
            </a:r>
          </a:p>
        </p:txBody>
      </p:sp>
      <p:sp>
        <p:nvSpPr>
          <p:cNvPr id="12" name="text-12-10">
            <a:extLst>
              <a:ext uri="{FF2B5EF4-FFF2-40B4-BE49-F238E27FC236}">
                <a16:creationId xmlns:a16="http://schemas.microsoft.com/office/drawing/2014/main" id="{02B4244F-9D03-467E-9D97-C3BD5EE369D9}"/>
              </a:ext>
            </a:extLst>
          </p:cNvPr>
          <p:cNvSpPr>
            <a:spLocks noGrp="1"/>
          </p:cNvSpPr>
          <p:nvPr/>
        </p:nvSpPr>
        <p:spPr>
          <a:xfrm>
            <a:off x="6190059" y="2198168"/>
            <a:ext cx="1992014" cy="160734"/>
          </a:xfrm>
          <a:prstGeom prst="rect">
            <a:avLst/>
          </a:prstGeom>
          <a:noFill/>
          <a:ln w="0">
            <a:noFill/>
          </a:ln>
        </p:spPr>
        <p:txBody>
          <a:bodyPr wrap="none" lIns="0" tIns="0" rIns="0" bIns="0" anchor="t">
            <a:noAutofit/>
          </a:bodyPr>
          <a:lstStyle>
            <a:defPPr>
              <a:defRPr sz="1013" b="1" i="0">
                <a:solidFill>
                  <a:srgbClr val="F5F0E8"/>
                </a:solidFill>
                <a:latin typeface="Arial"/>
                <a:ea typeface="Arial"/>
                <a:cs typeface="Arial"/>
              </a:defRPr>
            </a:defPPr>
          </a:lstStyle>
          <a:p>
            <a:pPr>
              <a:defRPr sz="1013" b="1" i="0">
                <a:solidFill>
                  <a:srgbClr val="F5F0E8"/>
                </a:solidFill>
                <a:latin typeface="Arial"/>
                <a:ea typeface="Arial"/>
                <a:cs typeface="Arial"/>
              </a:defRPr>
            </a:pPr>
            <a:r>
              <a:rPr sz="1013" b="1" i="0">
                <a:solidFill>
                  <a:srgbClr val="F5F0E8"/>
                </a:solidFill>
                <a:latin typeface="Arial"/>
                <a:ea typeface="Arial"/>
                <a:cs typeface="Arial"/>
              </a:rPr>
              <a:t>CONTRIBUCIÓN / ESCENARIO</a:t>
            </a:r>
          </a:p>
        </p:txBody>
      </p:sp>
      <p:sp>
        <p:nvSpPr>
          <p:cNvPr id="13" name="text-12-11">
            <a:extLst>
              <a:ext uri="{FF2B5EF4-FFF2-40B4-BE49-F238E27FC236}">
                <a16:creationId xmlns:a16="http://schemas.microsoft.com/office/drawing/2014/main" id="{F452410D-D4E8-42CE-BBB0-667490025AB7}"/>
              </a:ext>
            </a:extLst>
          </p:cNvPr>
          <p:cNvSpPr>
            <a:spLocks noGrp="1"/>
          </p:cNvSpPr>
          <p:nvPr/>
        </p:nvSpPr>
        <p:spPr>
          <a:xfrm>
            <a:off x="6190059" y="3100987"/>
            <a:ext cx="1872501" cy="196453"/>
          </a:xfrm>
          <a:prstGeom prst="rect">
            <a:avLst/>
          </a:prstGeom>
          <a:noFill/>
          <a:ln w="0">
            <a:noFill/>
          </a:ln>
        </p:spPr>
        <p:txBody>
          <a:bodyPr wrap="none" lIns="0" tIns="0" rIns="0" bIns="0" anchor="t">
            <a:noAutofit/>
          </a:bodyPr>
          <a:lstStyle>
            <a:defPPr>
              <a:defRPr sz="1238" b="0" i="0">
                <a:solidFill>
                  <a:srgbClr val="F5F0E8"/>
                </a:solidFill>
                <a:latin typeface="Arial"/>
                <a:ea typeface="Arial"/>
                <a:cs typeface="Arial"/>
              </a:defRPr>
            </a:defPPr>
          </a:lstStyle>
          <a:p>
            <a:pPr>
              <a:defRPr sz="1238" b="0" i="0">
                <a:solidFill>
                  <a:srgbClr val="F5F0E8"/>
                </a:solidFill>
                <a:latin typeface="Arial"/>
                <a:ea typeface="Arial"/>
                <a:cs typeface="Arial"/>
              </a:defRPr>
            </a:pPr>
            <a:r>
              <a:rPr sz="1238" b="0" i="0">
                <a:solidFill>
                  <a:srgbClr val="F5F0E8"/>
                </a:solidFill>
                <a:latin typeface="Arial"/>
                <a:ea typeface="Arial"/>
                <a:cs typeface="Arial"/>
              </a:rPr>
              <a:t>Hipótesis antes de costos.</a:t>
            </a:r>
          </a:p>
        </p:txBody>
      </p:sp>
      <p:sp>
        <p:nvSpPr>
          <p:cNvPr id="14" name="text-12-12">
            <a:extLst>
              <a:ext uri="{FF2B5EF4-FFF2-40B4-BE49-F238E27FC236}">
                <a16:creationId xmlns:a16="http://schemas.microsoft.com/office/drawing/2014/main" id="{241D0CAC-6D7F-4661-A7E3-918193866BD1}"/>
              </a:ext>
            </a:extLst>
          </p:cNvPr>
          <p:cNvSpPr>
            <a:spLocks noGrp="1"/>
          </p:cNvSpPr>
          <p:nvPr/>
        </p:nvSpPr>
        <p:spPr>
          <a:xfrm>
            <a:off x="532209" y="3968597"/>
            <a:ext cx="2463532" cy="473273"/>
          </a:xfrm>
          <a:prstGeom prst="rect">
            <a:avLst/>
          </a:prstGeom>
          <a:noFill/>
          <a:ln w="0">
            <a:noFill/>
          </a:ln>
        </p:spPr>
        <p:txBody>
          <a:bodyPr wrap="none" lIns="0" tIns="0" rIns="0" bIns="0" anchor="t">
            <a:noAutofit/>
          </a:bodyPr>
          <a:lstStyle>
            <a:defPPr>
              <a:defRPr sz="2981" b="0" i="0">
                <a:solidFill>
                  <a:srgbClr val="FF4053"/>
                </a:solidFill>
                <a:latin typeface="Impact"/>
                <a:ea typeface="Impact"/>
                <a:cs typeface="Impact"/>
              </a:defRPr>
            </a:defPPr>
          </a:lstStyle>
          <a:p>
            <a:pPr>
              <a:defRPr sz="2981" b="0" i="0">
                <a:solidFill>
                  <a:srgbClr val="FF4053"/>
                </a:solidFill>
                <a:latin typeface="Impact"/>
                <a:ea typeface="Impact"/>
                <a:cs typeface="Impact"/>
              </a:defRPr>
            </a:pPr>
            <a:r>
              <a:rPr sz="2981" b="0" i="0">
                <a:solidFill>
                  <a:srgbClr val="FF4053"/>
                </a:solidFill>
                <a:latin typeface="Impact"/>
                <a:ea typeface="Impact"/>
                <a:cs typeface="Impact"/>
              </a:rPr>
              <a:t>94 operaciones</a:t>
            </a:r>
          </a:p>
        </p:txBody>
      </p:sp>
      <p:sp>
        <p:nvSpPr>
          <p:cNvPr id="15" name="text-12-13">
            <a:extLst>
              <a:ext uri="{FF2B5EF4-FFF2-40B4-BE49-F238E27FC236}">
                <a16:creationId xmlns:a16="http://schemas.microsoft.com/office/drawing/2014/main" id="{AAC6CB4A-CCC3-4C3D-8F19-910555B92014}"/>
              </a:ext>
            </a:extLst>
          </p:cNvPr>
          <p:cNvSpPr>
            <a:spLocks noGrp="1"/>
          </p:cNvSpPr>
          <p:nvPr/>
        </p:nvSpPr>
        <p:spPr>
          <a:xfrm>
            <a:off x="3243151" y="3987489"/>
            <a:ext cx="3426425"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nuevas al mes cubrirían S/1.400 de tecnología</a:t>
            </a:r>
          </a:p>
        </p:txBody>
      </p:sp>
      <p:sp>
        <p:nvSpPr>
          <p:cNvPr id="16" name="text-12-14">
            <a:extLst>
              <a:ext uri="{FF2B5EF4-FFF2-40B4-BE49-F238E27FC236}">
                <a16:creationId xmlns:a16="http://schemas.microsoft.com/office/drawing/2014/main" id="{46E17C1A-5B8A-4809-8945-F286D1D7A88F}"/>
              </a:ext>
            </a:extLst>
          </p:cNvPr>
          <p:cNvSpPr>
            <a:spLocks noGrp="1"/>
          </p:cNvSpPr>
          <p:nvPr/>
        </p:nvSpPr>
        <p:spPr>
          <a:xfrm>
            <a:off x="3243151" y="4223233"/>
            <a:ext cx="2494973"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si cada una deja S/15 de margen.</a:t>
            </a:r>
          </a:p>
        </p:txBody>
      </p:sp>
      <p:sp>
        <p:nvSpPr>
          <p:cNvPr id="17" name="text-12-15">
            <a:extLst>
              <a:ext uri="{FF2B5EF4-FFF2-40B4-BE49-F238E27FC236}">
                <a16:creationId xmlns:a16="http://schemas.microsoft.com/office/drawing/2014/main" id="{DF49BC88-74C2-460F-8A07-9E95C4BB495A}"/>
              </a:ext>
            </a:extLst>
          </p:cNvPr>
          <p:cNvSpPr>
            <a:spLocks noGrp="1"/>
          </p:cNvSpPr>
          <p:nvPr/>
        </p:nvSpPr>
        <p:spPr>
          <a:xfrm>
            <a:off x="4129869" y="3106101"/>
            <a:ext cx="1154627" cy="169664"/>
          </a:xfrm>
          <a:prstGeom prst="rect">
            <a:avLst/>
          </a:prstGeom>
          <a:noFill/>
          <a:ln w="0">
            <a:noFill/>
          </a:ln>
        </p:spPr>
        <p:txBody>
          <a:bodyPr wrap="none" lIns="0" tIns="0" rIns="0" bIns="0" anchor="t">
            <a:noAutofit/>
          </a:bodyPr>
          <a:lstStyle>
            <a:defPPr>
              <a:defRPr sz="1069" b="0" i="0">
                <a:solidFill>
                  <a:srgbClr val="F5F0E8"/>
                </a:solidFill>
                <a:latin typeface="Arial"/>
                <a:ea typeface="Arial"/>
                <a:cs typeface="Arial"/>
              </a:defRPr>
            </a:defPPr>
          </a:lstStyle>
          <a:p>
            <a:pPr>
              <a:defRPr sz="1069" b="0" i="0">
                <a:solidFill>
                  <a:srgbClr val="F5F0E8"/>
                </a:solidFill>
                <a:latin typeface="Arial"/>
                <a:ea typeface="Arial"/>
                <a:cs typeface="Arial"/>
              </a:defRPr>
            </a:pPr>
            <a:r>
              <a:rPr sz="1069" b="0" i="0">
                <a:solidFill>
                  <a:srgbClr val="F5F0E8"/>
                </a:solidFill>
                <a:latin typeface="Arial"/>
                <a:ea typeface="Arial"/>
                <a:cs typeface="Arial"/>
              </a:rPr>
              <a:t>Datos agrupados ·</a:t>
            </a:r>
          </a:p>
        </p:txBody>
      </p:sp>
      <p:sp>
        <p:nvSpPr>
          <p:cNvPr id="18" name="text-12-16">
            <a:extLst>
              <a:ext uri="{FF2B5EF4-FFF2-40B4-BE49-F238E27FC236}">
                <a16:creationId xmlns:a16="http://schemas.microsoft.com/office/drawing/2014/main" id="{0E095149-10ED-412B-AB04-D5D3C5211200}"/>
              </a:ext>
            </a:extLst>
          </p:cNvPr>
          <p:cNvSpPr>
            <a:spLocks noGrp="1"/>
          </p:cNvSpPr>
          <p:nvPr/>
        </p:nvSpPr>
        <p:spPr>
          <a:xfrm>
            <a:off x="3361134" y="3334701"/>
            <a:ext cx="641697" cy="169664"/>
          </a:xfrm>
          <a:prstGeom prst="rect">
            <a:avLst/>
          </a:prstGeom>
          <a:noFill/>
          <a:ln w="0">
            <a:noFill/>
          </a:ln>
        </p:spPr>
        <p:txBody>
          <a:bodyPr wrap="none" lIns="0" tIns="0" rIns="0" bIns="0" anchor="t">
            <a:noAutofit/>
          </a:bodyPr>
          <a:lstStyle>
            <a:defPPr>
              <a:defRPr sz="1069" b="0" i="0">
                <a:solidFill>
                  <a:srgbClr val="F5F0E8"/>
                </a:solidFill>
                <a:latin typeface="Arial"/>
                <a:ea typeface="Arial"/>
                <a:cs typeface="Arial"/>
              </a:defRPr>
            </a:defPPr>
          </a:lstStyle>
          <a:p>
            <a:pPr>
              <a:defRPr sz="1069" b="0" i="0">
                <a:solidFill>
                  <a:srgbClr val="F5F0E8"/>
                </a:solidFill>
                <a:latin typeface="Arial"/>
                <a:ea typeface="Arial"/>
                <a:cs typeface="Arial"/>
              </a:defRPr>
            </a:pPr>
            <a:r>
              <a:rPr sz="1069" b="0" i="0">
                <a:solidFill>
                  <a:srgbClr val="F5F0E8"/>
                </a:solidFill>
                <a:latin typeface="Arial"/>
                <a:ea typeface="Arial"/>
                <a:cs typeface="Arial"/>
              </a:rPr>
              <a:t>propuesta</a:t>
            </a:r>
          </a:p>
        </p:txBody>
      </p:sp>
      <p:sp>
        <p:nvSpPr>
          <p:cNvPr id="19" name="text-12-17">
            <a:extLst>
              <a:ext uri="{FF2B5EF4-FFF2-40B4-BE49-F238E27FC236}">
                <a16:creationId xmlns:a16="http://schemas.microsoft.com/office/drawing/2014/main" id="{CFD89F4E-BB6E-4472-9DF0-9673D61CFC23}"/>
              </a:ext>
            </a:extLst>
          </p:cNvPr>
          <p:cNvSpPr>
            <a:spLocks noGrp="1"/>
          </p:cNvSpPr>
          <p:nvPr/>
        </p:nvSpPr>
        <p:spPr>
          <a:xfrm>
            <a:off x="6190059" y="2425108"/>
            <a:ext cx="1540965" cy="535781"/>
          </a:xfrm>
          <a:prstGeom prst="rect">
            <a:avLst/>
          </a:prstGeom>
          <a:noFill/>
          <a:ln w="0">
            <a:noFill/>
          </a:ln>
        </p:spPr>
        <p:txBody>
          <a:bodyPr wrap="none" lIns="0" tIns="0" rIns="0" bIns="0" anchor="t">
            <a:noAutofit/>
          </a:bodyPr>
          <a:lstStyle>
            <a:defPPr>
              <a:defRPr sz="3375" b="0" i="0">
                <a:solidFill>
                  <a:srgbClr val="F5F0E8"/>
                </a:solidFill>
                <a:latin typeface="Impact"/>
                <a:ea typeface="Impact"/>
                <a:cs typeface="Impact"/>
              </a:defRPr>
            </a:defPPr>
          </a:lstStyle>
          <a:p>
            <a:pPr>
              <a:defRPr sz="3375" b="0" i="0">
                <a:solidFill>
                  <a:srgbClr val="F5F0E8"/>
                </a:solidFill>
                <a:latin typeface="Impact"/>
                <a:ea typeface="Impact"/>
                <a:cs typeface="Impact"/>
              </a:defRPr>
            </a:pPr>
            <a:r>
              <a:rPr sz="3375" b="0" i="0">
                <a:solidFill>
                  <a:srgbClr val="F5F0E8"/>
                </a:solidFill>
                <a:latin typeface="Impact"/>
                <a:ea typeface="Impact"/>
                <a:cs typeface="Impact"/>
              </a:rPr>
              <a:t>+S/3.780</a:t>
            </a:r>
          </a:p>
        </p:txBody>
      </p:sp>
      <p:sp>
        <p:nvSpPr>
          <p:cNvPr id="20" name="text-12-18">
            <a:extLst>
              <a:ext uri="{FF2B5EF4-FFF2-40B4-BE49-F238E27FC236}">
                <a16:creationId xmlns:a16="http://schemas.microsoft.com/office/drawing/2014/main" id="{440F6B48-8B4A-4828-B5BF-1F85A1B3FD10}"/>
              </a:ext>
            </a:extLst>
          </p:cNvPr>
          <p:cNvSpPr>
            <a:spLocks noGrp="1"/>
          </p:cNvSpPr>
          <p:nvPr/>
        </p:nvSpPr>
        <p:spPr>
          <a:xfrm>
            <a:off x="6190059" y="3348989"/>
            <a:ext cx="1931662" cy="169664"/>
          </a:xfrm>
          <a:prstGeom prst="rect">
            <a:avLst/>
          </a:prstGeom>
          <a:noFill/>
          <a:ln w="0">
            <a:noFill/>
          </a:ln>
        </p:spPr>
        <p:txBody>
          <a:bodyPr wrap="none" lIns="0" tIns="0" rIns="0" bIns="0" anchor="t">
            <a:noAutofit/>
          </a:bodyPr>
          <a:lstStyle>
            <a:defPPr>
              <a:defRPr sz="1069" b="0" i="0">
                <a:solidFill>
                  <a:srgbClr val="F5F0E8"/>
                </a:solidFill>
                <a:latin typeface="Arial"/>
                <a:ea typeface="Arial"/>
                <a:cs typeface="Arial"/>
              </a:defRPr>
            </a:defPPr>
          </a:lstStyle>
          <a:p>
            <a:pPr>
              <a:defRPr sz="1069" b="0" i="0">
                <a:solidFill>
                  <a:srgbClr val="F5F0E8"/>
                </a:solidFill>
                <a:latin typeface="Arial"/>
                <a:ea typeface="Arial"/>
                <a:cs typeface="Arial"/>
              </a:defRPr>
            </a:pPr>
            <a:r>
              <a:rPr sz="1069" b="0" i="0">
                <a:solidFill>
                  <a:srgbClr val="F5F0E8"/>
                </a:solidFill>
                <a:latin typeface="Arial"/>
                <a:ea typeface="Arial"/>
                <a:cs typeface="Arial"/>
              </a:rPr>
              <a:t>Ver escenarios 5%, 10% y 20%</a:t>
            </a:r>
          </a:p>
        </p:txBody>
      </p:sp>
      <p:sp>
        <p:nvSpPr>
          <p:cNvPr id="21" name="text-12-19">
            <a:extLst>
              <a:ext uri="{FF2B5EF4-FFF2-40B4-BE49-F238E27FC236}">
                <a16:creationId xmlns:a16="http://schemas.microsoft.com/office/drawing/2014/main" id="{76597690-EEA9-4AA7-9552-2665DF207014}"/>
              </a:ext>
            </a:extLst>
          </p:cNvPr>
          <p:cNvSpPr>
            <a:spLocks noGrp="1"/>
          </p:cNvSpPr>
          <p:nvPr/>
        </p:nvSpPr>
        <p:spPr>
          <a:xfrm>
            <a:off x="532209" y="4602905"/>
            <a:ext cx="6795249" cy="125016"/>
          </a:xfrm>
          <a:prstGeom prst="rect">
            <a:avLst/>
          </a:prstGeom>
          <a:noFill/>
          <a:ln w="0">
            <a:noFill/>
          </a:ln>
        </p:spPr>
        <p:txBody>
          <a:bodyPr wrap="none" lIns="0" tIns="0" rIns="0" bIns="0" anchor="t">
            <a:noAutofit/>
          </a:bodyPr>
          <a:lstStyle>
            <a:defPPr>
              <a:defRPr sz="788" b="0" i="0">
                <a:solidFill>
                  <a:srgbClr val="F5F0E8"/>
                </a:solidFill>
                <a:latin typeface="Arial"/>
                <a:ea typeface="Arial"/>
                <a:cs typeface="Arial"/>
              </a:defRPr>
            </a:defPPr>
          </a:lstStyle>
          <a:p>
            <a:pPr>
              <a:defRPr sz="788" b="0" i="0">
                <a:solidFill>
                  <a:srgbClr val="F5F0E8"/>
                </a:solidFill>
                <a:latin typeface="Arial"/>
                <a:ea typeface="Arial"/>
                <a:cs typeface="Arial"/>
              </a:defRPr>
            </a:pPr>
            <a:r>
              <a:rPr sz="788" b="0" i="0">
                <a:solidFill>
                  <a:srgbClr val="F5F0E8"/>
                </a:solidFill>
                <a:latin typeface="Arial"/>
                <a:ea typeface="Arial"/>
                <a:cs typeface="Arial"/>
              </a:rPr>
              <a:t>Objetivo por implementar: 2 mensajes + soporte en 10% de casos. Escenario S/3.780 − S/1.400 = S/2.380 antes de otros costos. Sin optimizar: S/3.500.</a:t>
            </a:r>
          </a:p>
        </p:txBody>
      </p:sp>
      <p:sp>
        <p:nvSpPr>
          <p:cNvPr id="22" name="text-12-20">
            <a:extLst>
              <a:ext uri="{FF2B5EF4-FFF2-40B4-BE49-F238E27FC236}">
                <a16:creationId xmlns:a16="http://schemas.microsoft.com/office/drawing/2014/main" id="{9AEFA394-FABF-47B8-AAE8-6A4EA5672222}"/>
              </a:ext>
            </a:extLst>
          </p:cNvPr>
          <p:cNvSpPr>
            <a:spLocks noGrp="1"/>
          </p:cNvSpPr>
          <p:nvPr/>
        </p:nvSpPr>
        <p:spPr>
          <a:xfrm>
            <a:off x="532209" y="4923697"/>
            <a:ext cx="2379322"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03 / IMPACTO · COSTO-BENEFICIO / OMNI by 5.5</a:t>
            </a:r>
          </a:p>
        </p:txBody>
      </p:sp>
      <p:sp>
        <p:nvSpPr>
          <p:cNvPr id="23" name="text-12-21">
            <a:extLst>
              <a:ext uri="{FF2B5EF4-FFF2-40B4-BE49-F238E27FC236}">
                <a16:creationId xmlns:a16="http://schemas.microsoft.com/office/drawing/2014/main" id="{D0A9ABE5-9DB1-4DFD-98EA-E3B20BB1228F}"/>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12 / 5.5</a:t>
            </a:r>
          </a:p>
        </p:txBody>
      </p:sp>
    </p:spTree>
    <p:extLst>
      <p:ext uri="{BB962C8B-B14F-4D97-AF65-F5344CB8AC3E}">
        <p14:creationId xmlns:p14="http://schemas.microsoft.com/office/powerpoint/2010/main" val="1045018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F5E59029-2932-4D71-A98E-7D5D60F3F59A}"/>
              </a:ext>
            </a:extLst>
          </p:cNvPr>
          <p:cNvPicPr>
            <a:picLocks noChangeAspect="1"/>
          </p:cNvPicPr>
          <p:nvPr/>
        </p:nvPicPr>
        <p:blipFill>
          <a:blip r:embed="rId5"/>
          <a:stretch/>
        </p:blipFill>
        <p:spPr>
          <a:xfrm>
            <a:off x="0" y="0"/>
            <a:ext cx="9324594" cy="5248656"/>
          </a:xfrm>
          <a:prstGeom prst="rect">
            <a:avLst/>
          </a:prstGeom>
        </p:spPr>
      </p:pic>
      <p:sp>
        <p:nvSpPr>
          <p:cNvPr id="2" name="text-13-0">
            <a:extLst>
              <a:ext uri="{FF2B5EF4-FFF2-40B4-BE49-F238E27FC236}">
                <a16:creationId xmlns:a16="http://schemas.microsoft.com/office/drawing/2014/main" id="{18B3A6B2-9B85-425E-8D9C-A4DED58E2766}"/>
              </a:ext>
            </a:extLst>
          </p:cNvPr>
          <p:cNvSpPr>
            <a:spLocks noGrp="1"/>
          </p:cNvSpPr>
          <p:nvPr/>
        </p:nvSpPr>
        <p:spPr>
          <a:xfrm>
            <a:off x="532209" y="382979"/>
            <a:ext cx="753057"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04 / DEMO</a:t>
            </a:r>
          </a:p>
        </p:txBody>
      </p:sp>
      <p:sp>
        <p:nvSpPr>
          <p:cNvPr id="3" name="text-13-1">
            <a:extLst>
              <a:ext uri="{FF2B5EF4-FFF2-40B4-BE49-F238E27FC236}">
                <a16:creationId xmlns:a16="http://schemas.microsoft.com/office/drawing/2014/main" id="{A4BAE18A-C337-45E8-8C66-67E2EED6D1B1}"/>
              </a:ext>
            </a:extLst>
          </p:cNvPr>
          <p:cNvSpPr>
            <a:spLocks noGrp="1"/>
          </p:cNvSpPr>
          <p:nvPr/>
        </p:nvSpPr>
        <p:spPr>
          <a:xfrm>
            <a:off x="532209" y="4175327"/>
            <a:ext cx="666893" cy="535781"/>
          </a:xfrm>
          <a:prstGeom prst="rect">
            <a:avLst/>
          </a:prstGeom>
          <a:noFill/>
          <a:ln w="0">
            <a:noFill/>
          </a:ln>
        </p:spPr>
        <p:txBody>
          <a:bodyPr wrap="none" lIns="0" tIns="0" rIns="0" bIns="0" anchor="t">
            <a:noAutofit/>
          </a:bodyPr>
          <a:lstStyle>
            <a:defPPr>
              <a:defRPr sz="3375" b="0" i="0">
                <a:solidFill>
                  <a:srgbClr val="FF4053"/>
                </a:solidFill>
                <a:latin typeface="Impact"/>
                <a:ea typeface="Impact"/>
                <a:cs typeface="Impact"/>
              </a:defRPr>
            </a:defPPr>
          </a:lstStyle>
          <a:p>
            <a:pPr>
              <a:defRPr sz="3375" b="0" i="0">
                <a:solidFill>
                  <a:srgbClr val="FF4053"/>
                </a:solidFill>
                <a:latin typeface="Impact"/>
                <a:ea typeface="Impact"/>
                <a:cs typeface="Impact"/>
              </a:defRPr>
            </a:pPr>
            <a:r>
              <a:rPr sz="3375" b="0" i="0">
                <a:solidFill>
                  <a:srgbClr val="FF4053"/>
                </a:solidFill>
                <a:latin typeface="Impact"/>
                <a:ea typeface="Impact"/>
                <a:cs typeface="Impact"/>
              </a:rPr>
              <a:t>65″</a:t>
            </a:r>
          </a:p>
        </p:txBody>
      </p:sp>
      <p:sp>
        <p:nvSpPr>
          <p:cNvPr id="4" name="text-13-2">
            <a:extLst>
              <a:ext uri="{FF2B5EF4-FFF2-40B4-BE49-F238E27FC236}">
                <a16:creationId xmlns:a16="http://schemas.microsoft.com/office/drawing/2014/main" id="{067FF456-836C-4DBF-A868-BC689A55C756}"/>
              </a:ext>
            </a:extLst>
          </p:cNvPr>
          <p:cNvSpPr>
            <a:spLocks noGrp="1"/>
          </p:cNvSpPr>
          <p:nvPr/>
        </p:nvSpPr>
        <p:spPr>
          <a:xfrm>
            <a:off x="1360773" y="4223233"/>
            <a:ext cx="2613108"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Canales, registro y revisión interna.</a:t>
            </a:r>
          </a:p>
        </p:txBody>
      </p:sp>
      <p:sp>
        <p:nvSpPr>
          <p:cNvPr id="5" name="text-13-3">
            <a:extLst>
              <a:ext uri="{FF2B5EF4-FFF2-40B4-BE49-F238E27FC236}">
                <a16:creationId xmlns:a16="http://schemas.microsoft.com/office/drawing/2014/main" id="{CE0B0DFB-AAE0-4635-8B89-2A55EB27DB4A}"/>
              </a:ext>
            </a:extLst>
          </p:cNvPr>
          <p:cNvSpPr>
            <a:spLocks noGrp="1"/>
          </p:cNvSpPr>
          <p:nvPr/>
        </p:nvSpPr>
        <p:spPr>
          <a:xfrm>
            <a:off x="1360773" y="4497779"/>
            <a:ext cx="2265621" cy="151805"/>
          </a:xfrm>
          <a:prstGeom prst="rect">
            <a:avLst/>
          </a:prstGeom>
          <a:noFill/>
          <a:ln w="0">
            <a:noFill/>
          </a:ln>
        </p:spPr>
        <p:txBody>
          <a:bodyPr wrap="none" lIns="0" tIns="0" rIns="0" bIns="0" anchor="t">
            <a:noAutofit/>
          </a:bodyPr>
          <a:lstStyle>
            <a:defPPr>
              <a:defRPr sz="956" b="0" i="0">
                <a:solidFill>
                  <a:srgbClr val="AAAAAA"/>
                </a:solidFill>
                <a:latin typeface="Arial"/>
                <a:ea typeface="Arial"/>
                <a:cs typeface="Arial"/>
              </a:defRPr>
            </a:defPPr>
          </a:lstStyle>
          <a:p>
            <a:pPr>
              <a:defRPr sz="956" b="0" i="0">
                <a:solidFill>
                  <a:srgbClr val="AAAAAA"/>
                </a:solidFill>
                <a:latin typeface="Arial"/>
                <a:ea typeface="Arial"/>
                <a:cs typeface="Arial"/>
              </a:defRPr>
            </a:pPr>
            <a:r>
              <a:rPr sz="956" b="0" i="0">
                <a:solidFill>
                  <a:srgbClr val="AAAAAA"/>
                </a:solidFill>
                <a:latin typeface="Arial"/>
                <a:ea typeface="Arial"/>
                <a:cs typeface="Arial"/>
              </a:rPr>
              <a:t>Recorrido técnico aportado por el equipo.</a:t>
            </a:r>
          </a:p>
        </p:txBody>
      </p:sp>
      <p:sp>
        <p:nvSpPr>
          <p:cNvPr id="6" name="text-13-4">
            <a:extLst>
              <a:ext uri="{FF2B5EF4-FFF2-40B4-BE49-F238E27FC236}">
                <a16:creationId xmlns:a16="http://schemas.microsoft.com/office/drawing/2014/main" id="{6F639A4B-250F-470C-A0B3-B95BAA0892AD}"/>
              </a:ext>
            </a:extLst>
          </p:cNvPr>
          <p:cNvSpPr>
            <a:spLocks noGrp="1"/>
          </p:cNvSpPr>
          <p:nvPr/>
        </p:nvSpPr>
        <p:spPr>
          <a:xfrm>
            <a:off x="7925879" y="4362724"/>
            <a:ext cx="723988" cy="160734"/>
          </a:xfrm>
          <a:prstGeom prst="rect">
            <a:avLst/>
          </a:prstGeom>
          <a:noFill/>
          <a:ln w="0">
            <a:noFill/>
          </a:ln>
        </p:spPr>
        <p:txBody>
          <a:bodyPr wrap="none" lIns="0" tIns="0" rIns="0" bIns="0" anchor="t">
            <a:noAutofit/>
          </a:bodyPr>
          <a:lstStyle>
            <a:defPPr>
              <a:defRPr sz="1013" b="1" i="0">
                <a:solidFill>
                  <a:srgbClr val="F5F0E8"/>
                </a:solidFill>
                <a:latin typeface="Arial"/>
                <a:ea typeface="Arial"/>
                <a:cs typeface="Arial"/>
              </a:defRPr>
            </a:defPPr>
          </a:lstStyle>
          <a:p>
            <a:pPr>
              <a:defRPr sz="1013" b="1" i="0">
                <a:solidFill>
                  <a:srgbClr val="F5F0E8"/>
                </a:solidFill>
                <a:latin typeface="Arial"/>
                <a:ea typeface="Arial"/>
                <a:cs typeface="Arial"/>
              </a:defRPr>
            </a:pPr>
            <a:r>
              <a:rPr sz="1013" b="1" i="0" dirty="0" err="1">
                <a:solidFill>
                  <a:srgbClr val="F5F0E8"/>
                </a:solidFill>
                <a:latin typeface="Arial"/>
                <a:ea typeface="Arial"/>
                <a:cs typeface="Arial"/>
              </a:rPr>
              <a:t>Demo</a:t>
            </a:r>
            <a:endParaRPr sz="1013" b="1" i="0" dirty="0">
              <a:solidFill>
                <a:srgbClr val="F5F0E8"/>
              </a:solidFill>
              <a:latin typeface="Arial"/>
              <a:ea typeface="Arial"/>
              <a:cs typeface="Arial"/>
            </a:endParaRPr>
          </a:p>
        </p:txBody>
      </p:sp>
      <p:sp>
        <p:nvSpPr>
          <p:cNvPr id="7" name="text-13-5">
            <a:extLst>
              <a:ext uri="{FF2B5EF4-FFF2-40B4-BE49-F238E27FC236}">
                <a16:creationId xmlns:a16="http://schemas.microsoft.com/office/drawing/2014/main" id="{1989141A-3483-4A05-BCCD-30F706A812DA}"/>
              </a:ext>
            </a:extLst>
          </p:cNvPr>
          <p:cNvSpPr>
            <a:spLocks noGrp="1"/>
          </p:cNvSpPr>
          <p:nvPr/>
        </p:nvSpPr>
        <p:spPr>
          <a:xfrm>
            <a:off x="935831" y="3673457"/>
            <a:ext cx="511573" cy="125016"/>
          </a:xfrm>
          <a:prstGeom prst="rect">
            <a:avLst/>
          </a:prstGeom>
          <a:noFill/>
          <a:ln w="0">
            <a:noFill/>
          </a:ln>
        </p:spPr>
        <p:txBody>
          <a:bodyPr wrap="none" lIns="0" tIns="0" rIns="0" bIns="0" anchor="t">
            <a:noAutofit/>
          </a:bodyPr>
          <a:lstStyle>
            <a:defPPr>
              <a:defRPr sz="788" b="0" i="0">
                <a:solidFill>
                  <a:srgbClr val="FFFFFF"/>
                </a:solidFill>
                <a:latin typeface="Arial"/>
                <a:ea typeface="Arial"/>
                <a:cs typeface="Arial"/>
              </a:defRPr>
            </a:defPPr>
          </a:lstStyle>
          <a:p>
            <a:pPr>
              <a:defRPr sz="788" b="0" i="0">
                <a:solidFill>
                  <a:srgbClr val="FFFFFF"/>
                </a:solidFill>
                <a:latin typeface="Arial"/>
                <a:ea typeface="Arial"/>
                <a:cs typeface="Arial"/>
              </a:defRPr>
            </a:pPr>
            <a:r>
              <a:rPr sz="788" b="0" i="0">
                <a:solidFill>
                  <a:srgbClr val="FFFFFF"/>
                </a:solidFill>
                <a:latin typeface="Arial"/>
                <a:ea typeface="Arial"/>
                <a:cs typeface="Arial"/>
              </a:rPr>
              <a:t>0:00 / 1:04</a:t>
            </a:r>
          </a:p>
        </p:txBody>
      </p:sp>
      <p:sp>
        <p:nvSpPr>
          <p:cNvPr id="8" name="text-13-6">
            <a:extLst>
              <a:ext uri="{FF2B5EF4-FFF2-40B4-BE49-F238E27FC236}">
                <a16:creationId xmlns:a16="http://schemas.microsoft.com/office/drawing/2014/main" id="{E26C1151-AEDD-4AB9-9D86-B39EB7982197}"/>
              </a:ext>
            </a:extLst>
          </p:cNvPr>
          <p:cNvSpPr>
            <a:spLocks noGrp="1"/>
          </p:cNvSpPr>
          <p:nvPr/>
        </p:nvSpPr>
        <p:spPr>
          <a:xfrm>
            <a:off x="532209" y="4923697"/>
            <a:ext cx="1200645"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04 / DEMO / OMNI by 5.5</a:t>
            </a:r>
          </a:p>
        </p:txBody>
      </p:sp>
      <p:sp>
        <p:nvSpPr>
          <p:cNvPr id="9" name="text-13-7">
            <a:extLst>
              <a:ext uri="{FF2B5EF4-FFF2-40B4-BE49-F238E27FC236}">
                <a16:creationId xmlns:a16="http://schemas.microsoft.com/office/drawing/2014/main" id="{14616EB7-7B16-4B41-A8EE-FA4A3EAE0009}"/>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13 / 5.5</a:t>
            </a:r>
          </a:p>
        </p:txBody>
      </p:sp>
      <p:sp>
        <p:nvSpPr>
          <p:cNvPr id="9100" name="Fondo del video"/>
          <p:cNvSpPr/>
          <p:nvPr/>
        </p:nvSpPr>
        <p:spPr>
          <a:xfrm>
            <a:off x="590550" y="723900"/>
            <a:ext cx="7353300" cy="3333750"/>
          </a:xfrm>
          <a:prstGeom prst="rect">
            <a:avLst/>
          </a:prstGeom>
          <a:solidFill>
            <a:srgbClr val="000000"/>
          </a:solidFill>
          <a:ln>
            <a:noFill/>
          </a:ln>
        </p:spPr>
      </p:sp>
      <p:pic>
        <p:nvPicPr>
          <p:cNvPr id="12" name="proceso.mp4">
            <a:hlinkClick action="ppaction://media"/>
            <a:extLst>
              <a:ext uri="{FF2B5EF4-FFF2-40B4-BE49-F238E27FC236}">
                <a16:creationId xmlns:a16="http://schemas.microsoft.com/office/drawing/2014/main" id="{732B25ED-DCE4-6762-7407-5065CBCAC3CE}"/>
              </a:ext>
            </a:extLst>
          </p:cNvPr>
          <p:cNvPicPr>
            <a:picLocks noChangeAspect="1"/>
          </p:cNvPicPr>
          <p:nvPr>
            <a:videoFile r:link="rId2"/>
            <p:extLst>
              <p:ext uri="{DAA4B4D4-6D71-4841-9C94-3DE7FCFB9230}">
                <p14:media xmlns:p14="http://schemas.microsoft.com/office/powerpoint/2010/main" r:embed="rId1"/>
              </p:ext>
            </p:extLst>
          </p:nvPr>
        </p:nvPicPr>
        <p:blipFill>
          <a:blip r:embed="rId6"/>
          <a:stretch>
            <a:fillRect/>
          </a:stretch>
        </p:blipFill>
        <p:spPr>
          <a:xfrm>
            <a:off x="1304925" y="723900"/>
            <a:ext cx="5926666" cy="3333750"/>
          </a:xfrm>
          <a:prstGeom prst="rect">
            <a:avLst/>
          </a:prstGeom>
        </p:spPr>
      </p:pic>
    </p:spTree>
    <p:extLst>
      <p:ext uri="{BB962C8B-B14F-4D97-AF65-F5344CB8AC3E}">
        <p14:creationId xmlns:p14="http://schemas.microsoft.com/office/powerpoint/2010/main" val="71342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4500"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12"/>
                </p:tgtEl>
              </p:cMediaNode>
            </p:video>
            <p:seq concurrent="1" nextAc="seek">
              <p:cTn id="8" restart="whenNotActive" fill="hold" evtFilter="cancelBubble" nodeType="interactiveSeq">
                <p:stCondLst>
                  <p:cond evt="onClick" delay="0">
                    <p:tgtEl>
                      <p:spTgt spid="12"/>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12"/>
                                        </p:tgtEl>
                                      </p:cBhvr>
                                    </p:cmd>
                                  </p:childTnLst>
                                </p:cTn>
                              </p:par>
                            </p:childTnLst>
                          </p:cTn>
                        </p:par>
                      </p:childTnLst>
                    </p:cTn>
                  </p:par>
                </p:childTnLst>
              </p:cTn>
              <p:nextCondLst>
                <p:cond evt="onClick" delay="0">
                  <p:tgtEl>
                    <p:spTgt spid="12"/>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Imagen 23">
            <a:extLst>
              <a:ext uri="{FF2B5EF4-FFF2-40B4-BE49-F238E27FC236}">
                <a16:creationId xmlns:a16="http://schemas.microsoft.com/office/drawing/2014/main" id="{A2CE1498-9CA7-49D5-BBEC-7FA67BE0CF27}"/>
              </a:ext>
            </a:extLst>
          </p:cNvPr>
          <p:cNvPicPr>
            <a:picLocks noChangeAspect="1"/>
          </p:cNvPicPr>
          <p:nvPr/>
        </p:nvPicPr>
        <p:blipFill>
          <a:blip r:embed="rId3"/>
          <a:stretch/>
        </p:blipFill>
        <p:spPr>
          <a:xfrm>
            <a:off x="0" y="0"/>
            <a:ext cx="9324594" cy="5248656"/>
          </a:xfrm>
          <a:prstGeom prst="rect">
            <a:avLst/>
          </a:prstGeom>
        </p:spPr>
      </p:pic>
      <p:sp>
        <p:nvSpPr>
          <p:cNvPr id="2" name="text-14-0">
            <a:extLst>
              <a:ext uri="{FF2B5EF4-FFF2-40B4-BE49-F238E27FC236}">
                <a16:creationId xmlns:a16="http://schemas.microsoft.com/office/drawing/2014/main" id="{B6D2E335-1D97-4B32-9769-03E77BC1B256}"/>
              </a:ext>
            </a:extLst>
          </p:cNvPr>
          <p:cNvSpPr>
            <a:spLocks noGrp="1"/>
          </p:cNvSpPr>
          <p:nvPr/>
        </p:nvSpPr>
        <p:spPr>
          <a:xfrm>
            <a:off x="532209" y="382979"/>
            <a:ext cx="1328277"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PRÓXIMOS PASOS</a:t>
            </a:r>
          </a:p>
        </p:txBody>
      </p:sp>
      <p:sp>
        <p:nvSpPr>
          <p:cNvPr id="3" name="text-14-1">
            <a:extLst>
              <a:ext uri="{FF2B5EF4-FFF2-40B4-BE49-F238E27FC236}">
                <a16:creationId xmlns:a16="http://schemas.microsoft.com/office/drawing/2014/main" id="{4C972BA3-9C40-4AA9-9A2A-8012775B6413}"/>
              </a:ext>
            </a:extLst>
          </p:cNvPr>
          <p:cNvSpPr>
            <a:spLocks noGrp="1"/>
          </p:cNvSpPr>
          <p:nvPr/>
        </p:nvSpPr>
        <p:spPr>
          <a:xfrm>
            <a:off x="532209" y="674261"/>
            <a:ext cx="3420598" cy="625078"/>
          </a:xfrm>
          <a:prstGeom prst="rect">
            <a:avLst/>
          </a:prstGeom>
          <a:noFill/>
          <a:ln w="0">
            <a:noFill/>
          </a:ln>
        </p:spPr>
        <p:txBody>
          <a:bodyPr wrap="none" lIns="0" tIns="0" rIns="0" bIns="0" anchor="t">
            <a:noAutofit/>
          </a:bodyPr>
          <a:lstStyle>
            <a:defPPr>
              <a:defRPr sz="3938" b="0" i="0">
                <a:solidFill>
                  <a:srgbClr val="0B0B0B"/>
                </a:solidFill>
                <a:latin typeface="Impact"/>
                <a:ea typeface="Impact"/>
                <a:cs typeface="Impact"/>
              </a:defRPr>
            </a:defPPr>
          </a:lstStyle>
          <a:p>
            <a:pPr>
              <a:defRPr sz="3938" b="0" i="0">
                <a:solidFill>
                  <a:srgbClr val="0B0B0B"/>
                </a:solidFill>
                <a:latin typeface="Impact"/>
                <a:ea typeface="Impact"/>
                <a:cs typeface="Impact"/>
              </a:defRPr>
            </a:pPr>
            <a:r>
              <a:rPr sz="3938" b="0" i="0">
                <a:solidFill>
                  <a:srgbClr val="0B0B0B"/>
                </a:solidFill>
                <a:latin typeface="Impact"/>
                <a:ea typeface="Impact"/>
                <a:cs typeface="Impact"/>
              </a:rPr>
              <a:t>EL SIGUIENTE PASO</a:t>
            </a:r>
          </a:p>
        </p:txBody>
      </p:sp>
      <p:sp>
        <p:nvSpPr>
          <p:cNvPr id="4" name="text-14-2">
            <a:extLst>
              <a:ext uri="{FF2B5EF4-FFF2-40B4-BE49-F238E27FC236}">
                <a16:creationId xmlns:a16="http://schemas.microsoft.com/office/drawing/2014/main" id="{547412B3-5CC7-41DD-8353-6B6B463F9CDE}"/>
              </a:ext>
            </a:extLst>
          </p:cNvPr>
          <p:cNvSpPr>
            <a:spLocks noGrp="1"/>
          </p:cNvSpPr>
          <p:nvPr/>
        </p:nvSpPr>
        <p:spPr>
          <a:xfrm>
            <a:off x="532209" y="1181467"/>
            <a:ext cx="5689527" cy="625078"/>
          </a:xfrm>
          <a:prstGeom prst="rect">
            <a:avLst/>
          </a:prstGeom>
          <a:noFill/>
          <a:ln w="0">
            <a:noFill/>
          </a:ln>
        </p:spPr>
        <p:txBody>
          <a:bodyPr wrap="none" lIns="0" tIns="0" rIns="0" bIns="0" anchor="t">
            <a:noAutofit/>
          </a:bodyPr>
          <a:lstStyle>
            <a:defPPr>
              <a:defRPr sz="3938" b="0" i="0">
                <a:solidFill>
                  <a:srgbClr val="0B0B0B"/>
                </a:solidFill>
                <a:latin typeface="Impact"/>
                <a:ea typeface="Impact"/>
                <a:cs typeface="Impact"/>
              </a:defRPr>
            </a:defPPr>
          </a:lstStyle>
          <a:p>
            <a:pPr>
              <a:defRPr sz="3938" b="0" i="0">
                <a:solidFill>
                  <a:srgbClr val="0B0B0B"/>
                </a:solidFill>
                <a:latin typeface="Impact"/>
                <a:ea typeface="Impact"/>
                <a:cs typeface="Impact"/>
              </a:defRPr>
            </a:pPr>
            <a:r>
              <a:rPr sz="3938" b="0" i="0">
                <a:solidFill>
                  <a:srgbClr val="0B0B0B"/>
                </a:solidFill>
                <a:latin typeface="Impact"/>
                <a:ea typeface="Impact"/>
                <a:cs typeface="Impact"/>
              </a:rPr>
              <a:t>ES VENDER CON MÁS CONTEXTO</a:t>
            </a:r>
          </a:p>
        </p:txBody>
      </p:sp>
      <p:sp>
        <p:nvSpPr>
          <p:cNvPr id="5" name="text-14-3">
            <a:extLst>
              <a:ext uri="{FF2B5EF4-FFF2-40B4-BE49-F238E27FC236}">
                <a16:creationId xmlns:a16="http://schemas.microsoft.com/office/drawing/2014/main" id="{DE00FFEB-0FAE-4F85-8CB9-175AE77E9986}"/>
              </a:ext>
            </a:extLst>
          </p:cNvPr>
          <p:cNvSpPr>
            <a:spLocks noGrp="1"/>
          </p:cNvSpPr>
          <p:nvPr/>
        </p:nvSpPr>
        <p:spPr>
          <a:xfrm>
            <a:off x="532209" y="2063790"/>
            <a:ext cx="1681254" cy="178594"/>
          </a:xfrm>
          <a:prstGeom prst="rect">
            <a:avLst/>
          </a:prstGeom>
          <a:noFill/>
          <a:ln w="0">
            <a:noFill/>
          </a:ln>
        </p:spPr>
        <p:txBody>
          <a:bodyPr wrap="none" lIns="0" tIns="0" rIns="0" bIns="0" anchor="t">
            <a:noAutofit/>
          </a:bodyPr>
          <a:lstStyle>
            <a:defPPr>
              <a:defRPr sz="1125" b="1" i="0">
                <a:solidFill>
                  <a:srgbClr val="DC0A1E"/>
                </a:solidFill>
                <a:latin typeface="Arial"/>
                <a:ea typeface="Arial"/>
                <a:cs typeface="Arial"/>
              </a:defRPr>
            </a:defPPr>
          </a:lstStyle>
          <a:p>
            <a:pPr>
              <a:defRPr sz="1125" b="1" i="0">
                <a:solidFill>
                  <a:srgbClr val="DC0A1E"/>
                </a:solidFill>
                <a:latin typeface="Arial"/>
                <a:ea typeface="Arial"/>
                <a:cs typeface="Arial"/>
              </a:defRPr>
            </a:pPr>
            <a:r>
              <a:rPr sz="1125" b="1" i="0">
                <a:solidFill>
                  <a:srgbClr val="DC0A1E"/>
                </a:solidFill>
                <a:latin typeface="Arial"/>
                <a:ea typeface="Arial"/>
                <a:cs typeface="Arial"/>
              </a:rPr>
              <a:t>01 / ATENCIÓN HÍBRIDA</a:t>
            </a:r>
          </a:p>
        </p:txBody>
      </p:sp>
      <p:sp>
        <p:nvSpPr>
          <p:cNvPr id="6" name="text-14-4">
            <a:extLst>
              <a:ext uri="{FF2B5EF4-FFF2-40B4-BE49-F238E27FC236}">
                <a16:creationId xmlns:a16="http://schemas.microsoft.com/office/drawing/2014/main" id="{1F54A92C-B221-4327-A46F-3B7C30FAA9B1}"/>
              </a:ext>
            </a:extLst>
          </p:cNvPr>
          <p:cNvSpPr>
            <a:spLocks noGrp="1"/>
          </p:cNvSpPr>
          <p:nvPr/>
        </p:nvSpPr>
        <p:spPr>
          <a:xfrm>
            <a:off x="532209" y="2403607"/>
            <a:ext cx="2567672" cy="232172"/>
          </a:xfrm>
          <a:prstGeom prst="rect">
            <a:avLst/>
          </a:prstGeom>
          <a:noFill/>
          <a:ln w="0">
            <a:noFill/>
          </a:ln>
        </p:spPr>
        <p:txBody>
          <a:bodyPr wrap="none" lIns="0" tIns="0" rIns="0" bIns="0" anchor="t">
            <a:noAutofit/>
          </a:bodyPr>
          <a:lstStyle>
            <a:defPPr>
              <a:defRPr sz="1463" b="0" i="0">
                <a:solidFill>
                  <a:srgbClr val="0B0B0B"/>
                </a:solidFill>
                <a:latin typeface="Arial"/>
                <a:ea typeface="Arial"/>
                <a:cs typeface="Arial"/>
              </a:defRPr>
            </a:defPPr>
          </a:lstStyle>
          <a:p>
            <a:pPr>
              <a:defRPr sz="1463" b="0" i="0">
                <a:solidFill>
                  <a:srgbClr val="0B0B0B"/>
                </a:solidFill>
                <a:latin typeface="Arial"/>
                <a:ea typeface="Arial"/>
                <a:cs typeface="Arial"/>
              </a:defRPr>
            </a:pPr>
            <a:r>
              <a:rPr sz="1463" b="0" i="0">
                <a:solidFill>
                  <a:srgbClr val="0B0B0B"/>
                </a:solidFill>
                <a:latin typeface="Arial"/>
                <a:ea typeface="Arial"/>
                <a:cs typeface="Arial"/>
              </a:rPr>
              <a:t>Pasar de la IA a un asesor con</a:t>
            </a:r>
          </a:p>
        </p:txBody>
      </p:sp>
      <p:sp>
        <p:nvSpPr>
          <p:cNvPr id="7" name="text-14-5">
            <a:extLst>
              <a:ext uri="{FF2B5EF4-FFF2-40B4-BE49-F238E27FC236}">
                <a16:creationId xmlns:a16="http://schemas.microsoft.com/office/drawing/2014/main" id="{4BDA2DAA-A0B7-40EB-8C9E-04CAAAA88ADD}"/>
              </a:ext>
            </a:extLst>
          </p:cNvPr>
          <p:cNvSpPr>
            <a:spLocks noGrp="1"/>
          </p:cNvSpPr>
          <p:nvPr/>
        </p:nvSpPr>
        <p:spPr>
          <a:xfrm>
            <a:off x="532209" y="2675069"/>
            <a:ext cx="791823" cy="232172"/>
          </a:xfrm>
          <a:prstGeom prst="rect">
            <a:avLst/>
          </a:prstGeom>
          <a:noFill/>
          <a:ln w="0">
            <a:noFill/>
          </a:ln>
        </p:spPr>
        <p:txBody>
          <a:bodyPr wrap="none" lIns="0" tIns="0" rIns="0" bIns="0" anchor="t">
            <a:noAutofit/>
          </a:bodyPr>
          <a:lstStyle>
            <a:defPPr>
              <a:defRPr sz="1463" b="0" i="0">
                <a:solidFill>
                  <a:srgbClr val="0B0B0B"/>
                </a:solidFill>
                <a:latin typeface="Arial"/>
                <a:ea typeface="Arial"/>
                <a:cs typeface="Arial"/>
              </a:defRPr>
            </a:defPPr>
          </a:lstStyle>
          <a:p>
            <a:pPr>
              <a:defRPr sz="1463" b="0" i="0">
                <a:solidFill>
                  <a:srgbClr val="0B0B0B"/>
                </a:solidFill>
                <a:latin typeface="Arial"/>
                <a:ea typeface="Arial"/>
                <a:cs typeface="Arial"/>
              </a:defRPr>
            </a:pPr>
            <a:r>
              <a:rPr sz="1463" b="0" i="0">
                <a:solidFill>
                  <a:srgbClr val="0B0B0B"/>
                </a:solidFill>
                <a:latin typeface="Arial"/>
                <a:ea typeface="Arial"/>
                <a:cs typeface="Arial"/>
              </a:rPr>
              <a:t>contexto.</a:t>
            </a:r>
          </a:p>
        </p:txBody>
      </p:sp>
      <p:sp>
        <p:nvSpPr>
          <p:cNvPr id="8" name="text-14-6">
            <a:extLst>
              <a:ext uri="{FF2B5EF4-FFF2-40B4-BE49-F238E27FC236}">
                <a16:creationId xmlns:a16="http://schemas.microsoft.com/office/drawing/2014/main" id="{16DD8C66-39CA-4924-83D3-18E25FA41952}"/>
              </a:ext>
            </a:extLst>
          </p:cNvPr>
          <p:cNvSpPr>
            <a:spLocks noGrp="1"/>
          </p:cNvSpPr>
          <p:nvPr/>
        </p:nvSpPr>
        <p:spPr>
          <a:xfrm>
            <a:off x="532209" y="3064592"/>
            <a:ext cx="2364141" cy="187523"/>
          </a:xfrm>
          <a:prstGeom prst="rect">
            <a:avLst/>
          </a:prstGeom>
          <a:noFill/>
          <a:ln w="0">
            <a:noFill/>
          </a:ln>
        </p:spPr>
        <p:txBody>
          <a:bodyPr wrap="none" lIns="0" tIns="0" rIns="0" bIns="0" anchor="t">
            <a:noAutofit/>
          </a:bodyPr>
          <a:lstStyle>
            <a:defPPr>
              <a:defRPr sz="1181" b="0" i="0">
                <a:solidFill>
                  <a:srgbClr val="0B0B0B"/>
                </a:solidFill>
                <a:latin typeface="Arial"/>
                <a:ea typeface="Arial"/>
                <a:cs typeface="Arial"/>
              </a:defRPr>
            </a:defPPr>
          </a:lstStyle>
          <a:p>
            <a:pPr>
              <a:defRPr sz="1181" b="0" i="0">
                <a:solidFill>
                  <a:srgbClr val="0B0B0B"/>
                </a:solidFill>
                <a:latin typeface="Arial"/>
                <a:ea typeface="Arial"/>
                <a:cs typeface="Arial"/>
              </a:defRPr>
            </a:pPr>
            <a:r>
              <a:rPr sz="1181" b="0" i="0">
                <a:solidFill>
                  <a:srgbClr val="0B0B0B"/>
                </a:solidFill>
                <a:latin typeface="Arial"/>
                <a:ea typeface="Arial"/>
                <a:cs typeface="Arial"/>
              </a:rPr>
              <a:t>Resolver excepciones sin repetir el</a:t>
            </a:r>
          </a:p>
        </p:txBody>
      </p:sp>
      <p:sp>
        <p:nvSpPr>
          <p:cNvPr id="9" name="text-14-7">
            <a:extLst>
              <a:ext uri="{FF2B5EF4-FFF2-40B4-BE49-F238E27FC236}">
                <a16:creationId xmlns:a16="http://schemas.microsoft.com/office/drawing/2014/main" id="{CD35B311-A869-492B-8E67-C1E3F668F49E}"/>
              </a:ext>
            </a:extLst>
          </p:cNvPr>
          <p:cNvSpPr>
            <a:spLocks noGrp="1"/>
          </p:cNvSpPr>
          <p:nvPr/>
        </p:nvSpPr>
        <p:spPr>
          <a:xfrm>
            <a:off x="532209" y="3286048"/>
            <a:ext cx="396645" cy="187523"/>
          </a:xfrm>
          <a:prstGeom prst="rect">
            <a:avLst/>
          </a:prstGeom>
          <a:noFill/>
          <a:ln w="0">
            <a:noFill/>
          </a:ln>
        </p:spPr>
        <p:txBody>
          <a:bodyPr wrap="none" lIns="0" tIns="0" rIns="0" bIns="0" anchor="t">
            <a:noAutofit/>
          </a:bodyPr>
          <a:lstStyle>
            <a:defPPr>
              <a:defRPr sz="1181" b="0" i="0">
                <a:solidFill>
                  <a:srgbClr val="0B0B0B"/>
                </a:solidFill>
                <a:latin typeface="Arial"/>
                <a:ea typeface="Arial"/>
                <a:cs typeface="Arial"/>
              </a:defRPr>
            </a:defPPr>
          </a:lstStyle>
          <a:p>
            <a:pPr>
              <a:defRPr sz="1181" b="0" i="0">
                <a:solidFill>
                  <a:srgbClr val="0B0B0B"/>
                </a:solidFill>
                <a:latin typeface="Arial"/>
                <a:ea typeface="Arial"/>
                <a:cs typeface="Arial"/>
              </a:defRPr>
            </a:pPr>
            <a:r>
              <a:rPr sz="1181" b="0" i="0">
                <a:solidFill>
                  <a:srgbClr val="0B0B0B"/>
                </a:solidFill>
                <a:latin typeface="Arial"/>
                <a:ea typeface="Arial"/>
                <a:cs typeface="Arial"/>
              </a:rPr>
              <a:t>caso.</a:t>
            </a:r>
          </a:p>
        </p:txBody>
      </p:sp>
      <p:sp>
        <p:nvSpPr>
          <p:cNvPr id="10" name="text-14-8">
            <a:extLst>
              <a:ext uri="{FF2B5EF4-FFF2-40B4-BE49-F238E27FC236}">
                <a16:creationId xmlns:a16="http://schemas.microsoft.com/office/drawing/2014/main" id="{B03A1930-C623-4341-A6D4-2235C9D92A4B}"/>
              </a:ext>
            </a:extLst>
          </p:cNvPr>
          <p:cNvSpPr>
            <a:spLocks noGrp="1"/>
          </p:cNvSpPr>
          <p:nvPr/>
        </p:nvSpPr>
        <p:spPr>
          <a:xfrm>
            <a:off x="3375422" y="2063790"/>
            <a:ext cx="1619496" cy="178594"/>
          </a:xfrm>
          <a:prstGeom prst="rect">
            <a:avLst/>
          </a:prstGeom>
          <a:noFill/>
          <a:ln w="0">
            <a:noFill/>
          </a:ln>
        </p:spPr>
        <p:txBody>
          <a:bodyPr wrap="none" lIns="0" tIns="0" rIns="0" bIns="0" anchor="t">
            <a:noAutofit/>
          </a:bodyPr>
          <a:lstStyle>
            <a:defPPr>
              <a:defRPr sz="1125" b="1" i="0">
                <a:solidFill>
                  <a:srgbClr val="DC0A1E"/>
                </a:solidFill>
                <a:latin typeface="Arial"/>
                <a:ea typeface="Arial"/>
                <a:cs typeface="Arial"/>
              </a:defRPr>
            </a:defPPr>
          </a:lstStyle>
          <a:p>
            <a:pPr>
              <a:defRPr sz="1125" b="1" i="0">
                <a:solidFill>
                  <a:srgbClr val="DC0A1E"/>
                </a:solidFill>
                <a:latin typeface="Arial"/>
                <a:ea typeface="Arial"/>
                <a:cs typeface="Arial"/>
              </a:defRPr>
            </a:pPr>
            <a:r>
              <a:rPr sz="1125" b="1" i="0">
                <a:solidFill>
                  <a:srgbClr val="DC0A1E"/>
                </a:solidFill>
                <a:latin typeface="Arial"/>
                <a:ea typeface="Arial"/>
                <a:cs typeface="Arial"/>
              </a:rPr>
              <a:t>02 / SEGUIMIENTO + IA</a:t>
            </a:r>
          </a:p>
        </p:txBody>
      </p:sp>
      <p:sp>
        <p:nvSpPr>
          <p:cNvPr id="11" name="text-14-9">
            <a:extLst>
              <a:ext uri="{FF2B5EF4-FFF2-40B4-BE49-F238E27FC236}">
                <a16:creationId xmlns:a16="http://schemas.microsoft.com/office/drawing/2014/main" id="{9540B5B0-09D4-4E96-9B0E-086D5EDD4AF4}"/>
              </a:ext>
            </a:extLst>
          </p:cNvPr>
          <p:cNvSpPr>
            <a:spLocks noGrp="1"/>
          </p:cNvSpPr>
          <p:nvPr/>
        </p:nvSpPr>
        <p:spPr>
          <a:xfrm>
            <a:off x="3375422" y="2403607"/>
            <a:ext cx="1731469" cy="232172"/>
          </a:xfrm>
          <a:prstGeom prst="rect">
            <a:avLst/>
          </a:prstGeom>
          <a:noFill/>
          <a:ln w="0">
            <a:noFill/>
          </a:ln>
        </p:spPr>
        <p:txBody>
          <a:bodyPr wrap="none" lIns="0" tIns="0" rIns="0" bIns="0" anchor="t">
            <a:noAutofit/>
          </a:bodyPr>
          <a:lstStyle>
            <a:defPPr>
              <a:defRPr sz="1463" b="0" i="0">
                <a:solidFill>
                  <a:srgbClr val="0B0B0B"/>
                </a:solidFill>
                <a:latin typeface="Arial"/>
                <a:ea typeface="Arial"/>
                <a:cs typeface="Arial"/>
              </a:defRPr>
            </a:defPPr>
          </a:lstStyle>
          <a:p>
            <a:pPr>
              <a:defRPr sz="1463" b="0" i="0">
                <a:solidFill>
                  <a:srgbClr val="0B0B0B"/>
                </a:solidFill>
                <a:latin typeface="Arial"/>
                <a:ea typeface="Arial"/>
                <a:cs typeface="Arial"/>
              </a:defRPr>
            </a:pPr>
            <a:r>
              <a:rPr sz="1463" b="0" i="0">
                <a:solidFill>
                  <a:srgbClr val="0B0B0B"/>
                </a:solidFill>
                <a:latin typeface="Arial"/>
                <a:ea typeface="Arial"/>
                <a:cs typeface="Arial"/>
              </a:rPr>
              <a:t>Entender por qué no</a:t>
            </a:r>
          </a:p>
        </p:txBody>
      </p:sp>
      <p:sp>
        <p:nvSpPr>
          <p:cNvPr id="12" name="text-14-10">
            <a:extLst>
              <a:ext uri="{FF2B5EF4-FFF2-40B4-BE49-F238E27FC236}">
                <a16:creationId xmlns:a16="http://schemas.microsoft.com/office/drawing/2014/main" id="{FDF1A7CD-D2E6-4994-90AB-AB4AF271C7CE}"/>
              </a:ext>
            </a:extLst>
          </p:cNvPr>
          <p:cNvSpPr>
            <a:spLocks noGrp="1"/>
          </p:cNvSpPr>
          <p:nvPr/>
        </p:nvSpPr>
        <p:spPr>
          <a:xfrm>
            <a:off x="3375422" y="2675069"/>
            <a:ext cx="1772146" cy="232172"/>
          </a:xfrm>
          <a:prstGeom prst="rect">
            <a:avLst/>
          </a:prstGeom>
          <a:noFill/>
          <a:ln w="0">
            <a:noFill/>
          </a:ln>
        </p:spPr>
        <p:txBody>
          <a:bodyPr wrap="none" lIns="0" tIns="0" rIns="0" bIns="0" anchor="t">
            <a:noAutofit/>
          </a:bodyPr>
          <a:lstStyle>
            <a:defPPr>
              <a:defRPr sz="1463" b="0" i="0">
                <a:solidFill>
                  <a:srgbClr val="0B0B0B"/>
                </a:solidFill>
                <a:latin typeface="Arial"/>
                <a:ea typeface="Arial"/>
                <a:cs typeface="Arial"/>
              </a:defRPr>
            </a:defPPr>
          </a:lstStyle>
          <a:p>
            <a:pPr>
              <a:defRPr sz="1463" b="0" i="0">
                <a:solidFill>
                  <a:srgbClr val="0B0B0B"/>
                </a:solidFill>
                <a:latin typeface="Arial"/>
                <a:ea typeface="Arial"/>
                <a:cs typeface="Arial"/>
              </a:defRPr>
            </a:pPr>
            <a:r>
              <a:rPr sz="1463" b="0" i="0">
                <a:solidFill>
                  <a:srgbClr val="0B0B0B"/>
                </a:solidFill>
                <a:latin typeface="Arial"/>
                <a:ea typeface="Arial"/>
                <a:cs typeface="Arial"/>
              </a:rPr>
              <a:t>compraron y volver a</a:t>
            </a:r>
          </a:p>
        </p:txBody>
      </p:sp>
      <p:sp>
        <p:nvSpPr>
          <p:cNvPr id="13" name="text-14-11">
            <a:extLst>
              <a:ext uri="{FF2B5EF4-FFF2-40B4-BE49-F238E27FC236}">
                <a16:creationId xmlns:a16="http://schemas.microsoft.com/office/drawing/2014/main" id="{FE0BF893-89D3-4657-901C-E7CBCE2F5BCE}"/>
              </a:ext>
            </a:extLst>
          </p:cNvPr>
          <p:cNvSpPr>
            <a:spLocks noGrp="1"/>
          </p:cNvSpPr>
          <p:nvPr/>
        </p:nvSpPr>
        <p:spPr>
          <a:xfrm>
            <a:off x="3375422" y="2939388"/>
            <a:ext cx="1256166" cy="232172"/>
          </a:xfrm>
          <a:prstGeom prst="rect">
            <a:avLst/>
          </a:prstGeom>
          <a:noFill/>
          <a:ln w="0">
            <a:noFill/>
          </a:ln>
        </p:spPr>
        <p:txBody>
          <a:bodyPr wrap="none" lIns="0" tIns="0" rIns="0" bIns="0" anchor="t">
            <a:noAutofit/>
          </a:bodyPr>
          <a:lstStyle>
            <a:defPPr>
              <a:defRPr sz="1463" b="0" i="0">
                <a:solidFill>
                  <a:srgbClr val="0B0B0B"/>
                </a:solidFill>
                <a:latin typeface="Arial"/>
                <a:ea typeface="Arial"/>
                <a:cs typeface="Arial"/>
              </a:defRPr>
            </a:defPPr>
          </a:lstStyle>
          <a:p>
            <a:pPr>
              <a:defRPr sz="1463" b="0" i="0">
                <a:solidFill>
                  <a:srgbClr val="0B0B0B"/>
                </a:solidFill>
                <a:latin typeface="Arial"/>
                <a:ea typeface="Arial"/>
                <a:cs typeface="Arial"/>
              </a:defRPr>
            </a:pPr>
            <a:r>
              <a:rPr sz="1463" b="0" i="0">
                <a:solidFill>
                  <a:srgbClr val="0B0B0B"/>
                </a:solidFill>
                <a:latin typeface="Arial"/>
                <a:ea typeface="Arial"/>
                <a:cs typeface="Arial"/>
              </a:rPr>
              <a:t>acompañarlos.</a:t>
            </a:r>
          </a:p>
        </p:txBody>
      </p:sp>
      <p:sp>
        <p:nvSpPr>
          <p:cNvPr id="14" name="text-14-12">
            <a:extLst>
              <a:ext uri="{FF2B5EF4-FFF2-40B4-BE49-F238E27FC236}">
                <a16:creationId xmlns:a16="http://schemas.microsoft.com/office/drawing/2014/main" id="{9219C282-395F-4301-A5CA-DE84A84252AE}"/>
              </a:ext>
            </a:extLst>
          </p:cNvPr>
          <p:cNvSpPr>
            <a:spLocks noGrp="1"/>
          </p:cNvSpPr>
          <p:nvPr/>
        </p:nvSpPr>
        <p:spPr>
          <a:xfrm>
            <a:off x="3375422" y="3336055"/>
            <a:ext cx="1989245" cy="187523"/>
          </a:xfrm>
          <a:prstGeom prst="rect">
            <a:avLst/>
          </a:prstGeom>
          <a:noFill/>
          <a:ln w="0">
            <a:noFill/>
          </a:ln>
        </p:spPr>
        <p:txBody>
          <a:bodyPr wrap="none" lIns="0" tIns="0" rIns="0" bIns="0" anchor="t">
            <a:noAutofit/>
          </a:bodyPr>
          <a:lstStyle>
            <a:defPPr>
              <a:defRPr sz="1181" b="0" i="0">
                <a:solidFill>
                  <a:srgbClr val="0B0B0B"/>
                </a:solidFill>
                <a:latin typeface="Arial"/>
                <a:ea typeface="Arial"/>
                <a:cs typeface="Arial"/>
              </a:defRPr>
            </a:defPPr>
          </a:lstStyle>
          <a:p>
            <a:pPr>
              <a:defRPr sz="1181" b="0" i="0">
                <a:solidFill>
                  <a:srgbClr val="0B0B0B"/>
                </a:solidFill>
                <a:latin typeface="Arial"/>
                <a:ea typeface="Arial"/>
                <a:cs typeface="Arial"/>
              </a:defRPr>
            </a:pPr>
            <a:r>
              <a:rPr sz="1181" b="0" i="0">
                <a:solidFill>
                  <a:srgbClr val="0B0B0B"/>
                </a:solidFill>
                <a:latin typeface="Arial"/>
                <a:ea typeface="Arial"/>
                <a:cs typeface="Arial"/>
              </a:rPr>
              <a:t>Probar campañas y cupones,</a:t>
            </a:r>
          </a:p>
        </p:txBody>
      </p:sp>
      <p:sp>
        <p:nvSpPr>
          <p:cNvPr id="15" name="text-14-13">
            <a:extLst>
              <a:ext uri="{FF2B5EF4-FFF2-40B4-BE49-F238E27FC236}">
                <a16:creationId xmlns:a16="http://schemas.microsoft.com/office/drawing/2014/main" id="{A9FB934F-478F-49E5-8C23-3E520D2EA16F}"/>
              </a:ext>
            </a:extLst>
          </p:cNvPr>
          <p:cNvSpPr>
            <a:spLocks noGrp="1"/>
          </p:cNvSpPr>
          <p:nvPr/>
        </p:nvSpPr>
        <p:spPr>
          <a:xfrm>
            <a:off x="3375422" y="3550367"/>
            <a:ext cx="1238701" cy="187523"/>
          </a:xfrm>
          <a:prstGeom prst="rect">
            <a:avLst/>
          </a:prstGeom>
          <a:noFill/>
          <a:ln w="0">
            <a:noFill/>
          </a:ln>
        </p:spPr>
        <p:txBody>
          <a:bodyPr wrap="none" lIns="0" tIns="0" rIns="0" bIns="0" anchor="t">
            <a:noAutofit/>
          </a:bodyPr>
          <a:lstStyle>
            <a:defPPr>
              <a:defRPr sz="1181" b="0" i="0">
                <a:solidFill>
                  <a:srgbClr val="0B0B0B"/>
                </a:solidFill>
                <a:latin typeface="Arial"/>
                <a:ea typeface="Arial"/>
                <a:cs typeface="Arial"/>
              </a:defRPr>
            </a:defPPr>
          </a:lstStyle>
          <a:p>
            <a:pPr>
              <a:defRPr sz="1181" b="0" i="0">
                <a:solidFill>
                  <a:srgbClr val="0B0B0B"/>
                </a:solidFill>
                <a:latin typeface="Arial"/>
                <a:ea typeface="Arial"/>
                <a:cs typeface="Arial"/>
              </a:defRPr>
            </a:pPr>
            <a:r>
              <a:rPr sz="1181" b="0" i="0">
                <a:solidFill>
                  <a:srgbClr val="0B0B0B"/>
                </a:solidFill>
                <a:latin typeface="Arial"/>
                <a:ea typeface="Arial"/>
                <a:cs typeface="Arial"/>
              </a:rPr>
              <a:t>midiendo margen.</a:t>
            </a:r>
          </a:p>
        </p:txBody>
      </p:sp>
      <p:sp>
        <p:nvSpPr>
          <p:cNvPr id="16" name="text-14-14">
            <a:extLst>
              <a:ext uri="{FF2B5EF4-FFF2-40B4-BE49-F238E27FC236}">
                <a16:creationId xmlns:a16="http://schemas.microsoft.com/office/drawing/2014/main" id="{082C56A5-4130-4144-9108-5DB51DBA2D7E}"/>
              </a:ext>
            </a:extLst>
          </p:cNvPr>
          <p:cNvSpPr>
            <a:spLocks noGrp="1"/>
          </p:cNvSpPr>
          <p:nvPr/>
        </p:nvSpPr>
        <p:spPr>
          <a:xfrm>
            <a:off x="6218634" y="2063790"/>
            <a:ext cx="2117786" cy="178594"/>
          </a:xfrm>
          <a:prstGeom prst="rect">
            <a:avLst/>
          </a:prstGeom>
          <a:noFill/>
          <a:ln w="0">
            <a:noFill/>
          </a:ln>
        </p:spPr>
        <p:txBody>
          <a:bodyPr wrap="none" lIns="0" tIns="0" rIns="0" bIns="0" anchor="t">
            <a:noAutofit/>
          </a:bodyPr>
          <a:lstStyle>
            <a:defPPr>
              <a:defRPr sz="1125" b="1" i="0">
                <a:solidFill>
                  <a:srgbClr val="DC0A1E"/>
                </a:solidFill>
                <a:latin typeface="Arial"/>
                <a:ea typeface="Arial"/>
                <a:cs typeface="Arial"/>
              </a:defRPr>
            </a:defPPr>
          </a:lstStyle>
          <a:p>
            <a:pPr>
              <a:defRPr sz="1125" b="1" i="0">
                <a:solidFill>
                  <a:srgbClr val="DC0A1E"/>
                </a:solidFill>
                <a:latin typeface="Arial"/>
                <a:ea typeface="Arial"/>
                <a:cs typeface="Arial"/>
              </a:defRPr>
            </a:pPr>
            <a:r>
              <a:rPr sz="1125" b="1" i="0">
                <a:solidFill>
                  <a:srgbClr val="DC0A1E"/>
                </a:solidFill>
                <a:latin typeface="Arial"/>
                <a:ea typeface="Arial"/>
                <a:cs typeface="Arial"/>
              </a:rPr>
              <a:t>03 / INTEGRACIÓN BANCARIA</a:t>
            </a:r>
          </a:p>
        </p:txBody>
      </p:sp>
      <p:sp>
        <p:nvSpPr>
          <p:cNvPr id="17" name="text-14-15">
            <a:extLst>
              <a:ext uri="{FF2B5EF4-FFF2-40B4-BE49-F238E27FC236}">
                <a16:creationId xmlns:a16="http://schemas.microsoft.com/office/drawing/2014/main" id="{F1060E4A-A3F8-46AF-B7BB-EC53AA2D7FD7}"/>
              </a:ext>
            </a:extLst>
          </p:cNvPr>
          <p:cNvSpPr>
            <a:spLocks noGrp="1"/>
          </p:cNvSpPr>
          <p:nvPr/>
        </p:nvSpPr>
        <p:spPr>
          <a:xfrm>
            <a:off x="6218634" y="2403607"/>
            <a:ext cx="2237235" cy="232172"/>
          </a:xfrm>
          <a:prstGeom prst="rect">
            <a:avLst/>
          </a:prstGeom>
          <a:noFill/>
          <a:ln w="0">
            <a:noFill/>
          </a:ln>
        </p:spPr>
        <p:txBody>
          <a:bodyPr wrap="none" lIns="0" tIns="0" rIns="0" bIns="0" anchor="t">
            <a:noAutofit/>
          </a:bodyPr>
          <a:lstStyle>
            <a:defPPr>
              <a:defRPr sz="1463" b="0" i="0">
                <a:solidFill>
                  <a:srgbClr val="0B0B0B"/>
                </a:solidFill>
                <a:latin typeface="Arial"/>
                <a:ea typeface="Arial"/>
                <a:cs typeface="Arial"/>
              </a:defRPr>
            </a:defPPr>
          </a:lstStyle>
          <a:p>
            <a:pPr>
              <a:defRPr sz="1463" b="0" i="0">
                <a:solidFill>
                  <a:srgbClr val="0B0B0B"/>
                </a:solidFill>
                <a:latin typeface="Arial"/>
                <a:ea typeface="Arial"/>
                <a:cs typeface="Arial"/>
              </a:defRPr>
            </a:pPr>
            <a:r>
              <a:rPr sz="1463" b="0" i="0">
                <a:solidFill>
                  <a:srgbClr val="0B0B0B"/>
                </a:solidFill>
                <a:latin typeface="Arial"/>
                <a:ea typeface="Arial"/>
                <a:cs typeface="Arial"/>
              </a:rPr>
              <a:t>Evaluar un banco o fintech</a:t>
            </a:r>
          </a:p>
        </p:txBody>
      </p:sp>
      <p:sp>
        <p:nvSpPr>
          <p:cNvPr id="18" name="text-14-16">
            <a:extLst>
              <a:ext uri="{FF2B5EF4-FFF2-40B4-BE49-F238E27FC236}">
                <a16:creationId xmlns:a16="http://schemas.microsoft.com/office/drawing/2014/main" id="{DA95949B-50CF-4F89-855F-CC675FB4F42F}"/>
              </a:ext>
            </a:extLst>
          </p:cNvPr>
          <p:cNvSpPr>
            <a:spLocks noGrp="1"/>
          </p:cNvSpPr>
          <p:nvPr/>
        </p:nvSpPr>
        <p:spPr>
          <a:xfrm>
            <a:off x="6218634" y="2675069"/>
            <a:ext cx="1855239" cy="232172"/>
          </a:xfrm>
          <a:prstGeom prst="rect">
            <a:avLst/>
          </a:prstGeom>
          <a:noFill/>
          <a:ln w="0">
            <a:noFill/>
          </a:ln>
        </p:spPr>
        <p:txBody>
          <a:bodyPr wrap="none" lIns="0" tIns="0" rIns="0" bIns="0" anchor="t">
            <a:noAutofit/>
          </a:bodyPr>
          <a:lstStyle>
            <a:defPPr>
              <a:defRPr sz="1463" b="0" i="0">
                <a:solidFill>
                  <a:srgbClr val="0B0B0B"/>
                </a:solidFill>
                <a:latin typeface="Arial"/>
                <a:ea typeface="Arial"/>
                <a:cs typeface="Arial"/>
              </a:defRPr>
            </a:defPPr>
          </a:lstStyle>
          <a:p>
            <a:pPr>
              <a:defRPr sz="1463" b="0" i="0">
                <a:solidFill>
                  <a:srgbClr val="0B0B0B"/>
                </a:solidFill>
                <a:latin typeface="Arial"/>
                <a:ea typeface="Arial"/>
                <a:cs typeface="Arial"/>
              </a:defRPr>
            </a:pPr>
            <a:r>
              <a:rPr sz="1463" b="0" i="0">
                <a:solidFill>
                  <a:srgbClr val="0B0B0B"/>
                </a:solidFill>
                <a:latin typeface="Arial"/>
                <a:ea typeface="Arial"/>
                <a:cs typeface="Arial"/>
              </a:rPr>
              <a:t>para conciliar y pagar.</a:t>
            </a:r>
          </a:p>
        </p:txBody>
      </p:sp>
      <p:sp>
        <p:nvSpPr>
          <p:cNvPr id="19" name="text-14-17">
            <a:extLst>
              <a:ext uri="{FF2B5EF4-FFF2-40B4-BE49-F238E27FC236}">
                <a16:creationId xmlns:a16="http://schemas.microsoft.com/office/drawing/2014/main" id="{919A5692-03E9-429B-BEBA-41F3418A5046}"/>
              </a:ext>
            </a:extLst>
          </p:cNvPr>
          <p:cNvSpPr>
            <a:spLocks noGrp="1"/>
          </p:cNvSpPr>
          <p:nvPr/>
        </p:nvSpPr>
        <p:spPr>
          <a:xfrm>
            <a:off x="6218634" y="3064592"/>
            <a:ext cx="2322738" cy="187523"/>
          </a:xfrm>
          <a:prstGeom prst="rect">
            <a:avLst/>
          </a:prstGeom>
          <a:noFill/>
          <a:ln w="0">
            <a:noFill/>
          </a:ln>
        </p:spPr>
        <p:txBody>
          <a:bodyPr wrap="none" lIns="0" tIns="0" rIns="0" bIns="0" anchor="t">
            <a:noAutofit/>
          </a:bodyPr>
          <a:lstStyle>
            <a:defPPr>
              <a:defRPr sz="1181" b="0" i="0">
                <a:solidFill>
                  <a:srgbClr val="0B0B0B"/>
                </a:solidFill>
                <a:latin typeface="Arial"/>
                <a:ea typeface="Arial"/>
                <a:cs typeface="Arial"/>
              </a:defRPr>
            </a:defPPr>
          </a:lstStyle>
          <a:p>
            <a:pPr>
              <a:defRPr sz="1181" b="0" i="0">
                <a:solidFill>
                  <a:srgbClr val="0B0B0B"/>
                </a:solidFill>
                <a:latin typeface="Arial"/>
                <a:ea typeface="Arial"/>
                <a:cs typeface="Arial"/>
              </a:defRPr>
            </a:pPr>
            <a:r>
              <a:rPr sz="1181" b="0" i="0">
                <a:solidFill>
                  <a:srgbClr val="0B0B0B"/>
                </a:solidFill>
                <a:latin typeface="Arial"/>
                <a:ea typeface="Arial"/>
                <a:cs typeface="Arial"/>
              </a:rPr>
              <a:t>Automatización sujeta a controles.</a:t>
            </a:r>
          </a:p>
        </p:txBody>
      </p:sp>
      <p:sp>
        <p:nvSpPr>
          <p:cNvPr id="20" name="text-14-18">
            <a:extLst>
              <a:ext uri="{FF2B5EF4-FFF2-40B4-BE49-F238E27FC236}">
                <a16:creationId xmlns:a16="http://schemas.microsoft.com/office/drawing/2014/main" id="{ACC29D32-DD65-4654-BEC3-08958FB8C381}"/>
              </a:ext>
            </a:extLst>
          </p:cNvPr>
          <p:cNvSpPr>
            <a:spLocks noGrp="1"/>
          </p:cNvSpPr>
          <p:nvPr/>
        </p:nvSpPr>
        <p:spPr>
          <a:xfrm>
            <a:off x="532209" y="4024561"/>
            <a:ext cx="4574025" cy="223242"/>
          </a:xfrm>
          <a:prstGeom prst="rect">
            <a:avLst/>
          </a:prstGeom>
          <a:noFill/>
          <a:ln w="0">
            <a:noFill/>
          </a:ln>
        </p:spPr>
        <p:txBody>
          <a:bodyPr wrap="none" lIns="0" tIns="0" rIns="0" bIns="0" anchor="t">
            <a:noAutofit/>
          </a:bodyPr>
          <a:lstStyle>
            <a:defPPr>
              <a:defRPr sz="1406" b="0" i="0">
                <a:solidFill>
                  <a:srgbClr val="0B0B0B"/>
                </a:solidFill>
                <a:latin typeface="Arial"/>
                <a:ea typeface="Arial"/>
                <a:cs typeface="Arial"/>
              </a:defRPr>
            </a:defPPr>
          </a:lstStyle>
          <a:p>
            <a:pPr>
              <a:defRPr sz="1406" b="0" i="0">
                <a:solidFill>
                  <a:srgbClr val="0B0B0B"/>
                </a:solidFill>
                <a:latin typeface="Arial"/>
                <a:ea typeface="Arial"/>
                <a:cs typeface="Arial"/>
              </a:defRPr>
            </a:pPr>
            <a:r>
              <a:rPr sz="1406" b="0" i="0">
                <a:solidFill>
                  <a:srgbClr val="0B0B0B"/>
                </a:solidFill>
                <a:latin typeface="Arial"/>
                <a:ea typeface="Arial"/>
                <a:cs typeface="Arial"/>
              </a:rPr>
              <a:t>Primero medir el piloto. Después ampliar lo que funcione.</a:t>
            </a:r>
          </a:p>
        </p:txBody>
      </p:sp>
      <p:sp>
        <p:nvSpPr>
          <p:cNvPr id="21" name="text-14-19">
            <a:extLst>
              <a:ext uri="{FF2B5EF4-FFF2-40B4-BE49-F238E27FC236}">
                <a16:creationId xmlns:a16="http://schemas.microsoft.com/office/drawing/2014/main" id="{9E05584F-099B-4D34-B8A4-EAB9BABBAF3A}"/>
              </a:ext>
            </a:extLst>
          </p:cNvPr>
          <p:cNvSpPr>
            <a:spLocks noGrp="1"/>
          </p:cNvSpPr>
          <p:nvPr/>
        </p:nvSpPr>
        <p:spPr>
          <a:xfrm>
            <a:off x="532209" y="4603582"/>
            <a:ext cx="6405072" cy="133945"/>
          </a:xfrm>
          <a:prstGeom prst="rect">
            <a:avLst/>
          </a:prstGeom>
          <a:noFill/>
          <a:ln w="0">
            <a:noFill/>
          </a:ln>
        </p:spPr>
        <p:txBody>
          <a:bodyPr wrap="none" lIns="0" tIns="0" rIns="0" bIns="0" anchor="t">
            <a:noAutofit/>
          </a:bodyPr>
          <a:lstStyle>
            <a:defPPr>
              <a:defRPr sz="844" b="0" i="0">
                <a:solidFill>
                  <a:srgbClr val="0B0B0B"/>
                </a:solidFill>
                <a:latin typeface="Arial"/>
                <a:ea typeface="Arial"/>
                <a:cs typeface="Arial"/>
              </a:defRPr>
            </a:defPPr>
          </a:lstStyle>
          <a:p>
            <a:pPr>
              <a:defRPr sz="844" b="0" i="0">
                <a:solidFill>
                  <a:srgbClr val="0B0B0B"/>
                </a:solidFill>
                <a:latin typeface="Arial"/>
                <a:ea typeface="Arial"/>
                <a:cs typeface="Arial"/>
              </a:defRPr>
            </a:pPr>
            <a:r>
              <a:rPr sz="844" b="0" i="0">
                <a:solidFill>
                  <a:srgbClr val="0B0B0B"/>
                </a:solidFill>
                <a:latin typeface="Arial"/>
                <a:ea typeface="Arial"/>
                <a:cs typeface="Arial"/>
              </a:rPr>
              <a:t>Próxima iteración: formularios y mensajes agrupados para optimizar costo. Flow nativo sujeto a Meta. Identidad y módulos por validar.</a:t>
            </a:r>
          </a:p>
        </p:txBody>
      </p:sp>
      <p:sp>
        <p:nvSpPr>
          <p:cNvPr id="22" name="text-14-20">
            <a:extLst>
              <a:ext uri="{FF2B5EF4-FFF2-40B4-BE49-F238E27FC236}">
                <a16:creationId xmlns:a16="http://schemas.microsoft.com/office/drawing/2014/main" id="{7D381988-722C-4C42-A3C9-7800423CDB5C}"/>
              </a:ext>
            </a:extLst>
          </p:cNvPr>
          <p:cNvSpPr>
            <a:spLocks noGrp="1"/>
          </p:cNvSpPr>
          <p:nvPr/>
        </p:nvSpPr>
        <p:spPr>
          <a:xfrm>
            <a:off x="532209" y="4923697"/>
            <a:ext cx="1607335"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PRÓXIMOS PASOS / OMNI by 5.5</a:t>
            </a:r>
          </a:p>
        </p:txBody>
      </p:sp>
      <p:sp>
        <p:nvSpPr>
          <p:cNvPr id="23" name="text-14-21">
            <a:extLst>
              <a:ext uri="{FF2B5EF4-FFF2-40B4-BE49-F238E27FC236}">
                <a16:creationId xmlns:a16="http://schemas.microsoft.com/office/drawing/2014/main" id="{B53DA2B1-5DDB-4A1C-98A2-102CC8A5EF47}"/>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14 / 5.5</a:t>
            </a:r>
          </a:p>
        </p:txBody>
      </p:sp>
    </p:spTree>
    <p:extLst>
      <p:ext uri="{BB962C8B-B14F-4D97-AF65-F5344CB8AC3E}">
        <p14:creationId xmlns:p14="http://schemas.microsoft.com/office/powerpoint/2010/main" val="6348898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E35ACE14-52C5-40B6-BA66-F165517897CB}"/>
              </a:ext>
            </a:extLst>
          </p:cNvPr>
          <p:cNvPicPr>
            <a:picLocks noChangeAspect="1"/>
          </p:cNvPicPr>
          <p:nvPr/>
        </p:nvPicPr>
        <p:blipFill>
          <a:blip r:embed="rId3"/>
          <a:stretch/>
        </p:blipFill>
        <p:spPr>
          <a:xfrm>
            <a:off x="0" y="0"/>
            <a:ext cx="9324594" cy="5248656"/>
          </a:xfrm>
          <a:prstGeom prst="rect">
            <a:avLst/>
          </a:prstGeom>
        </p:spPr>
      </p:pic>
      <p:sp>
        <p:nvSpPr>
          <p:cNvPr id="2" name="text-15-0">
            <a:extLst>
              <a:ext uri="{FF2B5EF4-FFF2-40B4-BE49-F238E27FC236}">
                <a16:creationId xmlns:a16="http://schemas.microsoft.com/office/drawing/2014/main" id="{401ABD2A-704A-4F7F-A8BC-401FC18D0775}"/>
              </a:ext>
            </a:extLst>
          </p:cNvPr>
          <p:cNvSpPr>
            <a:spLocks noGrp="1"/>
          </p:cNvSpPr>
          <p:nvPr/>
        </p:nvSpPr>
        <p:spPr>
          <a:xfrm>
            <a:off x="532209" y="382979"/>
            <a:ext cx="568392"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CIERRE</a:t>
            </a:r>
          </a:p>
        </p:txBody>
      </p:sp>
      <p:sp>
        <p:nvSpPr>
          <p:cNvPr id="3" name="text-15-1">
            <a:extLst>
              <a:ext uri="{FF2B5EF4-FFF2-40B4-BE49-F238E27FC236}">
                <a16:creationId xmlns:a16="http://schemas.microsoft.com/office/drawing/2014/main" id="{225B6A51-594D-4D48-B0D6-D72FCED85AFC}"/>
              </a:ext>
            </a:extLst>
          </p:cNvPr>
          <p:cNvSpPr>
            <a:spLocks noGrp="1"/>
          </p:cNvSpPr>
          <p:nvPr/>
        </p:nvSpPr>
        <p:spPr>
          <a:xfrm>
            <a:off x="532209" y="650193"/>
            <a:ext cx="3829317" cy="1000125"/>
          </a:xfrm>
          <a:prstGeom prst="rect">
            <a:avLst/>
          </a:prstGeom>
          <a:noFill/>
          <a:ln w="0">
            <a:noFill/>
          </a:ln>
        </p:spPr>
        <p:txBody>
          <a:bodyPr wrap="none" lIns="0" tIns="0" rIns="0" bIns="0" anchor="t">
            <a:noAutofit/>
          </a:bodyPr>
          <a:lstStyle>
            <a:defPPr>
              <a:defRPr sz="6300" b="0" i="0">
                <a:solidFill>
                  <a:srgbClr val="F5F0E8"/>
                </a:solidFill>
                <a:latin typeface="Impact"/>
                <a:ea typeface="Impact"/>
                <a:cs typeface="Impact"/>
              </a:defRPr>
            </a:defPPr>
          </a:lstStyle>
          <a:p>
            <a:pPr>
              <a:defRPr sz="6300" b="0" i="0">
                <a:solidFill>
                  <a:srgbClr val="F5F0E8"/>
                </a:solidFill>
                <a:latin typeface="Impact"/>
                <a:ea typeface="Impact"/>
                <a:cs typeface="Impact"/>
              </a:defRPr>
            </a:pPr>
            <a:r>
              <a:rPr sz="6300" b="0" i="0">
                <a:solidFill>
                  <a:srgbClr val="F5F0E8"/>
                </a:solidFill>
                <a:latin typeface="Impact"/>
                <a:ea typeface="Impact"/>
                <a:cs typeface="Impact"/>
              </a:rPr>
              <a:t>QUE LLEGUEN</a:t>
            </a:r>
          </a:p>
        </p:txBody>
      </p:sp>
      <p:sp>
        <p:nvSpPr>
          <p:cNvPr id="4" name="text-15-2">
            <a:extLst>
              <a:ext uri="{FF2B5EF4-FFF2-40B4-BE49-F238E27FC236}">
                <a16:creationId xmlns:a16="http://schemas.microsoft.com/office/drawing/2014/main" id="{19C4B865-041E-44DD-862D-FADE2D134A3F}"/>
              </a:ext>
            </a:extLst>
          </p:cNvPr>
          <p:cNvSpPr>
            <a:spLocks noGrp="1"/>
          </p:cNvSpPr>
          <p:nvPr/>
        </p:nvSpPr>
        <p:spPr>
          <a:xfrm>
            <a:off x="532209" y="1486012"/>
            <a:ext cx="4089115" cy="1000125"/>
          </a:xfrm>
          <a:prstGeom prst="rect">
            <a:avLst/>
          </a:prstGeom>
          <a:noFill/>
          <a:ln w="0">
            <a:noFill/>
          </a:ln>
        </p:spPr>
        <p:txBody>
          <a:bodyPr wrap="none" lIns="0" tIns="0" rIns="0" bIns="0" anchor="t">
            <a:noAutofit/>
          </a:bodyPr>
          <a:lstStyle>
            <a:defPPr>
              <a:defRPr sz="6300" b="0" i="0">
                <a:solidFill>
                  <a:srgbClr val="F5F0E8"/>
                </a:solidFill>
                <a:latin typeface="Impact"/>
                <a:ea typeface="Impact"/>
                <a:cs typeface="Impact"/>
              </a:defRPr>
            </a:defPPr>
          </a:lstStyle>
          <a:p>
            <a:pPr>
              <a:defRPr sz="6300" b="0" i="0">
                <a:solidFill>
                  <a:srgbClr val="F5F0E8"/>
                </a:solidFill>
                <a:latin typeface="Impact"/>
                <a:ea typeface="Impact"/>
                <a:cs typeface="Impact"/>
              </a:defRPr>
            </a:pPr>
            <a:r>
              <a:rPr sz="6300" b="0" i="0">
                <a:solidFill>
                  <a:srgbClr val="F5F0E8"/>
                </a:solidFill>
                <a:latin typeface="Impact"/>
                <a:ea typeface="Impact"/>
                <a:cs typeface="Impact"/>
              </a:rPr>
              <a:t>QUE AVANCEN</a:t>
            </a:r>
          </a:p>
        </p:txBody>
      </p:sp>
      <p:sp>
        <p:nvSpPr>
          <p:cNvPr id="5" name="text-15-3">
            <a:extLst>
              <a:ext uri="{FF2B5EF4-FFF2-40B4-BE49-F238E27FC236}">
                <a16:creationId xmlns:a16="http://schemas.microsoft.com/office/drawing/2014/main" id="{12615C80-241A-4AD1-94D0-C695E85E1A4B}"/>
              </a:ext>
            </a:extLst>
          </p:cNvPr>
          <p:cNvSpPr>
            <a:spLocks noGrp="1"/>
          </p:cNvSpPr>
          <p:nvPr/>
        </p:nvSpPr>
        <p:spPr>
          <a:xfrm>
            <a:off x="532209" y="2314687"/>
            <a:ext cx="3951207" cy="1000125"/>
          </a:xfrm>
          <a:prstGeom prst="rect">
            <a:avLst/>
          </a:prstGeom>
          <a:noFill/>
          <a:ln w="0">
            <a:noFill/>
          </a:ln>
        </p:spPr>
        <p:txBody>
          <a:bodyPr wrap="none" lIns="0" tIns="0" rIns="0" bIns="0" anchor="t">
            <a:noAutofit/>
          </a:bodyPr>
          <a:lstStyle>
            <a:defPPr>
              <a:defRPr sz="6300" b="0" i="0">
                <a:solidFill>
                  <a:srgbClr val="F5F0E8"/>
                </a:solidFill>
                <a:latin typeface="Impact"/>
                <a:ea typeface="Impact"/>
                <a:cs typeface="Impact"/>
              </a:defRPr>
            </a:defPPr>
          </a:lstStyle>
          <a:p>
            <a:pPr>
              <a:defRPr sz="6300" b="0" i="0">
                <a:solidFill>
                  <a:srgbClr val="F5F0E8"/>
                </a:solidFill>
                <a:latin typeface="Impact"/>
                <a:ea typeface="Impact"/>
                <a:cs typeface="Impact"/>
              </a:defRPr>
            </a:pPr>
            <a:r>
              <a:rPr sz="6300" b="0" i="0">
                <a:solidFill>
                  <a:srgbClr val="F5F0E8"/>
                </a:solidFill>
                <a:latin typeface="Impact"/>
                <a:ea typeface="Impact"/>
                <a:cs typeface="Impact"/>
              </a:rPr>
              <a:t>QUE VUELVAN</a:t>
            </a:r>
          </a:p>
        </p:txBody>
      </p:sp>
      <p:sp>
        <p:nvSpPr>
          <p:cNvPr id="6" name="text-15-4">
            <a:extLst>
              <a:ext uri="{FF2B5EF4-FFF2-40B4-BE49-F238E27FC236}">
                <a16:creationId xmlns:a16="http://schemas.microsoft.com/office/drawing/2014/main" id="{7BE9326B-D7BA-4966-AC89-75FCCB87BA72}"/>
              </a:ext>
            </a:extLst>
          </p:cNvPr>
          <p:cNvSpPr>
            <a:spLocks noGrp="1"/>
          </p:cNvSpPr>
          <p:nvPr/>
        </p:nvSpPr>
        <p:spPr>
          <a:xfrm>
            <a:off x="532209" y="3489527"/>
            <a:ext cx="1010650" cy="535781"/>
          </a:xfrm>
          <a:prstGeom prst="rect">
            <a:avLst/>
          </a:prstGeom>
          <a:noFill/>
          <a:ln w="0">
            <a:noFill/>
          </a:ln>
        </p:spPr>
        <p:txBody>
          <a:bodyPr wrap="none" lIns="0" tIns="0" rIns="0" bIns="0" anchor="t">
            <a:noAutofit/>
          </a:bodyPr>
          <a:lstStyle>
            <a:defPPr>
              <a:defRPr sz="3375" b="0" i="0">
                <a:solidFill>
                  <a:srgbClr val="F5F0E8"/>
                </a:solidFill>
                <a:latin typeface="Impact"/>
                <a:ea typeface="Impact"/>
                <a:cs typeface="Impact"/>
              </a:defRPr>
            </a:defPPr>
          </a:lstStyle>
          <a:p>
            <a:pPr>
              <a:defRPr sz="3375" b="0" i="0">
                <a:solidFill>
                  <a:srgbClr val="F5F0E8"/>
                </a:solidFill>
                <a:latin typeface="Impact"/>
                <a:ea typeface="Impact"/>
                <a:cs typeface="Impact"/>
              </a:defRPr>
            </a:pPr>
            <a:r>
              <a:rPr sz="3375" b="0" i="0">
                <a:solidFill>
                  <a:srgbClr val="F5F0E8"/>
                </a:solidFill>
                <a:latin typeface="Impact"/>
                <a:ea typeface="Impact"/>
                <a:cs typeface="Impact"/>
              </a:rPr>
              <a:t>OMNI </a:t>
            </a:r>
          </a:p>
        </p:txBody>
      </p:sp>
      <p:sp>
        <p:nvSpPr>
          <p:cNvPr id="7" name="text-15-5">
            <a:extLst>
              <a:ext uri="{FF2B5EF4-FFF2-40B4-BE49-F238E27FC236}">
                <a16:creationId xmlns:a16="http://schemas.microsoft.com/office/drawing/2014/main" id="{FE3FF70B-4DA9-4E62-98A0-24A443B75BA5}"/>
              </a:ext>
            </a:extLst>
          </p:cNvPr>
          <p:cNvSpPr>
            <a:spLocks noGrp="1"/>
          </p:cNvSpPr>
          <p:nvPr/>
        </p:nvSpPr>
        <p:spPr>
          <a:xfrm>
            <a:off x="1504876" y="3734374"/>
            <a:ext cx="602428" cy="258961"/>
          </a:xfrm>
          <a:prstGeom prst="rect">
            <a:avLst/>
          </a:prstGeom>
          <a:noFill/>
          <a:ln w="0">
            <a:noFill/>
          </a:ln>
        </p:spPr>
        <p:txBody>
          <a:bodyPr wrap="none" lIns="0" tIns="0" rIns="0" bIns="0" anchor="t">
            <a:noAutofit/>
          </a:bodyPr>
          <a:lstStyle>
            <a:defPPr>
              <a:defRPr sz="1631" b="0" i="0">
                <a:solidFill>
                  <a:srgbClr val="F5F0E8"/>
                </a:solidFill>
                <a:latin typeface="Arial"/>
                <a:ea typeface="Arial"/>
                <a:cs typeface="Arial"/>
              </a:defRPr>
            </a:defPPr>
          </a:lstStyle>
          <a:p>
            <a:pPr>
              <a:defRPr sz="1631" b="0" i="0">
                <a:solidFill>
                  <a:srgbClr val="F5F0E8"/>
                </a:solidFill>
                <a:latin typeface="Arial"/>
                <a:ea typeface="Arial"/>
                <a:cs typeface="Arial"/>
              </a:defRPr>
            </a:pPr>
            <a:r>
              <a:rPr sz="1631" b="0" i="0">
                <a:solidFill>
                  <a:srgbClr val="F5F0E8"/>
                </a:solidFill>
                <a:latin typeface="Arial"/>
                <a:ea typeface="Arial"/>
                <a:cs typeface="Arial"/>
              </a:rPr>
              <a:t>by 5.5</a:t>
            </a:r>
          </a:p>
        </p:txBody>
      </p:sp>
      <p:sp>
        <p:nvSpPr>
          <p:cNvPr id="8" name="text-15-6">
            <a:extLst>
              <a:ext uri="{FF2B5EF4-FFF2-40B4-BE49-F238E27FC236}">
                <a16:creationId xmlns:a16="http://schemas.microsoft.com/office/drawing/2014/main" id="{CC7FF450-625E-4505-8C90-DF869E04D37D}"/>
              </a:ext>
            </a:extLst>
          </p:cNvPr>
          <p:cNvSpPr>
            <a:spLocks noGrp="1"/>
          </p:cNvSpPr>
          <p:nvPr/>
        </p:nvSpPr>
        <p:spPr>
          <a:xfrm>
            <a:off x="532209" y="4238874"/>
            <a:ext cx="5384257" cy="223242"/>
          </a:xfrm>
          <a:prstGeom prst="rect">
            <a:avLst/>
          </a:prstGeom>
          <a:noFill/>
          <a:ln w="0">
            <a:noFill/>
          </a:ln>
        </p:spPr>
        <p:txBody>
          <a:bodyPr wrap="none" lIns="0" tIns="0" rIns="0" bIns="0" anchor="t">
            <a:noAutofit/>
          </a:bodyPr>
          <a:lstStyle>
            <a:defPPr>
              <a:defRPr sz="1406" b="0" i="0">
                <a:solidFill>
                  <a:srgbClr val="F5F0E8"/>
                </a:solidFill>
                <a:latin typeface="Arial"/>
                <a:ea typeface="Arial"/>
                <a:cs typeface="Arial"/>
              </a:defRPr>
            </a:defPPr>
          </a:lstStyle>
          <a:p>
            <a:pPr>
              <a:defRPr sz="1406" b="0" i="0">
                <a:solidFill>
                  <a:srgbClr val="F5F0E8"/>
                </a:solidFill>
                <a:latin typeface="Arial"/>
                <a:ea typeface="Arial"/>
                <a:cs typeface="Arial"/>
              </a:defRPr>
            </a:pPr>
            <a:r>
              <a:rPr sz="1406" b="0" i="0">
                <a:solidFill>
                  <a:srgbClr val="F5F0E8"/>
                </a:solidFill>
                <a:latin typeface="Arial"/>
                <a:ea typeface="Arial"/>
                <a:cs typeface="Arial"/>
              </a:rPr>
              <a:t>WhatsApp + web + iOS + Android. Un proceso que se puede medir.</a:t>
            </a:r>
          </a:p>
        </p:txBody>
      </p:sp>
      <p:sp>
        <p:nvSpPr>
          <p:cNvPr id="9" name="text-15-7">
            <a:extLst>
              <a:ext uri="{FF2B5EF4-FFF2-40B4-BE49-F238E27FC236}">
                <a16:creationId xmlns:a16="http://schemas.microsoft.com/office/drawing/2014/main" id="{E64383A6-5EA6-49AC-877B-5878ECAED674}"/>
              </a:ext>
            </a:extLst>
          </p:cNvPr>
          <p:cNvSpPr>
            <a:spLocks noGrp="1"/>
          </p:cNvSpPr>
          <p:nvPr/>
        </p:nvSpPr>
        <p:spPr>
          <a:xfrm>
            <a:off x="532209" y="4923697"/>
            <a:ext cx="1079364"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CIERRE / OMNI by 5.5</a:t>
            </a:r>
          </a:p>
        </p:txBody>
      </p:sp>
      <p:sp>
        <p:nvSpPr>
          <p:cNvPr id="10" name="text-15-8">
            <a:extLst>
              <a:ext uri="{FF2B5EF4-FFF2-40B4-BE49-F238E27FC236}">
                <a16:creationId xmlns:a16="http://schemas.microsoft.com/office/drawing/2014/main" id="{5CD86228-3A94-487A-907B-F4492C7EF75F}"/>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15 / 5.5</a:t>
            </a:r>
          </a:p>
        </p:txBody>
      </p:sp>
    </p:spTree>
    <p:extLst>
      <p:ext uri="{BB962C8B-B14F-4D97-AF65-F5344CB8AC3E}">
        <p14:creationId xmlns:p14="http://schemas.microsoft.com/office/powerpoint/2010/main" val="26585839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Imagen 7">
            <a:extLst>
              <a:ext uri="{FF2B5EF4-FFF2-40B4-BE49-F238E27FC236}">
                <a16:creationId xmlns:a16="http://schemas.microsoft.com/office/drawing/2014/main" id="{685B7D13-090C-4B58-969D-51F5BDB006C8}"/>
              </a:ext>
            </a:extLst>
          </p:cNvPr>
          <p:cNvPicPr>
            <a:picLocks noChangeAspect="1"/>
          </p:cNvPicPr>
          <p:nvPr/>
        </p:nvPicPr>
        <p:blipFill>
          <a:blip r:embed="rId3"/>
          <a:stretch/>
        </p:blipFill>
        <p:spPr>
          <a:xfrm>
            <a:off x="0" y="0"/>
            <a:ext cx="9324594" cy="5248656"/>
          </a:xfrm>
          <a:prstGeom prst="rect">
            <a:avLst/>
          </a:prstGeom>
        </p:spPr>
      </p:pic>
      <p:sp>
        <p:nvSpPr>
          <p:cNvPr id="2" name="text-16-0">
            <a:extLst>
              <a:ext uri="{FF2B5EF4-FFF2-40B4-BE49-F238E27FC236}">
                <a16:creationId xmlns:a16="http://schemas.microsoft.com/office/drawing/2014/main" id="{66F86C0E-546A-4AAB-8033-C68BD8D466A8}"/>
              </a:ext>
            </a:extLst>
          </p:cNvPr>
          <p:cNvSpPr>
            <a:spLocks noGrp="1"/>
          </p:cNvSpPr>
          <p:nvPr/>
        </p:nvSpPr>
        <p:spPr>
          <a:xfrm>
            <a:off x="532209" y="382979"/>
            <a:ext cx="1436909"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AGRADECIMIENTOS</a:t>
            </a:r>
          </a:p>
        </p:txBody>
      </p:sp>
      <p:sp>
        <p:nvSpPr>
          <p:cNvPr id="3" name="text-16-1">
            <a:extLst>
              <a:ext uri="{FF2B5EF4-FFF2-40B4-BE49-F238E27FC236}">
                <a16:creationId xmlns:a16="http://schemas.microsoft.com/office/drawing/2014/main" id="{5B4BA737-FFDB-4B1A-992F-64217233ECE1}"/>
              </a:ext>
            </a:extLst>
          </p:cNvPr>
          <p:cNvSpPr>
            <a:spLocks noGrp="1"/>
          </p:cNvSpPr>
          <p:nvPr/>
        </p:nvSpPr>
        <p:spPr>
          <a:xfrm>
            <a:off x="532209" y="650632"/>
            <a:ext cx="2550899" cy="937617"/>
          </a:xfrm>
          <a:prstGeom prst="rect">
            <a:avLst/>
          </a:prstGeom>
          <a:noFill/>
          <a:ln w="0">
            <a:noFill/>
          </a:ln>
        </p:spPr>
        <p:txBody>
          <a:bodyPr wrap="none" lIns="0" tIns="0" rIns="0" bIns="0" anchor="t">
            <a:noAutofit/>
          </a:bodyPr>
          <a:lstStyle>
            <a:defPPr>
              <a:defRPr sz="5906" b="0" i="0">
                <a:solidFill>
                  <a:srgbClr val="0B0B0B"/>
                </a:solidFill>
                <a:latin typeface="Impact"/>
                <a:ea typeface="Impact"/>
                <a:cs typeface="Impact"/>
              </a:defRPr>
            </a:defPPr>
          </a:lstStyle>
          <a:p>
            <a:pPr>
              <a:defRPr sz="5906" b="0" i="0">
                <a:solidFill>
                  <a:srgbClr val="0B0B0B"/>
                </a:solidFill>
                <a:latin typeface="Impact"/>
                <a:ea typeface="Impact"/>
                <a:cs typeface="Impact"/>
              </a:defRPr>
            </a:pPr>
            <a:r>
              <a:rPr sz="5906" b="0" i="0">
                <a:solidFill>
                  <a:srgbClr val="0B0B0B"/>
                </a:solidFill>
                <a:latin typeface="Impact"/>
                <a:ea typeface="Impact"/>
                <a:cs typeface="Impact"/>
              </a:rPr>
              <a:t>GRACIAS</a:t>
            </a:r>
          </a:p>
        </p:txBody>
      </p:sp>
      <p:sp>
        <p:nvSpPr>
          <p:cNvPr id="4" name="text-16-2">
            <a:extLst>
              <a:ext uri="{FF2B5EF4-FFF2-40B4-BE49-F238E27FC236}">
                <a16:creationId xmlns:a16="http://schemas.microsoft.com/office/drawing/2014/main" id="{D1C844E2-67F1-43C9-9F3B-72402DB34800}"/>
              </a:ext>
            </a:extLst>
          </p:cNvPr>
          <p:cNvSpPr>
            <a:spLocks noGrp="1"/>
          </p:cNvSpPr>
          <p:nvPr/>
        </p:nvSpPr>
        <p:spPr>
          <a:xfrm>
            <a:off x="532209" y="1883166"/>
            <a:ext cx="830593" cy="151805"/>
          </a:xfrm>
          <a:prstGeom prst="rect">
            <a:avLst/>
          </a:prstGeom>
          <a:noFill/>
          <a:ln w="0">
            <a:noFill/>
          </a:ln>
        </p:spPr>
        <p:txBody>
          <a:bodyPr wrap="none" lIns="0" tIns="0" rIns="0" bIns="0" anchor="t">
            <a:noAutofit/>
          </a:bodyPr>
          <a:lstStyle>
            <a:defPPr>
              <a:defRPr sz="956" b="1" i="0">
                <a:solidFill>
                  <a:srgbClr val="DC0A1E"/>
                </a:solidFill>
                <a:latin typeface="Arial"/>
                <a:ea typeface="Arial"/>
                <a:cs typeface="Arial"/>
              </a:defRPr>
            </a:defPPr>
          </a:lstStyle>
          <a:p>
            <a:pPr>
              <a:defRPr sz="956" b="1" i="0">
                <a:solidFill>
                  <a:srgbClr val="DC0A1E"/>
                </a:solidFill>
                <a:latin typeface="Arial"/>
                <a:ea typeface="Arial"/>
                <a:cs typeface="Arial"/>
              </a:defRPr>
            </a:pPr>
            <a:r>
              <a:rPr sz="956" b="1" i="0">
                <a:solidFill>
                  <a:srgbClr val="DC0A1E"/>
                </a:solidFill>
                <a:latin typeface="Arial"/>
                <a:ea typeface="Arial"/>
                <a:cs typeface="Arial"/>
              </a:rPr>
              <a:t>ORGANIZAN</a:t>
            </a:r>
          </a:p>
        </p:txBody>
      </p:sp>
      <p:sp>
        <p:nvSpPr>
          <p:cNvPr id="5" name="text-16-3">
            <a:extLst>
              <a:ext uri="{FF2B5EF4-FFF2-40B4-BE49-F238E27FC236}">
                <a16:creationId xmlns:a16="http://schemas.microsoft.com/office/drawing/2014/main" id="{0B2E9CE2-6716-4EEC-91C8-6BEEFA989F12}"/>
              </a:ext>
            </a:extLst>
          </p:cNvPr>
          <p:cNvSpPr>
            <a:spLocks noGrp="1"/>
          </p:cNvSpPr>
          <p:nvPr/>
        </p:nvSpPr>
        <p:spPr>
          <a:xfrm>
            <a:off x="532209" y="2568966"/>
            <a:ext cx="1533970" cy="151805"/>
          </a:xfrm>
          <a:prstGeom prst="rect">
            <a:avLst/>
          </a:prstGeom>
          <a:noFill/>
          <a:ln w="0">
            <a:noFill/>
          </a:ln>
        </p:spPr>
        <p:txBody>
          <a:bodyPr wrap="none" lIns="0" tIns="0" rIns="0" bIns="0" anchor="t">
            <a:noAutofit/>
          </a:bodyPr>
          <a:lstStyle>
            <a:defPPr>
              <a:defRPr sz="956" b="1" i="0">
                <a:solidFill>
                  <a:srgbClr val="DC0A1E"/>
                </a:solidFill>
                <a:latin typeface="Arial"/>
                <a:ea typeface="Arial"/>
                <a:cs typeface="Arial"/>
              </a:defRPr>
            </a:defPPr>
          </a:lstStyle>
          <a:p>
            <a:pPr>
              <a:defRPr sz="956" b="1" i="0">
                <a:solidFill>
                  <a:srgbClr val="DC0A1E"/>
                </a:solidFill>
                <a:latin typeface="Arial"/>
                <a:ea typeface="Arial"/>
                <a:cs typeface="Arial"/>
              </a:defRPr>
            </a:pPr>
            <a:r>
              <a:rPr sz="956" b="1" i="0">
                <a:solidFill>
                  <a:srgbClr val="DC0A1E"/>
                </a:solidFill>
                <a:latin typeface="Arial"/>
                <a:ea typeface="Arial"/>
                <a:cs typeface="Arial"/>
              </a:rPr>
              <a:t>SPONSORS Y ALIADOS</a:t>
            </a:r>
          </a:p>
        </p:txBody>
      </p:sp>
      <p:sp>
        <p:nvSpPr>
          <p:cNvPr id="6" name="text-16-4">
            <a:extLst>
              <a:ext uri="{FF2B5EF4-FFF2-40B4-BE49-F238E27FC236}">
                <a16:creationId xmlns:a16="http://schemas.microsoft.com/office/drawing/2014/main" id="{84E7F6FC-32B4-4762-B94F-B88C988C6069}"/>
              </a:ext>
            </a:extLst>
          </p:cNvPr>
          <p:cNvSpPr>
            <a:spLocks noGrp="1"/>
          </p:cNvSpPr>
          <p:nvPr/>
        </p:nvSpPr>
        <p:spPr>
          <a:xfrm>
            <a:off x="532209" y="4923697"/>
            <a:ext cx="1683767"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AGRADECIMIENTOS / OMNI by 5.5</a:t>
            </a:r>
          </a:p>
        </p:txBody>
      </p:sp>
      <p:sp>
        <p:nvSpPr>
          <p:cNvPr id="7" name="text-16-5">
            <a:extLst>
              <a:ext uri="{FF2B5EF4-FFF2-40B4-BE49-F238E27FC236}">
                <a16:creationId xmlns:a16="http://schemas.microsoft.com/office/drawing/2014/main" id="{C9D07F6E-FB6E-4890-B6D3-A92810739BA2}"/>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16 / 5.5</a:t>
            </a:r>
          </a:p>
        </p:txBody>
      </p:sp>
    </p:spTree>
    <p:extLst>
      <p:ext uri="{BB962C8B-B14F-4D97-AF65-F5344CB8AC3E}">
        <p14:creationId xmlns:p14="http://schemas.microsoft.com/office/powerpoint/2010/main" val="5462657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2F560FB7-7558-46CD-809B-8034F30E5A4C}"/>
              </a:ext>
            </a:extLst>
          </p:cNvPr>
          <p:cNvPicPr>
            <a:picLocks noChangeAspect="1"/>
          </p:cNvPicPr>
          <p:nvPr/>
        </p:nvPicPr>
        <p:blipFill>
          <a:blip r:embed="rId3"/>
          <a:stretch/>
        </p:blipFill>
        <p:spPr>
          <a:xfrm>
            <a:off x="0" y="0"/>
            <a:ext cx="9324594" cy="5248656"/>
          </a:xfrm>
          <a:prstGeom prst="rect">
            <a:avLst/>
          </a:prstGeom>
        </p:spPr>
      </p:pic>
      <p:sp>
        <p:nvSpPr>
          <p:cNvPr id="2" name="text-17-0">
            <a:extLst>
              <a:ext uri="{FF2B5EF4-FFF2-40B4-BE49-F238E27FC236}">
                <a16:creationId xmlns:a16="http://schemas.microsoft.com/office/drawing/2014/main" id="{54539E31-1DC3-4A3C-8492-967099A70B0D}"/>
              </a:ext>
            </a:extLst>
          </p:cNvPr>
          <p:cNvSpPr>
            <a:spLocks noGrp="1"/>
          </p:cNvSpPr>
          <p:nvPr/>
        </p:nvSpPr>
        <p:spPr>
          <a:xfrm>
            <a:off x="532209" y="382979"/>
            <a:ext cx="2372975"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ANEXO A / IMPACTO COMERCIAL</a:t>
            </a:r>
          </a:p>
        </p:txBody>
      </p:sp>
      <p:sp>
        <p:nvSpPr>
          <p:cNvPr id="3" name="text-17-1">
            <a:extLst>
              <a:ext uri="{FF2B5EF4-FFF2-40B4-BE49-F238E27FC236}">
                <a16:creationId xmlns:a16="http://schemas.microsoft.com/office/drawing/2014/main" id="{87BE0D07-3C79-4058-BE21-B4DD246456FA}"/>
              </a:ext>
            </a:extLst>
          </p:cNvPr>
          <p:cNvSpPr>
            <a:spLocks noGrp="1"/>
          </p:cNvSpPr>
          <p:nvPr/>
        </p:nvSpPr>
        <p:spPr>
          <a:xfrm>
            <a:off x="532209" y="673884"/>
            <a:ext cx="2761617" cy="678656"/>
          </a:xfrm>
          <a:prstGeom prst="rect">
            <a:avLst/>
          </a:prstGeom>
          <a:noFill/>
          <a:ln w="0">
            <a:noFill/>
          </a:ln>
        </p:spPr>
        <p:txBody>
          <a:bodyPr wrap="none" lIns="0" tIns="0" rIns="0" bIns="0" anchor="t">
            <a:noAutofit/>
          </a:bodyPr>
          <a:lstStyle>
            <a:defPPr>
              <a:defRPr sz="4275" b="0" i="0">
                <a:solidFill>
                  <a:srgbClr val="0B0B0B"/>
                </a:solidFill>
                <a:latin typeface="Impact"/>
                <a:ea typeface="Impact"/>
                <a:cs typeface="Impact"/>
              </a:defRPr>
            </a:defPPr>
          </a:lstStyle>
          <a:p>
            <a:pPr>
              <a:defRPr sz="4275" b="0" i="0">
                <a:solidFill>
                  <a:srgbClr val="0B0B0B"/>
                </a:solidFill>
                <a:latin typeface="Impact"/>
                <a:ea typeface="Impact"/>
                <a:cs typeface="Impact"/>
              </a:defRPr>
            </a:pPr>
            <a:r>
              <a:rPr sz="4275" b="0" i="0">
                <a:solidFill>
                  <a:srgbClr val="0B0B0B"/>
                </a:solidFill>
                <a:latin typeface="Impact"/>
                <a:ea typeface="Impact"/>
                <a:cs typeface="Impact"/>
              </a:rPr>
              <a:t>ASÍ SE FORMA</a:t>
            </a:r>
          </a:p>
        </p:txBody>
      </p:sp>
      <p:sp>
        <p:nvSpPr>
          <p:cNvPr id="4" name="text-17-2">
            <a:extLst>
              <a:ext uri="{FF2B5EF4-FFF2-40B4-BE49-F238E27FC236}">
                <a16:creationId xmlns:a16="http://schemas.microsoft.com/office/drawing/2014/main" id="{BD15F36C-4FE3-42CF-B637-60052665EDB2}"/>
              </a:ext>
            </a:extLst>
          </p:cNvPr>
          <p:cNvSpPr>
            <a:spLocks noGrp="1"/>
          </p:cNvSpPr>
          <p:nvPr/>
        </p:nvSpPr>
        <p:spPr>
          <a:xfrm>
            <a:off x="532209" y="1231097"/>
            <a:ext cx="4993893" cy="678656"/>
          </a:xfrm>
          <a:prstGeom prst="rect">
            <a:avLst/>
          </a:prstGeom>
          <a:noFill/>
          <a:ln w="0">
            <a:noFill/>
          </a:ln>
        </p:spPr>
        <p:txBody>
          <a:bodyPr wrap="none" lIns="0" tIns="0" rIns="0" bIns="0" anchor="t">
            <a:noAutofit/>
          </a:bodyPr>
          <a:lstStyle>
            <a:defPPr>
              <a:defRPr sz="4275" b="0" i="0">
                <a:solidFill>
                  <a:srgbClr val="0B0B0B"/>
                </a:solidFill>
                <a:latin typeface="Impact"/>
                <a:ea typeface="Impact"/>
                <a:cs typeface="Impact"/>
              </a:defRPr>
            </a:defPPr>
          </a:lstStyle>
          <a:p>
            <a:pPr>
              <a:defRPr sz="4275" b="0" i="0">
                <a:solidFill>
                  <a:srgbClr val="0B0B0B"/>
                </a:solidFill>
                <a:latin typeface="Impact"/>
                <a:ea typeface="Impact"/>
                <a:cs typeface="Impact"/>
              </a:defRPr>
            </a:pPr>
            <a:r>
              <a:rPr sz="4275" b="0" i="0">
                <a:solidFill>
                  <a:srgbClr val="0B0B0B"/>
                </a:solidFill>
                <a:latin typeface="Impact"/>
                <a:ea typeface="Impact"/>
                <a:cs typeface="Impact"/>
              </a:rPr>
              <a:t>EL ESCENARIO DE S/3.780</a:t>
            </a:r>
          </a:p>
        </p:txBody>
      </p:sp>
      <p:sp>
        <p:nvSpPr>
          <p:cNvPr id="5" name="text-17-3">
            <a:extLst>
              <a:ext uri="{FF2B5EF4-FFF2-40B4-BE49-F238E27FC236}">
                <a16:creationId xmlns:a16="http://schemas.microsoft.com/office/drawing/2014/main" id="{B49D3699-2C77-4011-8A92-FDDB848C4199}"/>
              </a:ext>
            </a:extLst>
          </p:cNvPr>
          <p:cNvSpPr>
            <a:spLocks noGrp="1"/>
          </p:cNvSpPr>
          <p:nvPr/>
        </p:nvSpPr>
        <p:spPr>
          <a:xfrm>
            <a:off x="532209" y="2037462"/>
            <a:ext cx="925302" cy="803672"/>
          </a:xfrm>
          <a:prstGeom prst="rect">
            <a:avLst/>
          </a:prstGeom>
          <a:noFill/>
          <a:ln w="0">
            <a:noFill/>
          </a:ln>
        </p:spPr>
        <p:txBody>
          <a:bodyPr wrap="none" lIns="0" tIns="0" rIns="0" bIns="0" anchor="t">
            <a:noAutofit/>
          </a:bodyPr>
          <a:lstStyle>
            <a:defPPr>
              <a:defRPr sz="5063" b="0" i="0">
                <a:solidFill>
                  <a:srgbClr val="0B0B0B"/>
                </a:solidFill>
                <a:latin typeface="Impact"/>
                <a:ea typeface="Impact"/>
                <a:cs typeface="Impact"/>
              </a:defRPr>
            </a:defPPr>
          </a:lstStyle>
          <a:p>
            <a:pPr>
              <a:defRPr sz="5063" b="0" i="0">
                <a:solidFill>
                  <a:srgbClr val="0B0B0B"/>
                </a:solidFill>
                <a:latin typeface="Impact"/>
                <a:ea typeface="Impact"/>
                <a:cs typeface="Impact"/>
              </a:defRPr>
            </a:pPr>
            <a:r>
              <a:rPr sz="5063" b="0" i="0">
                <a:solidFill>
                  <a:srgbClr val="0B0B0B"/>
                </a:solidFill>
                <a:latin typeface="Impact"/>
                <a:ea typeface="Impact"/>
                <a:cs typeface="Impact"/>
              </a:rPr>
              <a:t>192</a:t>
            </a:r>
          </a:p>
        </p:txBody>
      </p:sp>
      <p:sp>
        <p:nvSpPr>
          <p:cNvPr id="6" name="text-17-4">
            <a:extLst>
              <a:ext uri="{FF2B5EF4-FFF2-40B4-BE49-F238E27FC236}">
                <a16:creationId xmlns:a16="http://schemas.microsoft.com/office/drawing/2014/main" id="{D9D1D775-9904-455B-B424-773AF2587693}"/>
              </a:ext>
            </a:extLst>
          </p:cNvPr>
          <p:cNvSpPr>
            <a:spLocks noGrp="1"/>
          </p:cNvSpPr>
          <p:nvPr/>
        </p:nvSpPr>
        <p:spPr>
          <a:xfrm>
            <a:off x="532209" y="2823058"/>
            <a:ext cx="2129390"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por seguimiento hipotético al</a:t>
            </a:r>
          </a:p>
        </p:txBody>
      </p:sp>
      <p:sp>
        <p:nvSpPr>
          <p:cNvPr id="7" name="text-17-5">
            <a:extLst>
              <a:ext uri="{FF2B5EF4-FFF2-40B4-BE49-F238E27FC236}">
                <a16:creationId xmlns:a16="http://schemas.microsoft.com/office/drawing/2014/main" id="{03EB827C-8790-413A-ADED-190DC3A04888}"/>
              </a:ext>
            </a:extLst>
          </p:cNvPr>
          <p:cNvSpPr>
            <a:spLocks noGrp="1"/>
          </p:cNvSpPr>
          <p:nvPr/>
        </p:nvSpPr>
        <p:spPr>
          <a:xfrm>
            <a:off x="532209" y="2987364"/>
            <a:ext cx="366877"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10%</a:t>
            </a:r>
          </a:p>
        </p:txBody>
      </p:sp>
      <p:sp>
        <p:nvSpPr>
          <p:cNvPr id="8" name="text-17-6">
            <a:extLst>
              <a:ext uri="{FF2B5EF4-FFF2-40B4-BE49-F238E27FC236}">
                <a16:creationId xmlns:a16="http://schemas.microsoft.com/office/drawing/2014/main" id="{AB39987C-3F69-4B56-AE91-2806BD19D85A}"/>
              </a:ext>
            </a:extLst>
          </p:cNvPr>
          <p:cNvSpPr>
            <a:spLocks noGrp="1"/>
          </p:cNvSpPr>
          <p:nvPr/>
        </p:nvSpPr>
        <p:spPr>
          <a:xfrm>
            <a:off x="3356335" y="2037462"/>
            <a:ext cx="716580" cy="803672"/>
          </a:xfrm>
          <a:prstGeom prst="rect">
            <a:avLst/>
          </a:prstGeom>
          <a:noFill/>
          <a:ln w="0">
            <a:noFill/>
          </a:ln>
        </p:spPr>
        <p:txBody>
          <a:bodyPr wrap="none" lIns="0" tIns="0" rIns="0" bIns="0" anchor="t">
            <a:noAutofit/>
          </a:bodyPr>
          <a:lstStyle>
            <a:defPPr>
              <a:defRPr sz="5063" b="0" i="0">
                <a:solidFill>
                  <a:srgbClr val="0B0B0B"/>
                </a:solidFill>
                <a:latin typeface="Impact"/>
                <a:ea typeface="Impact"/>
                <a:cs typeface="Impact"/>
              </a:defRPr>
            </a:defPPr>
          </a:lstStyle>
          <a:p>
            <a:pPr>
              <a:defRPr sz="5063" b="0" i="0">
                <a:solidFill>
                  <a:srgbClr val="0B0B0B"/>
                </a:solidFill>
                <a:latin typeface="Impact"/>
                <a:ea typeface="Impact"/>
                <a:cs typeface="Impact"/>
              </a:defRPr>
            </a:pPr>
            <a:r>
              <a:rPr sz="5063" b="0" i="0">
                <a:solidFill>
                  <a:srgbClr val="0B0B0B"/>
                </a:solidFill>
                <a:latin typeface="Impact"/>
                <a:ea typeface="Impact"/>
                <a:cs typeface="Impact"/>
              </a:rPr>
              <a:t>60</a:t>
            </a:r>
          </a:p>
        </p:txBody>
      </p:sp>
      <p:sp>
        <p:nvSpPr>
          <p:cNvPr id="9" name="text-17-7">
            <a:extLst>
              <a:ext uri="{FF2B5EF4-FFF2-40B4-BE49-F238E27FC236}">
                <a16:creationId xmlns:a16="http://schemas.microsoft.com/office/drawing/2014/main" id="{CDED0948-3B0F-45A5-BE23-6A0F998876CB}"/>
              </a:ext>
            </a:extLst>
          </p:cNvPr>
          <p:cNvSpPr>
            <a:spLocks noGrp="1"/>
          </p:cNvSpPr>
          <p:nvPr/>
        </p:nvSpPr>
        <p:spPr>
          <a:xfrm>
            <a:off x="3356335" y="2823058"/>
            <a:ext cx="2029000"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nuevas nocturnas, distintas</a:t>
            </a:r>
          </a:p>
        </p:txBody>
      </p:sp>
      <p:sp>
        <p:nvSpPr>
          <p:cNvPr id="10" name="text-17-8">
            <a:extLst>
              <a:ext uri="{FF2B5EF4-FFF2-40B4-BE49-F238E27FC236}">
                <a16:creationId xmlns:a16="http://schemas.microsoft.com/office/drawing/2014/main" id="{81D4107C-FCA8-43D3-A2A5-9453625BB9D6}"/>
              </a:ext>
            </a:extLst>
          </p:cNvPr>
          <p:cNvSpPr>
            <a:spLocks noGrp="1"/>
          </p:cNvSpPr>
          <p:nvPr/>
        </p:nvSpPr>
        <p:spPr>
          <a:xfrm>
            <a:off x="6180460" y="2037462"/>
            <a:ext cx="1938866" cy="803672"/>
          </a:xfrm>
          <a:prstGeom prst="rect">
            <a:avLst/>
          </a:prstGeom>
          <a:noFill/>
          <a:ln w="0">
            <a:noFill/>
          </a:ln>
        </p:spPr>
        <p:txBody>
          <a:bodyPr wrap="none" lIns="0" tIns="0" rIns="0" bIns="0" anchor="t">
            <a:noAutofit/>
          </a:bodyPr>
          <a:lstStyle>
            <a:defPPr>
              <a:defRPr sz="5063" b="0" i="0">
                <a:solidFill>
                  <a:srgbClr val="0B0B0B"/>
                </a:solidFill>
                <a:latin typeface="Impact"/>
                <a:ea typeface="Impact"/>
                <a:cs typeface="Impact"/>
              </a:defRPr>
            </a:defPPr>
          </a:lstStyle>
          <a:p>
            <a:pPr>
              <a:defRPr sz="5063" b="0" i="0">
                <a:solidFill>
                  <a:srgbClr val="0B0B0B"/>
                </a:solidFill>
                <a:latin typeface="Impact"/>
                <a:ea typeface="Impact"/>
                <a:cs typeface="Impact"/>
              </a:defRPr>
            </a:pPr>
            <a:r>
              <a:rPr sz="5063" b="0" i="0">
                <a:solidFill>
                  <a:srgbClr val="0B0B0B"/>
                </a:solidFill>
                <a:latin typeface="Impact"/>
                <a:ea typeface="Impact"/>
                <a:cs typeface="Impact"/>
              </a:rPr>
              <a:t>S/3.780</a:t>
            </a:r>
          </a:p>
        </p:txBody>
      </p:sp>
      <p:sp>
        <p:nvSpPr>
          <p:cNvPr id="11" name="text-17-9">
            <a:extLst>
              <a:ext uri="{FF2B5EF4-FFF2-40B4-BE49-F238E27FC236}">
                <a16:creationId xmlns:a16="http://schemas.microsoft.com/office/drawing/2014/main" id="{A4034C8F-80C7-405C-B1C9-6D6F02FC2DAC}"/>
              </a:ext>
            </a:extLst>
          </p:cNvPr>
          <p:cNvSpPr>
            <a:spLocks noGrp="1"/>
          </p:cNvSpPr>
          <p:nvPr/>
        </p:nvSpPr>
        <p:spPr>
          <a:xfrm>
            <a:off x="6180460" y="2823058"/>
            <a:ext cx="2006491"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252 operaciones × S/15 de</a:t>
            </a:r>
          </a:p>
        </p:txBody>
      </p:sp>
      <p:sp>
        <p:nvSpPr>
          <p:cNvPr id="12" name="text-17-10">
            <a:extLst>
              <a:ext uri="{FF2B5EF4-FFF2-40B4-BE49-F238E27FC236}">
                <a16:creationId xmlns:a16="http://schemas.microsoft.com/office/drawing/2014/main" id="{3B785DC3-688E-40F0-89ED-26B72C2AE278}"/>
              </a:ext>
            </a:extLst>
          </p:cNvPr>
          <p:cNvSpPr>
            <a:spLocks noGrp="1"/>
          </p:cNvSpPr>
          <p:nvPr/>
        </p:nvSpPr>
        <p:spPr>
          <a:xfrm>
            <a:off x="6180460" y="2987364"/>
            <a:ext cx="595099"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margen</a:t>
            </a:r>
          </a:p>
        </p:txBody>
      </p:sp>
      <p:sp>
        <p:nvSpPr>
          <p:cNvPr id="13" name="text-17-11">
            <a:extLst>
              <a:ext uri="{FF2B5EF4-FFF2-40B4-BE49-F238E27FC236}">
                <a16:creationId xmlns:a16="http://schemas.microsoft.com/office/drawing/2014/main" id="{5AF09D57-85F7-41B2-AAD2-7C32F2674B5B}"/>
              </a:ext>
            </a:extLst>
          </p:cNvPr>
          <p:cNvSpPr>
            <a:spLocks noGrp="1"/>
          </p:cNvSpPr>
          <p:nvPr/>
        </p:nvSpPr>
        <p:spPr>
          <a:xfrm>
            <a:off x="532209" y="3419373"/>
            <a:ext cx="4118210" cy="250031"/>
          </a:xfrm>
          <a:prstGeom prst="rect">
            <a:avLst/>
          </a:prstGeom>
          <a:noFill/>
          <a:ln w="0">
            <a:noFill/>
          </a:ln>
        </p:spPr>
        <p:txBody>
          <a:bodyPr wrap="none" lIns="0" tIns="0" rIns="0" bIns="0" anchor="t">
            <a:noAutofit/>
          </a:bodyPr>
          <a:lstStyle>
            <a:defPPr>
              <a:defRPr sz="1575" b="0" i="0">
                <a:solidFill>
                  <a:srgbClr val="0B0B0B"/>
                </a:solidFill>
                <a:latin typeface="Arial"/>
                <a:ea typeface="Arial"/>
                <a:cs typeface="Arial"/>
              </a:defRPr>
            </a:defPPr>
          </a:lstStyle>
          <a:p>
            <a:pPr>
              <a:defRPr sz="1575" b="0" i="0">
                <a:solidFill>
                  <a:srgbClr val="0B0B0B"/>
                </a:solidFill>
                <a:latin typeface="Arial"/>
                <a:ea typeface="Arial"/>
                <a:cs typeface="Arial"/>
              </a:defRPr>
            </a:pPr>
            <a:r>
              <a:rPr sz="1575" b="0" i="0">
                <a:solidFill>
                  <a:srgbClr val="0B0B0B"/>
                </a:solidFill>
                <a:latin typeface="Arial"/>
                <a:ea typeface="Arial"/>
                <a:cs typeface="Arial"/>
              </a:rPr>
              <a:t>El costo de Meta también cambia la ecuación.</a:t>
            </a:r>
          </a:p>
        </p:txBody>
      </p:sp>
      <p:sp>
        <p:nvSpPr>
          <p:cNvPr id="14" name="text-17-12">
            <a:extLst>
              <a:ext uri="{FF2B5EF4-FFF2-40B4-BE49-F238E27FC236}">
                <a16:creationId xmlns:a16="http://schemas.microsoft.com/office/drawing/2014/main" id="{5E74D930-1DC6-404C-8AD6-2A78F83C8778}"/>
              </a:ext>
            </a:extLst>
          </p:cNvPr>
          <p:cNvSpPr>
            <a:spLocks noGrp="1"/>
          </p:cNvSpPr>
          <p:nvPr/>
        </p:nvSpPr>
        <p:spPr>
          <a:xfrm>
            <a:off x="532209" y="4503579"/>
            <a:ext cx="6751015" cy="133945"/>
          </a:xfrm>
          <a:prstGeom prst="rect">
            <a:avLst/>
          </a:prstGeom>
          <a:noFill/>
          <a:ln w="0">
            <a:noFill/>
          </a:ln>
        </p:spPr>
        <p:txBody>
          <a:bodyPr wrap="none" lIns="0" tIns="0" rIns="0" bIns="0" anchor="t">
            <a:noAutofit/>
          </a:bodyPr>
          <a:lstStyle>
            <a:defPPr>
              <a:defRPr sz="844" b="0" i="0">
                <a:solidFill>
                  <a:srgbClr val="0B0B0B"/>
                </a:solidFill>
                <a:latin typeface="Arial"/>
                <a:ea typeface="Arial"/>
                <a:cs typeface="Arial"/>
              </a:defRPr>
            </a:defPPr>
          </a:lstStyle>
          <a:p>
            <a:pPr>
              <a:defRPr sz="844" b="0" i="0">
                <a:solidFill>
                  <a:srgbClr val="0B0B0B"/>
                </a:solidFill>
                <a:latin typeface="Arial"/>
                <a:ea typeface="Arial"/>
                <a:cs typeface="Arial"/>
              </a:defRPr>
            </a:pPr>
            <a:r>
              <a:rPr sz="844" b="0" i="0">
                <a:solidFill>
                  <a:srgbClr val="0B0B0B"/>
                </a:solidFill>
                <a:latin typeface="Arial"/>
                <a:ea typeface="Arial"/>
                <a:cs typeface="Arial"/>
              </a:rPr>
              <a:t>192 = 64 × 10% × 30. 60 = 10 × 20% × 30. Hipótesis sin solapamientos. Restar tecnología, cupones y campañas. No son ventas observadas.</a:t>
            </a:r>
          </a:p>
        </p:txBody>
      </p:sp>
      <p:sp>
        <p:nvSpPr>
          <p:cNvPr id="15" name="text-17-13">
            <a:extLst>
              <a:ext uri="{FF2B5EF4-FFF2-40B4-BE49-F238E27FC236}">
                <a16:creationId xmlns:a16="http://schemas.microsoft.com/office/drawing/2014/main" id="{3035349F-F680-49CA-BDC4-2045EDB19F09}"/>
              </a:ext>
            </a:extLst>
          </p:cNvPr>
          <p:cNvSpPr>
            <a:spLocks noGrp="1"/>
          </p:cNvSpPr>
          <p:nvPr/>
        </p:nvSpPr>
        <p:spPr>
          <a:xfrm>
            <a:off x="532209" y="4199772"/>
            <a:ext cx="1125924" cy="178594"/>
          </a:xfrm>
          <a:prstGeom prst="rect">
            <a:avLst/>
          </a:prstGeom>
          <a:noFill/>
          <a:ln w="0">
            <a:noFill/>
          </a:ln>
        </p:spPr>
        <p:txBody>
          <a:bodyPr wrap="none" lIns="0" tIns="0" rIns="0" bIns="0" anchor="t">
            <a:noAutofit/>
          </a:bodyPr>
          <a:lstStyle>
            <a:defPPr>
              <a:defRPr sz="1125" b="0" i="0">
                <a:solidFill>
                  <a:srgbClr val="0B0B0B"/>
                </a:solidFill>
                <a:latin typeface="Arial"/>
                <a:ea typeface="Arial"/>
                <a:cs typeface="Arial"/>
              </a:defRPr>
            </a:defPPr>
          </a:lstStyle>
          <a:p>
            <a:pPr>
              <a:defRPr sz="1125" b="0" i="0">
                <a:solidFill>
                  <a:srgbClr val="0B0B0B"/>
                </a:solidFill>
                <a:latin typeface="Arial"/>
                <a:ea typeface="Arial"/>
                <a:cs typeface="Arial"/>
              </a:defRPr>
            </a:pPr>
            <a:r>
              <a:rPr sz="1125" b="0" i="0">
                <a:solidFill>
                  <a:srgbClr val="0B0B0B"/>
                </a:solidFill>
                <a:latin typeface="Arial"/>
                <a:ea typeface="Arial"/>
                <a:cs typeface="Arial"/>
              </a:rPr>
              <a:t>Volver al impacto</a:t>
            </a:r>
          </a:p>
        </p:txBody>
      </p:sp>
      <p:sp>
        <p:nvSpPr>
          <p:cNvPr id="16" name="text-17-14">
            <a:extLst>
              <a:ext uri="{FF2B5EF4-FFF2-40B4-BE49-F238E27FC236}">
                <a16:creationId xmlns:a16="http://schemas.microsoft.com/office/drawing/2014/main" id="{25054FA8-48F0-4979-80F9-D261E041C66C}"/>
              </a:ext>
            </a:extLst>
          </p:cNvPr>
          <p:cNvSpPr>
            <a:spLocks noGrp="1"/>
          </p:cNvSpPr>
          <p:nvPr/>
        </p:nvSpPr>
        <p:spPr>
          <a:xfrm>
            <a:off x="2982516" y="4206239"/>
            <a:ext cx="2369393" cy="169664"/>
          </a:xfrm>
          <a:prstGeom prst="rect">
            <a:avLst/>
          </a:prstGeom>
          <a:noFill/>
          <a:ln w="0">
            <a:noFill/>
          </a:ln>
        </p:spPr>
        <p:txBody>
          <a:bodyPr wrap="none" lIns="0" tIns="0" rIns="0" bIns="0" anchor="t">
            <a:noAutofit/>
          </a:bodyPr>
          <a:lstStyle>
            <a:defPPr>
              <a:defRPr sz="1069" b="0" i="0">
                <a:solidFill>
                  <a:srgbClr val="0B0B0B"/>
                </a:solidFill>
                <a:latin typeface="Arial"/>
                <a:ea typeface="Arial"/>
                <a:cs typeface="Arial"/>
              </a:defRPr>
            </a:defPPr>
          </a:lstStyle>
          <a:p>
            <a:pPr>
              <a:defRPr sz="1069" b="0" i="0">
                <a:solidFill>
                  <a:srgbClr val="0B0B0B"/>
                </a:solidFill>
                <a:latin typeface="Arial"/>
                <a:ea typeface="Arial"/>
                <a:cs typeface="Arial"/>
              </a:defRPr>
            </a:pPr>
            <a:r>
              <a:rPr sz="1069" b="0" i="0">
                <a:solidFill>
                  <a:srgbClr val="0B0B0B"/>
                </a:solidFill>
                <a:latin typeface="Arial"/>
                <a:ea typeface="Arial"/>
                <a:cs typeface="Arial"/>
              </a:rPr>
              <a:t>Comparar 5%, 10% y 20% · Anexo A.2</a:t>
            </a:r>
          </a:p>
        </p:txBody>
      </p:sp>
      <p:sp>
        <p:nvSpPr>
          <p:cNvPr id="17" name="text-17-15">
            <a:extLst>
              <a:ext uri="{FF2B5EF4-FFF2-40B4-BE49-F238E27FC236}">
                <a16:creationId xmlns:a16="http://schemas.microsoft.com/office/drawing/2014/main" id="{721E7560-0C40-4633-B8AF-7B7C6CAC2D89}"/>
              </a:ext>
            </a:extLst>
          </p:cNvPr>
          <p:cNvSpPr>
            <a:spLocks noGrp="1"/>
          </p:cNvSpPr>
          <p:nvPr/>
        </p:nvSpPr>
        <p:spPr>
          <a:xfrm>
            <a:off x="532209" y="4923697"/>
            <a:ext cx="1120674"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8" name="text-17-16">
            <a:extLst>
              <a:ext uri="{FF2B5EF4-FFF2-40B4-BE49-F238E27FC236}">
                <a16:creationId xmlns:a16="http://schemas.microsoft.com/office/drawing/2014/main" id="{A26AD5E0-7AA3-4AC1-B820-C3921BCA35B1}"/>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17 / 5.5</a:t>
            </a:r>
          </a:p>
        </p:txBody>
      </p:sp>
    </p:spTree>
    <p:extLst>
      <p:ext uri="{BB962C8B-B14F-4D97-AF65-F5344CB8AC3E}">
        <p14:creationId xmlns:p14="http://schemas.microsoft.com/office/powerpoint/2010/main" val="18015787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B2387FD9-D1C6-4DF7-A4EA-D0E4D10C7DD9}"/>
              </a:ext>
            </a:extLst>
          </p:cNvPr>
          <p:cNvPicPr>
            <a:picLocks noChangeAspect="1"/>
          </p:cNvPicPr>
          <p:nvPr/>
        </p:nvPicPr>
        <p:blipFill>
          <a:blip r:embed="rId3"/>
          <a:stretch/>
        </p:blipFill>
        <p:spPr>
          <a:xfrm>
            <a:off x="0" y="0"/>
            <a:ext cx="9324594" cy="5248656"/>
          </a:xfrm>
          <a:prstGeom prst="rect">
            <a:avLst/>
          </a:prstGeom>
        </p:spPr>
      </p:pic>
      <p:sp>
        <p:nvSpPr>
          <p:cNvPr id="2" name="text-18-0">
            <a:extLst>
              <a:ext uri="{FF2B5EF4-FFF2-40B4-BE49-F238E27FC236}">
                <a16:creationId xmlns:a16="http://schemas.microsoft.com/office/drawing/2014/main" id="{34CFC6D1-52D5-4DA8-AACE-13417FD6DBAC}"/>
              </a:ext>
            </a:extLst>
          </p:cNvPr>
          <p:cNvSpPr>
            <a:spLocks noGrp="1"/>
          </p:cNvSpPr>
          <p:nvPr/>
        </p:nvSpPr>
        <p:spPr>
          <a:xfrm>
            <a:off x="532209" y="382979"/>
            <a:ext cx="3359661"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ANEXO A.2 / SENSIBILIDAD DEL CRECIMIENTO</a:t>
            </a:r>
          </a:p>
        </p:txBody>
      </p:sp>
      <p:sp>
        <p:nvSpPr>
          <p:cNvPr id="3" name="text-18-1">
            <a:extLst>
              <a:ext uri="{FF2B5EF4-FFF2-40B4-BE49-F238E27FC236}">
                <a16:creationId xmlns:a16="http://schemas.microsoft.com/office/drawing/2014/main" id="{CDE6710C-CD8E-4B5E-B792-3E8B1831B615}"/>
              </a:ext>
            </a:extLst>
          </p:cNvPr>
          <p:cNvSpPr>
            <a:spLocks noGrp="1"/>
          </p:cNvSpPr>
          <p:nvPr/>
        </p:nvSpPr>
        <p:spPr>
          <a:xfrm>
            <a:off x="532209" y="681907"/>
            <a:ext cx="3286273" cy="553641"/>
          </a:xfrm>
          <a:prstGeom prst="rect">
            <a:avLst/>
          </a:prstGeom>
          <a:noFill/>
          <a:ln w="0">
            <a:noFill/>
          </a:ln>
        </p:spPr>
        <p:txBody>
          <a:bodyPr wrap="none" lIns="0" tIns="0" rIns="0" bIns="0" anchor="t">
            <a:noAutofit/>
          </a:bodyPr>
          <a:lstStyle>
            <a:defPPr>
              <a:defRPr sz="3488" b="0" i="0">
                <a:solidFill>
                  <a:srgbClr val="0B0B0B"/>
                </a:solidFill>
                <a:latin typeface="Impact"/>
                <a:ea typeface="Impact"/>
                <a:cs typeface="Impact"/>
              </a:defRPr>
            </a:defPPr>
          </a:lstStyle>
          <a:p>
            <a:pPr>
              <a:defRPr sz="3488" b="0" i="0">
                <a:solidFill>
                  <a:srgbClr val="0B0B0B"/>
                </a:solidFill>
                <a:latin typeface="Impact"/>
                <a:ea typeface="Impact"/>
                <a:cs typeface="Impact"/>
              </a:defRPr>
            </a:pPr>
            <a:r>
              <a:rPr sz="3488" b="0" i="0">
                <a:solidFill>
                  <a:srgbClr val="0B0B0B"/>
                </a:solidFill>
                <a:latin typeface="Impact"/>
                <a:ea typeface="Impact"/>
                <a:cs typeface="Impact"/>
              </a:rPr>
              <a:t>EL RETORNO CAMBIA</a:t>
            </a:r>
          </a:p>
        </p:txBody>
      </p:sp>
      <p:sp>
        <p:nvSpPr>
          <p:cNvPr id="4" name="text-18-2">
            <a:extLst>
              <a:ext uri="{FF2B5EF4-FFF2-40B4-BE49-F238E27FC236}">
                <a16:creationId xmlns:a16="http://schemas.microsoft.com/office/drawing/2014/main" id="{6B35A9B9-B1DB-4F93-803B-11DAED35271D}"/>
              </a:ext>
            </a:extLst>
          </p:cNvPr>
          <p:cNvSpPr>
            <a:spLocks noGrp="1"/>
          </p:cNvSpPr>
          <p:nvPr/>
        </p:nvSpPr>
        <p:spPr>
          <a:xfrm>
            <a:off x="532209" y="1131963"/>
            <a:ext cx="5118502" cy="553641"/>
          </a:xfrm>
          <a:prstGeom prst="rect">
            <a:avLst/>
          </a:prstGeom>
          <a:noFill/>
          <a:ln w="0">
            <a:noFill/>
          </a:ln>
        </p:spPr>
        <p:txBody>
          <a:bodyPr wrap="none" lIns="0" tIns="0" rIns="0" bIns="0" anchor="t">
            <a:noAutofit/>
          </a:bodyPr>
          <a:lstStyle>
            <a:defPPr>
              <a:defRPr sz="3488" b="0" i="0">
                <a:solidFill>
                  <a:srgbClr val="0B0B0B"/>
                </a:solidFill>
                <a:latin typeface="Impact"/>
                <a:ea typeface="Impact"/>
                <a:cs typeface="Impact"/>
              </a:defRPr>
            </a:defPPr>
          </a:lstStyle>
          <a:p>
            <a:pPr>
              <a:defRPr sz="3488" b="0" i="0">
                <a:solidFill>
                  <a:srgbClr val="0B0B0B"/>
                </a:solidFill>
                <a:latin typeface="Impact"/>
                <a:ea typeface="Impact"/>
                <a:cs typeface="Impact"/>
              </a:defRPr>
            </a:pPr>
            <a:r>
              <a:rPr sz="3488" b="0" i="0">
                <a:solidFill>
                  <a:srgbClr val="0B0B0B"/>
                </a:solidFill>
                <a:latin typeface="Impact"/>
                <a:ea typeface="Impact"/>
                <a:cs typeface="Impact"/>
              </a:rPr>
              <a:t>CON LA CONVERSIÓN Y EL COSTO</a:t>
            </a:r>
          </a:p>
        </p:txBody>
      </p:sp>
      <p:sp>
        <p:nvSpPr>
          <p:cNvPr id="5" name="text-18-3">
            <a:extLst>
              <a:ext uri="{FF2B5EF4-FFF2-40B4-BE49-F238E27FC236}">
                <a16:creationId xmlns:a16="http://schemas.microsoft.com/office/drawing/2014/main" id="{D5CF8B68-6649-48F0-B3F1-A073F46DCD03}"/>
              </a:ext>
            </a:extLst>
          </p:cNvPr>
          <p:cNvSpPr>
            <a:spLocks noGrp="1"/>
          </p:cNvSpPr>
          <p:nvPr/>
        </p:nvSpPr>
        <p:spPr>
          <a:xfrm>
            <a:off x="532209" y="4314072"/>
            <a:ext cx="1856967" cy="178594"/>
          </a:xfrm>
          <a:prstGeom prst="rect">
            <a:avLst/>
          </a:prstGeom>
          <a:noFill/>
          <a:ln w="0">
            <a:noFill/>
          </a:ln>
        </p:spPr>
        <p:txBody>
          <a:bodyPr wrap="none" lIns="0" tIns="0" rIns="0" bIns="0" anchor="t">
            <a:noAutofit/>
          </a:bodyPr>
          <a:lstStyle>
            <a:defPPr>
              <a:defRPr sz="1125" b="0" i="0">
                <a:solidFill>
                  <a:srgbClr val="0B0B0B"/>
                </a:solidFill>
                <a:latin typeface="Arial"/>
                <a:ea typeface="Arial"/>
                <a:cs typeface="Arial"/>
              </a:defRPr>
            </a:defPPr>
          </a:lstStyle>
          <a:p>
            <a:pPr>
              <a:defRPr sz="1125" b="0" i="0">
                <a:solidFill>
                  <a:srgbClr val="0B0B0B"/>
                </a:solidFill>
                <a:latin typeface="Arial"/>
                <a:ea typeface="Arial"/>
                <a:cs typeface="Arial"/>
              </a:defRPr>
            </a:pPr>
            <a:r>
              <a:rPr sz="1125" b="0" i="0">
                <a:solidFill>
                  <a:srgbClr val="0B0B0B"/>
                </a:solidFill>
                <a:latin typeface="Arial"/>
                <a:ea typeface="Arial"/>
                <a:cs typeface="Arial"/>
              </a:rPr>
              <a:t>Volver al cálculo del anexo A</a:t>
            </a:r>
          </a:p>
        </p:txBody>
      </p:sp>
      <p:sp>
        <p:nvSpPr>
          <p:cNvPr id="6" name="text-18-4">
            <a:extLst>
              <a:ext uri="{FF2B5EF4-FFF2-40B4-BE49-F238E27FC236}">
                <a16:creationId xmlns:a16="http://schemas.microsoft.com/office/drawing/2014/main" id="{7A6F63D6-3CB0-4136-992B-6D917BADF5EB}"/>
              </a:ext>
            </a:extLst>
          </p:cNvPr>
          <p:cNvSpPr>
            <a:spLocks noGrp="1"/>
          </p:cNvSpPr>
          <p:nvPr/>
        </p:nvSpPr>
        <p:spPr>
          <a:xfrm>
            <a:off x="2601106" y="4320539"/>
            <a:ext cx="1071533" cy="169664"/>
          </a:xfrm>
          <a:prstGeom prst="rect">
            <a:avLst/>
          </a:prstGeom>
          <a:noFill/>
          <a:ln w="0">
            <a:noFill/>
          </a:ln>
        </p:spPr>
        <p:txBody>
          <a:bodyPr wrap="none" lIns="0" tIns="0" rIns="0" bIns="0" anchor="t">
            <a:noAutofit/>
          </a:bodyPr>
          <a:lstStyle>
            <a:defPPr>
              <a:defRPr sz="1069" b="0" i="0">
                <a:solidFill>
                  <a:srgbClr val="0B0B0B"/>
                </a:solidFill>
                <a:latin typeface="Arial"/>
                <a:ea typeface="Arial"/>
                <a:cs typeface="Arial"/>
              </a:defRPr>
            </a:defPPr>
          </a:lstStyle>
          <a:p>
            <a:pPr>
              <a:defRPr sz="1069" b="0" i="0">
                <a:solidFill>
                  <a:srgbClr val="0B0B0B"/>
                </a:solidFill>
                <a:latin typeface="Arial"/>
                <a:ea typeface="Arial"/>
                <a:cs typeface="Arial"/>
              </a:defRPr>
            </a:pPr>
            <a:r>
              <a:rPr sz="1069" b="0" i="0">
                <a:solidFill>
                  <a:srgbClr val="0B0B0B"/>
                </a:solidFill>
                <a:latin typeface="Arial"/>
                <a:ea typeface="Arial"/>
                <a:cs typeface="Arial"/>
              </a:rPr>
              <a:t>Volver al impacto</a:t>
            </a:r>
          </a:p>
        </p:txBody>
      </p:sp>
      <p:sp>
        <p:nvSpPr>
          <p:cNvPr id="7" name="text-18-5">
            <a:extLst>
              <a:ext uri="{FF2B5EF4-FFF2-40B4-BE49-F238E27FC236}">
                <a16:creationId xmlns:a16="http://schemas.microsoft.com/office/drawing/2014/main" id="{DABCDCBD-1706-42DD-9F0D-4D635D49030F}"/>
              </a:ext>
            </a:extLst>
          </p:cNvPr>
          <p:cNvSpPr>
            <a:spLocks noGrp="1"/>
          </p:cNvSpPr>
          <p:nvPr/>
        </p:nvSpPr>
        <p:spPr>
          <a:xfrm>
            <a:off x="532209" y="4503579"/>
            <a:ext cx="7042373" cy="133945"/>
          </a:xfrm>
          <a:prstGeom prst="rect">
            <a:avLst/>
          </a:prstGeom>
          <a:noFill/>
          <a:ln w="0">
            <a:noFill/>
          </a:ln>
        </p:spPr>
        <p:txBody>
          <a:bodyPr wrap="none" lIns="0" tIns="0" rIns="0" bIns="0" anchor="t">
            <a:noAutofit/>
          </a:bodyPr>
          <a:lstStyle>
            <a:defPPr>
              <a:defRPr sz="844" b="0" i="0">
                <a:solidFill>
                  <a:srgbClr val="0B0B0B"/>
                </a:solidFill>
                <a:latin typeface="Arial"/>
                <a:ea typeface="Arial"/>
                <a:cs typeface="Arial"/>
              </a:defRPr>
            </a:defPPr>
          </a:lstStyle>
          <a:p>
            <a:pPr>
              <a:defRPr sz="844" b="0" i="0">
                <a:solidFill>
                  <a:srgbClr val="0B0B0B"/>
                </a:solidFill>
                <a:latin typeface="Arial"/>
                <a:ea typeface="Arial"/>
                <a:cs typeface="Arial"/>
              </a:defRPr>
            </a:pPr>
            <a:r>
              <a:rPr sz="844" b="0" i="0">
                <a:solidFill>
                  <a:srgbClr val="0B0B0B"/>
                </a:solidFill>
                <a:latin typeface="Arial"/>
                <a:ea typeface="Arial"/>
                <a:cs typeface="Arial"/>
              </a:rPr>
              <a:t>Hipótesis: 30 días, margen S/15, ventas distintas. Optimización de mensajes pendiente. Saldos antes de campañas, cupones y costos no incluidos.</a:t>
            </a:r>
          </a:p>
        </p:txBody>
      </p:sp>
      <p:sp>
        <p:nvSpPr>
          <p:cNvPr id="8" name="text-18-6">
            <a:extLst>
              <a:ext uri="{FF2B5EF4-FFF2-40B4-BE49-F238E27FC236}">
                <a16:creationId xmlns:a16="http://schemas.microsoft.com/office/drawing/2014/main" id="{1AC65F9F-22C8-4682-B534-DD2757487A09}"/>
              </a:ext>
            </a:extLst>
          </p:cNvPr>
          <p:cNvSpPr>
            <a:spLocks noGrp="1"/>
          </p:cNvSpPr>
          <p:nvPr/>
        </p:nvSpPr>
        <p:spPr>
          <a:xfrm>
            <a:off x="532209" y="4923697"/>
            <a:ext cx="1120674"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9" name="text-18-7">
            <a:extLst>
              <a:ext uri="{FF2B5EF4-FFF2-40B4-BE49-F238E27FC236}">
                <a16:creationId xmlns:a16="http://schemas.microsoft.com/office/drawing/2014/main" id="{BFFB770D-7508-4528-BA9D-84DBD9EECE22}"/>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18 / 5.5</a:t>
            </a:r>
          </a:p>
        </p:txBody>
      </p:sp>
      <p:graphicFrame>
        <p:nvGraphicFramePr>
          <p:cNvPr id="10" name="Tabla 9">
            <a:extLst>
              <a:ext uri="{FF2B5EF4-FFF2-40B4-BE49-F238E27FC236}">
                <a16:creationId xmlns:a16="http://schemas.microsoft.com/office/drawing/2014/main" id="{155BCB7C-1463-4612-88A2-AB4775FE68F8}"/>
              </a:ext>
            </a:extLst>
          </p:cNvPr>
          <p:cNvGraphicFramePr/>
          <p:nvPr/>
        </p:nvGraphicFramePr>
        <p:xfrm>
          <a:off x="532209" y="1840304"/>
          <a:ext cx="8261747" cy="2361702"/>
        </p:xfrm>
        <a:graphic>
          <a:graphicData uri="http://schemas.openxmlformats.org/drawingml/2006/table">
            <a:tbl>
              <a:tblPr/>
              <a:tblGrid>
                <a:gridCol w="1132210">
                  <a:extLst>
                    <a:ext uri="{9D8B030D-6E8A-4147-A177-3AD203B41FA5}">
                      <a16:colId xmlns:a16="http://schemas.microsoft.com/office/drawing/2014/main" val="20000"/>
                    </a:ext>
                  </a:extLst>
                </a:gridCol>
                <a:gridCol w="1073907">
                  <a:extLst>
                    <a:ext uri="{9D8B030D-6E8A-4147-A177-3AD203B41FA5}">
                      <a16:colId xmlns:a16="http://schemas.microsoft.com/office/drawing/2014/main" val="20001"/>
                    </a:ext>
                  </a:extLst>
                </a:gridCol>
                <a:gridCol w="1624087">
                  <a:extLst>
                    <a:ext uri="{9D8B030D-6E8A-4147-A177-3AD203B41FA5}">
                      <a16:colId xmlns:a16="http://schemas.microsoft.com/office/drawing/2014/main" val="20002"/>
                    </a:ext>
                  </a:extLst>
                </a:gridCol>
                <a:gridCol w="1106835">
                  <a:extLst>
                    <a:ext uri="{9D8B030D-6E8A-4147-A177-3AD203B41FA5}">
                      <a16:colId xmlns:a16="http://schemas.microsoft.com/office/drawing/2014/main" val="20003"/>
                    </a:ext>
                  </a:extLst>
                </a:gridCol>
                <a:gridCol w="1415021">
                  <a:extLst>
                    <a:ext uri="{9D8B030D-6E8A-4147-A177-3AD203B41FA5}">
                      <a16:colId xmlns:a16="http://schemas.microsoft.com/office/drawing/2014/main" val="20004"/>
                    </a:ext>
                  </a:extLst>
                </a:gridCol>
                <a:gridCol w="1909688">
                  <a:extLst>
                    <a:ext uri="{9D8B030D-6E8A-4147-A177-3AD203B41FA5}">
                      <a16:colId xmlns:a16="http://schemas.microsoft.com/office/drawing/2014/main" val="20005"/>
                    </a:ext>
                  </a:extLst>
                </a:gridCol>
              </a:tblGrid>
              <a:tr h="590426">
                <a:tc>
                  <a:txBody>
                    <a:bodyPr/>
                    <a:lstStyle/>
                    <a:p>
                      <a:r>
                        <a:rPr sz="825" b="1">
                          <a:solidFill>
                            <a:srgbClr val="FFFFFF"/>
                          </a:solidFill>
                          <a:latin typeface="Arial"/>
                          <a:ea typeface="Arial"/>
                          <a:cs typeface="Arial"/>
                        </a:rPr>
                        <a:t>Recuperación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Seguimiento</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Total + 60 nocturnas</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Contribución</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S/300 WAHA</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825" b="1">
                          <a:solidFill>
                            <a:srgbClr val="FFFFFF"/>
                          </a:solidFill>
                          <a:latin typeface="Arial"/>
                          <a:ea typeface="Arial"/>
                          <a:cs typeface="Arial"/>
                        </a:rPr>
                        <a:t>Tras S/1.400 optimizado</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extLst>
                  <a:ext uri="{0D108BD9-81ED-4DB2-BD59-A6C34878D82A}">
                    <a16:rowId xmlns:a16="http://schemas.microsoft.com/office/drawing/2014/main" val="10000"/>
                  </a:ext>
                </a:extLst>
              </a:tr>
              <a:tr h="590426">
                <a:tc>
                  <a:txBody>
                    <a:bodyPr/>
                    <a:lstStyle/>
                    <a:p>
                      <a:r>
                        <a:rPr sz="825">
                          <a:solidFill>
                            <a:srgbClr val="0B0B0B"/>
                          </a:solidFill>
                          <a:latin typeface="Arial"/>
                          <a:ea typeface="Arial"/>
                          <a:cs typeface="Arial"/>
                        </a:rPr>
                        <a:t>5%</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96</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156</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S/2.340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S/2.040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S/940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1"/>
                  </a:ext>
                </a:extLst>
              </a:tr>
              <a:tr h="590426">
                <a:tc>
                  <a:txBody>
                    <a:bodyPr/>
                    <a:lstStyle/>
                    <a:p>
                      <a:r>
                        <a:rPr sz="825">
                          <a:solidFill>
                            <a:srgbClr val="0B0B0B"/>
                          </a:solidFill>
                          <a:latin typeface="Arial"/>
                          <a:ea typeface="Arial"/>
                          <a:cs typeface="Arial"/>
                        </a:rPr>
                        <a:t>10%</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192</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252</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S/3.780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S/3.480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S/2.380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2"/>
                  </a:ext>
                </a:extLst>
              </a:tr>
              <a:tr h="590426">
                <a:tc>
                  <a:txBody>
                    <a:bodyPr/>
                    <a:lstStyle/>
                    <a:p>
                      <a:r>
                        <a:rPr sz="825">
                          <a:solidFill>
                            <a:srgbClr val="0B0B0B"/>
                          </a:solidFill>
                          <a:latin typeface="Arial"/>
                          <a:ea typeface="Arial"/>
                          <a:cs typeface="Arial"/>
                        </a:rPr>
                        <a:t>20%</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384</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444</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S/6.660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S/6.360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825">
                          <a:solidFill>
                            <a:srgbClr val="0B0B0B"/>
                          </a:solidFill>
                          <a:latin typeface="Arial"/>
                          <a:ea typeface="Arial"/>
                          <a:cs typeface="Arial"/>
                        </a:rPr>
                        <a:t>S/5.260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1050852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2A083C19-1AC8-43A8-BBA1-713B7EC34F63}"/>
              </a:ext>
            </a:extLst>
          </p:cNvPr>
          <p:cNvPicPr>
            <a:picLocks noChangeAspect="1"/>
          </p:cNvPicPr>
          <p:nvPr/>
        </p:nvPicPr>
        <p:blipFill>
          <a:blip r:embed="rId3"/>
          <a:stretch/>
        </p:blipFill>
        <p:spPr>
          <a:xfrm>
            <a:off x="0" y="0"/>
            <a:ext cx="9324594" cy="5248656"/>
          </a:xfrm>
          <a:prstGeom prst="rect">
            <a:avLst/>
          </a:prstGeom>
        </p:spPr>
      </p:pic>
      <p:sp>
        <p:nvSpPr>
          <p:cNvPr id="2" name="text-19-0">
            <a:extLst>
              <a:ext uri="{FF2B5EF4-FFF2-40B4-BE49-F238E27FC236}">
                <a16:creationId xmlns:a16="http://schemas.microsoft.com/office/drawing/2014/main" id="{D8AD20B0-8B12-4032-8919-2386FAABE871}"/>
              </a:ext>
            </a:extLst>
          </p:cNvPr>
          <p:cNvSpPr>
            <a:spLocks noGrp="1"/>
          </p:cNvSpPr>
          <p:nvPr/>
        </p:nvSpPr>
        <p:spPr>
          <a:xfrm>
            <a:off x="532209" y="382979"/>
            <a:ext cx="1510432"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ANEXO B / ALCANCE</a:t>
            </a:r>
          </a:p>
        </p:txBody>
      </p:sp>
      <p:sp>
        <p:nvSpPr>
          <p:cNvPr id="3" name="text-19-1">
            <a:extLst>
              <a:ext uri="{FF2B5EF4-FFF2-40B4-BE49-F238E27FC236}">
                <a16:creationId xmlns:a16="http://schemas.microsoft.com/office/drawing/2014/main" id="{259F6D6C-9179-4DBF-BBFB-A27154F43970}"/>
              </a:ext>
            </a:extLst>
          </p:cNvPr>
          <p:cNvSpPr>
            <a:spLocks noGrp="1"/>
          </p:cNvSpPr>
          <p:nvPr/>
        </p:nvSpPr>
        <p:spPr>
          <a:xfrm>
            <a:off x="532209" y="673884"/>
            <a:ext cx="5684043" cy="678656"/>
          </a:xfrm>
          <a:prstGeom prst="rect">
            <a:avLst/>
          </a:prstGeom>
          <a:noFill/>
          <a:ln w="0">
            <a:noFill/>
          </a:ln>
        </p:spPr>
        <p:txBody>
          <a:bodyPr wrap="none" lIns="0" tIns="0" rIns="0" bIns="0" anchor="t">
            <a:noAutofit/>
          </a:bodyPr>
          <a:lstStyle>
            <a:defPPr>
              <a:defRPr sz="4275" b="0" i="0">
                <a:solidFill>
                  <a:srgbClr val="F5F0E8"/>
                </a:solidFill>
                <a:latin typeface="Impact"/>
                <a:ea typeface="Impact"/>
                <a:cs typeface="Impact"/>
              </a:defRPr>
            </a:defPPr>
          </a:lstStyle>
          <a:p>
            <a:pPr>
              <a:defRPr sz="4275" b="0" i="0">
                <a:solidFill>
                  <a:srgbClr val="F5F0E8"/>
                </a:solidFill>
                <a:latin typeface="Impact"/>
                <a:ea typeface="Impact"/>
                <a:cs typeface="Impact"/>
              </a:defRPr>
            </a:pPr>
            <a:r>
              <a:rPr sz="4275" b="0" i="0">
                <a:solidFill>
                  <a:srgbClr val="F5F0E8"/>
                </a:solidFill>
                <a:latin typeface="Impact"/>
                <a:ea typeface="Impact"/>
                <a:cs typeface="Impact"/>
              </a:rPr>
              <a:t>EL REGISTRO PERMITE MEDIR</a:t>
            </a:r>
          </a:p>
        </p:txBody>
      </p:sp>
      <p:sp>
        <p:nvSpPr>
          <p:cNvPr id="4" name="text-19-2">
            <a:extLst>
              <a:ext uri="{FF2B5EF4-FFF2-40B4-BE49-F238E27FC236}">
                <a16:creationId xmlns:a16="http://schemas.microsoft.com/office/drawing/2014/main" id="{03D864DF-85CB-46E5-ADEB-47BB83EA49F0}"/>
              </a:ext>
            </a:extLst>
          </p:cNvPr>
          <p:cNvSpPr>
            <a:spLocks noGrp="1"/>
          </p:cNvSpPr>
          <p:nvPr/>
        </p:nvSpPr>
        <p:spPr>
          <a:xfrm>
            <a:off x="532209" y="1231097"/>
            <a:ext cx="5331567" cy="678656"/>
          </a:xfrm>
          <a:prstGeom prst="rect">
            <a:avLst/>
          </a:prstGeom>
          <a:noFill/>
          <a:ln w="0">
            <a:noFill/>
          </a:ln>
        </p:spPr>
        <p:txBody>
          <a:bodyPr wrap="none" lIns="0" tIns="0" rIns="0" bIns="0" anchor="t">
            <a:noAutofit/>
          </a:bodyPr>
          <a:lstStyle>
            <a:defPPr>
              <a:defRPr sz="4275" b="0" i="0">
                <a:solidFill>
                  <a:srgbClr val="F5F0E8"/>
                </a:solidFill>
                <a:latin typeface="Impact"/>
                <a:ea typeface="Impact"/>
                <a:cs typeface="Impact"/>
              </a:defRPr>
            </a:defPPr>
          </a:lstStyle>
          <a:p>
            <a:pPr>
              <a:defRPr sz="4275" b="0" i="0">
                <a:solidFill>
                  <a:srgbClr val="F5F0E8"/>
                </a:solidFill>
                <a:latin typeface="Impact"/>
                <a:ea typeface="Impact"/>
                <a:cs typeface="Impact"/>
              </a:defRPr>
            </a:pPr>
            <a:r>
              <a:rPr sz="4275" b="0" i="0">
                <a:solidFill>
                  <a:srgbClr val="F5F0E8"/>
                </a:solidFill>
                <a:latin typeface="Impact"/>
                <a:ea typeface="Impact"/>
                <a:cs typeface="Impact"/>
              </a:rPr>
              <a:t>LA INTEGRACIÓN SE VALIDA</a:t>
            </a:r>
          </a:p>
        </p:txBody>
      </p:sp>
      <p:sp>
        <p:nvSpPr>
          <p:cNvPr id="5" name="text-19-3">
            <a:extLst>
              <a:ext uri="{FF2B5EF4-FFF2-40B4-BE49-F238E27FC236}">
                <a16:creationId xmlns:a16="http://schemas.microsoft.com/office/drawing/2014/main" id="{2BECF6FE-00C7-431D-A94A-AA457F8F067B}"/>
              </a:ext>
            </a:extLst>
          </p:cNvPr>
          <p:cNvSpPr>
            <a:spLocks noGrp="1"/>
          </p:cNvSpPr>
          <p:nvPr/>
        </p:nvSpPr>
        <p:spPr>
          <a:xfrm>
            <a:off x="532209" y="2078755"/>
            <a:ext cx="2028839" cy="187523"/>
          </a:xfrm>
          <a:prstGeom prst="rect">
            <a:avLst/>
          </a:prstGeom>
          <a:noFill/>
          <a:ln w="0">
            <a:noFill/>
          </a:ln>
        </p:spPr>
        <p:txBody>
          <a:bodyPr wrap="none" lIns="0" tIns="0" rIns="0" bIns="0" anchor="t">
            <a:noAutofit/>
          </a:bodyPr>
          <a:lstStyle>
            <a:defPPr>
              <a:defRPr sz="1181" b="1" i="0">
                <a:solidFill>
                  <a:srgbClr val="FF4053"/>
                </a:solidFill>
                <a:latin typeface="Arial"/>
                <a:ea typeface="Arial"/>
                <a:cs typeface="Arial"/>
              </a:defRPr>
            </a:defPPr>
          </a:lstStyle>
          <a:p>
            <a:pPr>
              <a:defRPr sz="1181" b="1" i="0">
                <a:solidFill>
                  <a:srgbClr val="FF4053"/>
                </a:solidFill>
                <a:latin typeface="Arial"/>
                <a:ea typeface="Arial"/>
                <a:cs typeface="Arial"/>
              </a:defRPr>
            </a:pPr>
            <a:r>
              <a:rPr sz="1181" b="1" i="0">
                <a:solidFill>
                  <a:srgbClr val="FF4053"/>
                </a:solidFill>
                <a:latin typeface="Arial"/>
                <a:ea typeface="Arial"/>
                <a:cs typeface="Arial"/>
              </a:rPr>
              <a:t>ENTREGA WEB REVISADA</a:t>
            </a:r>
          </a:p>
        </p:txBody>
      </p:sp>
      <p:sp>
        <p:nvSpPr>
          <p:cNvPr id="6" name="text-19-4">
            <a:extLst>
              <a:ext uri="{FF2B5EF4-FFF2-40B4-BE49-F238E27FC236}">
                <a16:creationId xmlns:a16="http://schemas.microsoft.com/office/drawing/2014/main" id="{57A1961A-2BBD-4C25-A1F7-0F1D9C70ADCE}"/>
              </a:ext>
            </a:extLst>
          </p:cNvPr>
          <p:cNvSpPr>
            <a:spLocks noGrp="1"/>
          </p:cNvSpPr>
          <p:nvPr/>
        </p:nvSpPr>
        <p:spPr>
          <a:xfrm>
            <a:off x="532209" y="2389319"/>
            <a:ext cx="3062463"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Cotización y registro sobre Firebase.</a:t>
            </a:r>
          </a:p>
        </p:txBody>
      </p:sp>
      <p:sp>
        <p:nvSpPr>
          <p:cNvPr id="7" name="text-19-5">
            <a:extLst>
              <a:ext uri="{FF2B5EF4-FFF2-40B4-BE49-F238E27FC236}">
                <a16:creationId xmlns:a16="http://schemas.microsoft.com/office/drawing/2014/main" id="{59D0C605-27F3-47ED-8444-F787450E169B}"/>
              </a:ext>
            </a:extLst>
          </p:cNvPr>
          <p:cNvSpPr>
            <a:spLocks noGrp="1"/>
          </p:cNvSpPr>
          <p:nvPr/>
        </p:nvSpPr>
        <p:spPr>
          <a:xfrm>
            <a:off x="532209" y="2660782"/>
            <a:ext cx="2846264"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Adjunto y seguimiento por estado.</a:t>
            </a:r>
          </a:p>
        </p:txBody>
      </p:sp>
      <p:sp>
        <p:nvSpPr>
          <p:cNvPr id="8" name="text-19-6">
            <a:extLst>
              <a:ext uri="{FF2B5EF4-FFF2-40B4-BE49-F238E27FC236}">
                <a16:creationId xmlns:a16="http://schemas.microsoft.com/office/drawing/2014/main" id="{A702A748-365C-48C4-998D-936ED8E0BB8A}"/>
              </a:ext>
            </a:extLst>
          </p:cNvPr>
          <p:cNvSpPr>
            <a:spLocks noGrp="1"/>
          </p:cNvSpPr>
          <p:nvPr/>
        </p:nvSpPr>
        <p:spPr>
          <a:xfrm>
            <a:off x="532209" y="3060832"/>
            <a:ext cx="2795263"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Sesión anónima en el navegador.</a:t>
            </a:r>
          </a:p>
        </p:txBody>
      </p:sp>
      <p:sp>
        <p:nvSpPr>
          <p:cNvPr id="9" name="text-19-7">
            <a:extLst>
              <a:ext uri="{FF2B5EF4-FFF2-40B4-BE49-F238E27FC236}">
                <a16:creationId xmlns:a16="http://schemas.microsoft.com/office/drawing/2014/main" id="{B16315FE-F3DE-4AF1-A35B-95F9AFC5D255}"/>
              </a:ext>
            </a:extLst>
          </p:cNvPr>
          <p:cNvSpPr>
            <a:spLocks noGrp="1"/>
          </p:cNvSpPr>
          <p:nvPr/>
        </p:nvSpPr>
        <p:spPr>
          <a:xfrm>
            <a:off x="4911328" y="2078755"/>
            <a:ext cx="1219728" cy="187523"/>
          </a:xfrm>
          <a:prstGeom prst="rect">
            <a:avLst/>
          </a:prstGeom>
          <a:noFill/>
          <a:ln w="0">
            <a:noFill/>
          </a:ln>
        </p:spPr>
        <p:txBody>
          <a:bodyPr wrap="none" lIns="0" tIns="0" rIns="0" bIns="0" anchor="t">
            <a:noAutofit/>
          </a:bodyPr>
          <a:lstStyle>
            <a:defPPr>
              <a:defRPr sz="1181" b="1" i="0">
                <a:solidFill>
                  <a:srgbClr val="FF4053"/>
                </a:solidFill>
                <a:latin typeface="Arial"/>
                <a:ea typeface="Arial"/>
                <a:cs typeface="Arial"/>
              </a:defRPr>
            </a:defPPr>
          </a:lstStyle>
          <a:p>
            <a:pPr>
              <a:defRPr sz="1181" b="1" i="0">
                <a:solidFill>
                  <a:srgbClr val="FF4053"/>
                </a:solidFill>
                <a:latin typeface="Arial"/>
                <a:ea typeface="Arial"/>
                <a:cs typeface="Arial"/>
              </a:defRPr>
            </a:pPr>
            <a:r>
              <a:rPr sz="1181" b="1" i="0">
                <a:solidFill>
                  <a:srgbClr val="FF4053"/>
                </a:solidFill>
                <a:latin typeface="Arial"/>
                <a:ea typeface="Arial"/>
                <a:cs typeface="Arial"/>
              </a:rPr>
              <a:t>AMPLIACIONES</a:t>
            </a:r>
          </a:p>
        </p:txBody>
      </p:sp>
      <p:sp>
        <p:nvSpPr>
          <p:cNvPr id="10" name="text-19-8">
            <a:extLst>
              <a:ext uri="{FF2B5EF4-FFF2-40B4-BE49-F238E27FC236}">
                <a16:creationId xmlns:a16="http://schemas.microsoft.com/office/drawing/2014/main" id="{155FDA1C-4DDD-48AF-BD60-DAEEEB71BFE0}"/>
              </a:ext>
            </a:extLst>
          </p:cNvPr>
          <p:cNvSpPr>
            <a:spLocks noGrp="1"/>
          </p:cNvSpPr>
          <p:nvPr/>
        </p:nvSpPr>
        <p:spPr>
          <a:xfrm>
            <a:off x="4911328" y="2389319"/>
            <a:ext cx="2443215"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Identidad compartida y CRM.</a:t>
            </a:r>
          </a:p>
        </p:txBody>
      </p:sp>
      <p:sp>
        <p:nvSpPr>
          <p:cNvPr id="11" name="text-19-9">
            <a:extLst>
              <a:ext uri="{FF2B5EF4-FFF2-40B4-BE49-F238E27FC236}">
                <a16:creationId xmlns:a16="http://schemas.microsoft.com/office/drawing/2014/main" id="{9ABDDEA2-BA66-4578-8BB8-2D9FAD0C14AF}"/>
              </a:ext>
            </a:extLst>
          </p:cNvPr>
          <p:cNvSpPr>
            <a:spLocks noGrp="1"/>
          </p:cNvSpPr>
          <p:nvPr/>
        </p:nvSpPr>
        <p:spPr>
          <a:xfrm>
            <a:off x="4911328" y="2660782"/>
            <a:ext cx="2298711"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Flow nativo y recuperación.</a:t>
            </a:r>
          </a:p>
        </p:txBody>
      </p:sp>
      <p:sp>
        <p:nvSpPr>
          <p:cNvPr id="12" name="text-19-10">
            <a:extLst>
              <a:ext uri="{FF2B5EF4-FFF2-40B4-BE49-F238E27FC236}">
                <a16:creationId xmlns:a16="http://schemas.microsoft.com/office/drawing/2014/main" id="{BA782C18-F6AC-4CC3-BAD6-2E8C5A97656B}"/>
              </a:ext>
            </a:extLst>
          </p:cNvPr>
          <p:cNvSpPr>
            <a:spLocks noGrp="1"/>
          </p:cNvSpPr>
          <p:nvPr/>
        </p:nvSpPr>
        <p:spPr>
          <a:xfrm>
            <a:off x="4911328" y="2932244"/>
            <a:ext cx="2247448" cy="232172"/>
          </a:xfrm>
          <a:prstGeom prst="rect">
            <a:avLst/>
          </a:prstGeom>
          <a:noFill/>
          <a:ln w="0">
            <a:noFill/>
          </a:ln>
        </p:spPr>
        <p:txBody>
          <a:bodyPr wrap="none" lIns="0" tIns="0" rIns="0" bIns="0" anchor="t">
            <a:noAutofit/>
          </a:bodyPr>
          <a:lstStyle>
            <a:defPPr>
              <a:defRPr sz="1463" b="0" i="0">
                <a:solidFill>
                  <a:srgbClr val="F5F0E8"/>
                </a:solidFill>
                <a:latin typeface="Arial"/>
                <a:ea typeface="Arial"/>
                <a:cs typeface="Arial"/>
              </a:defRPr>
            </a:defPPr>
          </a:lstStyle>
          <a:p>
            <a:pPr>
              <a:defRPr sz="1463" b="0" i="0">
                <a:solidFill>
                  <a:srgbClr val="F5F0E8"/>
                </a:solidFill>
                <a:latin typeface="Arial"/>
                <a:ea typeface="Arial"/>
                <a:cs typeface="Arial"/>
              </a:defRPr>
            </a:pPr>
            <a:r>
              <a:rPr sz="1463" b="0" i="0">
                <a:solidFill>
                  <a:srgbClr val="F5F0E8"/>
                </a:solidFill>
                <a:latin typeface="Arial"/>
                <a:ea typeface="Arial"/>
                <a:cs typeface="Arial"/>
              </a:rPr>
              <a:t>Pago bancario automático.</a:t>
            </a:r>
          </a:p>
        </p:txBody>
      </p:sp>
      <p:sp>
        <p:nvSpPr>
          <p:cNvPr id="13" name="text-19-11">
            <a:extLst>
              <a:ext uri="{FF2B5EF4-FFF2-40B4-BE49-F238E27FC236}">
                <a16:creationId xmlns:a16="http://schemas.microsoft.com/office/drawing/2014/main" id="{1FA2FD5C-2B21-4C1C-BDF2-4B2A670192CA}"/>
              </a:ext>
            </a:extLst>
          </p:cNvPr>
          <p:cNvSpPr>
            <a:spLocks noGrp="1"/>
          </p:cNvSpPr>
          <p:nvPr/>
        </p:nvSpPr>
        <p:spPr>
          <a:xfrm>
            <a:off x="532209" y="4503579"/>
            <a:ext cx="6839420" cy="133945"/>
          </a:xfrm>
          <a:prstGeom prst="rect">
            <a:avLst/>
          </a:prstGeom>
          <a:noFill/>
          <a:ln w="0">
            <a:noFill/>
          </a:ln>
        </p:spPr>
        <p:txBody>
          <a:bodyPr wrap="none" lIns="0" tIns="0" rIns="0" bIns="0" anchor="t">
            <a:noAutofit/>
          </a:bodyPr>
          <a:lstStyle>
            <a:defPPr>
              <a:defRPr sz="844" b="0" i="0">
                <a:solidFill>
                  <a:srgbClr val="F5F0E8"/>
                </a:solidFill>
                <a:latin typeface="Arial"/>
                <a:ea typeface="Arial"/>
                <a:cs typeface="Arial"/>
              </a:defRPr>
            </a:defPPr>
          </a:lstStyle>
          <a:p>
            <a:pPr>
              <a:defRPr sz="844" b="0" i="0">
                <a:solidFill>
                  <a:srgbClr val="F5F0E8"/>
                </a:solidFill>
                <a:latin typeface="Arial"/>
                <a:ea typeface="Arial"/>
                <a:cs typeface="Arial"/>
              </a:defRPr>
            </a:pPr>
            <a:r>
              <a:rPr sz="844" b="0" i="0">
                <a:solidFill>
                  <a:srgbClr val="F5F0E8"/>
                </a:solidFill>
                <a:latin typeface="Arial"/>
                <a:ea typeface="Arial"/>
                <a:cs typeface="Arial"/>
              </a:rPr>
              <a:t>El video ilustra el conjunto modular con datos de presentación. No certifica emisión fiscal, liquidación bancaria ni continuidad entre dispositivos.</a:t>
            </a:r>
          </a:p>
        </p:txBody>
      </p:sp>
      <p:sp>
        <p:nvSpPr>
          <p:cNvPr id="14" name="text-19-12">
            <a:extLst>
              <a:ext uri="{FF2B5EF4-FFF2-40B4-BE49-F238E27FC236}">
                <a16:creationId xmlns:a16="http://schemas.microsoft.com/office/drawing/2014/main" id="{A0E57EC1-7D28-4D01-BA58-EBC53F41F0D3}"/>
              </a:ext>
            </a:extLst>
          </p:cNvPr>
          <p:cNvSpPr>
            <a:spLocks noGrp="1"/>
          </p:cNvSpPr>
          <p:nvPr/>
        </p:nvSpPr>
        <p:spPr>
          <a:xfrm>
            <a:off x="532209" y="3506828"/>
            <a:ext cx="967190" cy="178594"/>
          </a:xfrm>
          <a:prstGeom prst="rect">
            <a:avLst/>
          </a:prstGeom>
          <a:noFill/>
          <a:ln w="0">
            <a:noFill/>
          </a:ln>
        </p:spPr>
        <p:txBody>
          <a:bodyPr wrap="none" lIns="0" tIns="0" rIns="0" bIns="0" anchor="t">
            <a:noAutofit/>
          </a:bodyPr>
          <a:lstStyle>
            <a:defPPr>
              <a:defRPr sz="1125" b="0" i="0">
                <a:solidFill>
                  <a:srgbClr val="F5F0E8"/>
                </a:solidFill>
                <a:latin typeface="Arial"/>
                <a:ea typeface="Arial"/>
                <a:cs typeface="Arial"/>
              </a:defRPr>
            </a:defPPr>
          </a:lstStyle>
          <a:p>
            <a:pPr>
              <a:defRPr sz="1125" b="0" i="0">
                <a:solidFill>
                  <a:srgbClr val="F5F0E8"/>
                </a:solidFill>
                <a:latin typeface="Arial"/>
                <a:ea typeface="Arial"/>
                <a:cs typeface="Arial"/>
              </a:defRPr>
            </a:pPr>
            <a:r>
              <a:rPr sz="1125" b="0" i="0">
                <a:solidFill>
                  <a:srgbClr val="F5F0E8"/>
                </a:solidFill>
                <a:latin typeface="Arial"/>
                <a:ea typeface="Arial"/>
                <a:cs typeface="Arial"/>
              </a:rPr>
              <a:t>Volver al piloto</a:t>
            </a:r>
          </a:p>
        </p:txBody>
      </p:sp>
      <p:sp>
        <p:nvSpPr>
          <p:cNvPr id="15" name="text-19-13">
            <a:extLst>
              <a:ext uri="{FF2B5EF4-FFF2-40B4-BE49-F238E27FC236}">
                <a16:creationId xmlns:a16="http://schemas.microsoft.com/office/drawing/2014/main" id="{2C73BE87-0DFF-4A5C-9F38-3B1AF22BD2A2}"/>
              </a:ext>
            </a:extLst>
          </p:cNvPr>
          <p:cNvSpPr>
            <a:spLocks noGrp="1"/>
          </p:cNvSpPr>
          <p:nvPr/>
        </p:nvSpPr>
        <p:spPr>
          <a:xfrm>
            <a:off x="532209" y="4923697"/>
            <a:ext cx="1120674"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16" name="text-19-14">
            <a:extLst>
              <a:ext uri="{FF2B5EF4-FFF2-40B4-BE49-F238E27FC236}">
                <a16:creationId xmlns:a16="http://schemas.microsoft.com/office/drawing/2014/main" id="{EEB8931B-E156-49FD-8DF1-F92388005F21}"/>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19 / 5.5</a:t>
            </a:r>
          </a:p>
        </p:txBody>
      </p:sp>
    </p:spTree>
    <p:extLst>
      <p:ext uri="{BB962C8B-B14F-4D97-AF65-F5344CB8AC3E}">
        <p14:creationId xmlns:p14="http://schemas.microsoft.com/office/powerpoint/2010/main" val="210270971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6FDDF4C8-CFC3-4E61-AFC3-A3CC3ECC4B46}"/>
              </a:ext>
            </a:extLst>
          </p:cNvPr>
          <p:cNvPicPr>
            <a:picLocks noChangeAspect="1"/>
          </p:cNvPicPr>
          <p:nvPr/>
        </p:nvPicPr>
        <p:blipFill>
          <a:blip r:embed="rId3"/>
          <a:stretch/>
        </p:blipFill>
        <p:spPr>
          <a:xfrm>
            <a:off x="0" y="0"/>
            <a:ext cx="9324594" cy="5248656"/>
          </a:xfrm>
          <a:prstGeom prst="rect">
            <a:avLst/>
          </a:prstGeom>
        </p:spPr>
      </p:pic>
      <p:sp>
        <p:nvSpPr>
          <p:cNvPr id="2" name="text-20-0">
            <a:extLst>
              <a:ext uri="{FF2B5EF4-FFF2-40B4-BE49-F238E27FC236}">
                <a16:creationId xmlns:a16="http://schemas.microsoft.com/office/drawing/2014/main" id="{C39AB62B-A037-4834-9ED9-B6E559A876DB}"/>
              </a:ext>
            </a:extLst>
          </p:cNvPr>
          <p:cNvSpPr>
            <a:spLocks noGrp="1"/>
          </p:cNvSpPr>
          <p:nvPr/>
        </p:nvSpPr>
        <p:spPr>
          <a:xfrm>
            <a:off x="532209" y="382979"/>
            <a:ext cx="1488017"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ANEXO C / FUENTES</a:t>
            </a:r>
          </a:p>
        </p:txBody>
      </p:sp>
      <p:sp>
        <p:nvSpPr>
          <p:cNvPr id="3" name="text-20-1">
            <a:extLst>
              <a:ext uri="{FF2B5EF4-FFF2-40B4-BE49-F238E27FC236}">
                <a16:creationId xmlns:a16="http://schemas.microsoft.com/office/drawing/2014/main" id="{5ACD84D6-D65E-4869-A729-F7C2912D556C}"/>
              </a:ext>
            </a:extLst>
          </p:cNvPr>
          <p:cNvSpPr>
            <a:spLocks noGrp="1"/>
          </p:cNvSpPr>
          <p:nvPr/>
        </p:nvSpPr>
        <p:spPr>
          <a:xfrm>
            <a:off x="532209" y="673884"/>
            <a:ext cx="3643273" cy="678656"/>
          </a:xfrm>
          <a:prstGeom prst="rect">
            <a:avLst/>
          </a:prstGeom>
          <a:noFill/>
          <a:ln w="0">
            <a:noFill/>
          </a:ln>
        </p:spPr>
        <p:txBody>
          <a:bodyPr wrap="none" lIns="0" tIns="0" rIns="0" bIns="0" anchor="t">
            <a:noAutofit/>
          </a:bodyPr>
          <a:lstStyle>
            <a:defPPr>
              <a:defRPr sz="4275" b="0" i="0">
                <a:solidFill>
                  <a:srgbClr val="0B0B0B"/>
                </a:solidFill>
                <a:latin typeface="Impact"/>
                <a:ea typeface="Impact"/>
                <a:cs typeface="Impact"/>
              </a:defRPr>
            </a:defPPr>
          </a:lstStyle>
          <a:p>
            <a:pPr>
              <a:defRPr sz="4275" b="0" i="0">
                <a:solidFill>
                  <a:srgbClr val="0B0B0B"/>
                </a:solidFill>
                <a:latin typeface="Impact"/>
                <a:ea typeface="Impact"/>
                <a:cs typeface="Impact"/>
              </a:defRPr>
            </a:pPr>
            <a:r>
              <a:rPr sz="4275" b="0" i="0">
                <a:solidFill>
                  <a:srgbClr val="0B0B0B"/>
                </a:solidFill>
                <a:latin typeface="Impact"/>
                <a:ea typeface="Impact"/>
                <a:cs typeface="Impact"/>
              </a:rPr>
              <a:t>DATOS, CAPTURAS</a:t>
            </a:r>
          </a:p>
        </p:txBody>
      </p:sp>
      <p:sp>
        <p:nvSpPr>
          <p:cNvPr id="4" name="text-20-2">
            <a:extLst>
              <a:ext uri="{FF2B5EF4-FFF2-40B4-BE49-F238E27FC236}">
                <a16:creationId xmlns:a16="http://schemas.microsoft.com/office/drawing/2014/main" id="{11B20049-1A44-4876-AEC9-77030ED130BE}"/>
              </a:ext>
            </a:extLst>
          </p:cNvPr>
          <p:cNvSpPr>
            <a:spLocks noGrp="1"/>
          </p:cNvSpPr>
          <p:nvPr/>
        </p:nvSpPr>
        <p:spPr>
          <a:xfrm>
            <a:off x="532209" y="1231097"/>
            <a:ext cx="4855922" cy="678656"/>
          </a:xfrm>
          <a:prstGeom prst="rect">
            <a:avLst/>
          </a:prstGeom>
          <a:noFill/>
          <a:ln w="0">
            <a:noFill/>
          </a:ln>
        </p:spPr>
        <p:txBody>
          <a:bodyPr wrap="none" lIns="0" tIns="0" rIns="0" bIns="0" anchor="t">
            <a:noAutofit/>
          </a:bodyPr>
          <a:lstStyle>
            <a:defPPr>
              <a:defRPr sz="4275" b="0" i="0">
                <a:solidFill>
                  <a:srgbClr val="0B0B0B"/>
                </a:solidFill>
                <a:latin typeface="Impact"/>
                <a:ea typeface="Impact"/>
                <a:cs typeface="Impact"/>
              </a:defRPr>
            </a:defPPr>
          </a:lstStyle>
          <a:p>
            <a:pPr>
              <a:defRPr sz="4275" b="0" i="0">
                <a:solidFill>
                  <a:srgbClr val="0B0B0B"/>
                </a:solidFill>
                <a:latin typeface="Impact"/>
                <a:ea typeface="Impact"/>
                <a:cs typeface="Impact"/>
              </a:defRPr>
            </a:pPr>
            <a:r>
              <a:rPr sz="4275" b="0" i="0">
                <a:solidFill>
                  <a:srgbClr val="0B0B0B"/>
                </a:solidFill>
                <a:latin typeface="Impact"/>
                <a:ea typeface="Impact"/>
                <a:cs typeface="Impact"/>
              </a:rPr>
              <a:t>Y SUPUESTOS A LA VISTA</a:t>
            </a:r>
          </a:p>
        </p:txBody>
      </p:sp>
      <p:sp>
        <p:nvSpPr>
          <p:cNvPr id="5" name="text-20-3">
            <a:extLst>
              <a:ext uri="{FF2B5EF4-FFF2-40B4-BE49-F238E27FC236}">
                <a16:creationId xmlns:a16="http://schemas.microsoft.com/office/drawing/2014/main" id="{983F8367-3344-4150-B0DA-E2DD6025F70B}"/>
              </a:ext>
            </a:extLst>
          </p:cNvPr>
          <p:cNvSpPr>
            <a:spLocks noGrp="1"/>
          </p:cNvSpPr>
          <p:nvPr/>
        </p:nvSpPr>
        <p:spPr>
          <a:xfrm>
            <a:off x="532209" y="2201552"/>
            <a:ext cx="1800120" cy="205383"/>
          </a:xfrm>
          <a:prstGeom prst="rect">
            <a:avLst/>
          </a:prstGeom>
          <a:noFill/>
          <a:ln w="0">
            <a:noFill/>
          </a:ln>
        </p:spPr>
        <p:txBody>
          <a:bodyPr wrap="none" lIns="0" tIns="0" rIns="0" bIns="0" anchor="t">
            <a:noAutofit/>
          </a:bodyPr>
          <a:lstStyle>
            <a:defPPr>
              <a:defRPr sz="1294" b="1" i="0">
                <a:solidFill>
                  <a:srgbClr val="DC0A1E"/>
                </a:solidFill>
                <a:latin typeface="Arial"/>
                <a:ea typeface="Arial"/>
                <a:cs typeface="Arial"/>
              </a:defRPr>
            </a:defPPr>
          </a:lstStyle>
          <a:p>
            <a:pPr>
              <a:defRPr sz="1294" b="1" i="0">
                <a:solidFill>
                  <a:srgbClr val="DC0A1E"/>
                </a:solidFill>
                <a:latin typeface="Arial"/>
                <a:ea typeface="Arial"/>
                <a:cs typeface="Arial"/>
              </a:defRPr>
            </a:pPr>
            <a:r>
              <a:rPr sz="1294" b="1" i="0">
                <a:solidFill>
                  <a:srgbClr val="DC0A1E"/>
                </a:solidFill>
                <a:latin typeface="Arial"/>
                <a:ea typeface="Arial"/>
                <a:cs typeface="Arial"/>
              </a:rPr>
              <a:t>WhatsApp y Facebook</a:t>
            </a:r>
          </a:p>
        </p:txBody>
      </p:sp>
      <p:sp>
        <p:nvSpPr>
          <p:cNvPr id="6" name="text-20-4">
            <a:extLst>
              <a:ext uri="{FF2B5EF4-FFF2-40B4-BE49-F238E27FC236}">
                <a16:creationId xmlns:a16="http://schemas.microsoft.com/office/drawing/2014/main" id="{8D2F32BC-1286-4D2E-8E24-50D5D1AED9D3}"/>
              </a:ext>
            </a:extLst>
          </p:cNvPr>
          <p:cNvSpPr>
            <a:spLocks noGrp="1"/>
          </p:cNvSpPr>
          <p:nvPr/>
        </p:nvSpPr>
        <p:spPr>
          <a:xfrm>
            <a:off x="2732484" y="2201552"/>
            <a:ext cx="5663619"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131 chats, 67 transferencias, 64 cotizaciones por día. Promedios informados.</a:t>
            </a:r>
          </a:p>
        </p:txBody>
      </p:sp>
      <p:sp>
        <p:nvSpPr>
          <p:cNvPr id="7" name="text-20-5">
            <a:extLst>
              <a:ext uri="{FF2B5EF4-FFF2-40B4-BE49-F238E27FC236}">
                <a16:creationId xmlns:a16="http://schemas.microsoft.com/office/drawing/2014/main" id="{DFDDA36F-59EB-4DBD-AE7B-93191C5DFFD6}"/>
              </a:ext>
            </a:extLst>
          </p:cNvPr>
          <p:cNvSpPr>
            <a:spLocks noGrp="1"/>
          </p:cNvSpPr>
          <p:nvPr/>
        </p:nvSpPr>
        <p:spPr>
          <a:xfrm>
            <a:off x="532209" y="2687327"/>
            <a:ext cx="1581373" cy="205383"/>
          </a:xfrm>
          <a:prstGeom prst="rect">
            <a:avLst/>
          </a:prstGeom>
          <a:noFill/>
          <a:ln w="0">
            <a:noFill/>
          </a:ln>
        </p:spPr>
        <p:txBody>
          <a:bodyPr wrap="none" lIns="0" tIns="0" rIns="0" bIns="0" anchor="t">
            <a:noAutofit/>
          </a:bodyPr>
          <a:lstStyle>
            <a:defPPr>
              <a:defRPr sz="1294" b="1" i="0">
                <a:solidFill>
                  <a:srgbClr val="DC0A1E"/>
                </a:solidFill>
                <a:latin typeface="Arial"/>
                <a:ea typeface="Arial"/>
                <a:cs typeface="Arial"/>
              </a:defRPr>
            </a:defPPr>
          </a:lstStyle>
          <a:p>
            <a:pPr>
              <a:defRPr sz="1294" b="1" i="0">
                <a:solidFill>
                  <a:srgbClr val="DC0A1E"/>
                </a:solidFill>
                <a:latin typeface="Arial"/>
                <a:ea typeface="Arial"/>
                <a:cs typeface="Arial"/>
              </a:defRPr>
            </a:pPr>
            <a:r>
              <a:rPr sz="1294" b="1" i="0">
                <a:solidFill>
                  <a:srgbClr val="DC0A1E"/>
                </a:solidFill>
                <a:latin typeface="Arial"/>
                <a:ea typeface="Arial"/>
                <a:cs typeface="Arial"/>
              </a:rPr>
              <a:t>Transferencias SQL</a:t>
            </a:r>
          </a:p>
        </p:txBody>
      </p:sp>
      <p:sp>
        <p:nvSpPr>
          <p:cNvPr id="8" name="text-20-6">
            <a:extLst>
              <a:ext uri="{FF2B5EF4-FFF2-40B4-BE49-F238E27FC236}">
                <a16:creationId xmlns:a16="http://schemas.microsoft.com/office/drawing/2014/main" id="{FA9E857A-881B-4102-B1F8-2C0BCC9C03D4}"/>
              </a:ext>
            </a:extLst>
          </p:cNvPr>
          <p:cNvSpPr>
            <a:spLocks noGrp="1"/>
          </p:cNvSpPr>
          <p:nvPr/>
        </p:nvSpPr>
        <p:spPr>
          <a:xfrm>
            <a:off x="2732484" y="2687327"/>
            <a:ext cx="6019506"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3.723 registros en el período observado. Última modificación no equivale al cierre.</a:t>
            </a:r>
          </a:p>
        </p:txBody>
      </p:sp>
      <p:sp>
        <p:nvSpPr>
          <p:cNvPr id="9" name="text-20-7">
            <a:extLst>
              <a:ext uri="{FF2B5EF4-FFF2-40B4-BE49-F238E27FC236}">
                <a16:creationId xmlns:a16="http://schemas.microsoft.com/office/drawing/2014/main" id="{906CD3D1-474C-4C39-8FB5-535D6844893B}"/>
              </a:ext>
            </a:extLst>
          </p:cNvPr>
          <p:cNvSpPr>
            <a:spLocks noGrp="1"/>
          </p:cNvSpPr>
          <p:nvPr/>
        </p:nvSpPr>
        <p:spPr>
          <a:xfrm>
            <a:off x="532209" y="3180245"/>
            <a:ext cx="1526386" cy="205383"/>
          </a:xfrm>
          <a:prstGeom prst="rect">
            <a:avLst/>
          </a:prstGeom>
          <a:noFill/>
          <a:ln w="0">
            <a:noFill/>
          </a:ln>
        </p:spPr>
        <p:txBody>
          <a:bodyPr wrap="none" lIns="0" tIns="0" rIns="0" bIns="0" anchor="t">
            <a:noAutofit/>
          </a:bodyPr>
          <a:lstStyle>
            <a:defPPr>
              <a:defRPr sz="1294" b="1" i="0">
                <a:solidFill>
                  <a:srgbClr val="DC0A1E"/>
                </a:solidFill>
                <a:latin typeface="Arial"/>
                <a:ea typeface="Arial"/>
                <a:cs typeface="Arial"/>
              </a:defRPr>
            </a:defPPr>
          </a:lstStyle>
          <a:p>
            <a:pPr>
              <a:defRPr sz="1294" b="1" i="0">
                <a:solidFill>
                  <a:srgbClr val="DC0A1E"/>
                </a:solidFill>
                <a:latin typeface="Arial"/>
                <a:ea typeface="Arial"/>
                <a:cs typeface="Arial"/>
              </a:defRPr>
            </a:pPr>
            <a:r>
              <a:rPr sz="1294" b="1" i="0">
                <a:solidFill>
                  <a:srgbClr val="DC0A1E"/>
                </a:solidFill>
                <a:latin typeface="Arial"/>
                <a:ea typeface="Arial"/>
                <a:cs typeface="Arial"/>
              </a:rPr>
              <a:t>Material del equipo</a:t>
            </a:r>
          </a:p>
        </p:txBody>
      </p:sp>
      <p:sp>
        <p:nvSpPr>
          <p:cNvPr id="10" name="text-20-8">
            <a:extLst>
              <a:ext uri="{FF2B5EF4-FFF2-40B4-BE49-F238E27FC236}">
                <a16:creationId xmlns:a16="http://schemas.microsoft.com/office/drawing/2014/main" id="{8FE6997D-CCA6-41B3-993E-19A11A9881C5}"/>
              </a:ext>
            </a:extLst>
          </p:cNvPr>
          <p:cNvSpPr>
            <a:spLocks noGrp="1"/>
          </p:cNvSpPr>
          <p:nvPr/>
        </p:nvSpPr>
        <p:spPr>
          <a:xfrm>
            <a:off x="2732484" y="3180245"/>
            <a:ext cx="3864466"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Capturas, video, nombres y logos del PDF aportado.</a:t>
            </a:r>
          </a:p>
        </p:txBody>
      </p:sp>
      <p:sp>
        <p:nvSpPr>
          <p:cNvPr id="11" name="text-20-9">
            <a:extLst>
              <a:ext uri="{FF2B5EF4-FFF2-40B4-BE49-F238E27FC236}">
                <a16:creationId xmlns:a16="http://schemas.microsoft.com/office/drawing/2014/main" id="{1139F1AC-8AF8-4D56-A12A-F81550DC7B43}"/>
              </a:ext>
            </a:extLst>
          </p:cNvPr>
          <p:cNvSpPr>
            <a:spLocks noGrp="1"/>
          </p:cNvSpPr>
          <p:nvPr/>
        </p:nvSpPr>
        <p:spPr>
          <a:xfrm>
            <a:off x="532209" y="3666020"/>
            <a:ext cx="1526222" cy="205383"/>
          </a:xfrm>
          <a:prstGeom prst="rect">
            <a:avLst/>
          </a:prstGeom>
          <a:noFill/>
          <a:ln w="0">
            <a:noFill/>
          </a:ln>
        </p:spPr>
        <p:txBody>
          <a:bodyPr wrap="none" lIns="0" tIns="0" rIns="0" bIns="0" anchor="t">
            <a:noAutofit/>
          </a:bodyPr>
          <a:lstStyle>
            <a:defPPr>
              <a:defRPr sz="1294" b="1" i="0">
                <a:solidFill>
                  <a:srgbClr val="DC0A1E"/>
                </a:solidFill>
                <a:latin typeface="Arial"/>
                <a:ea typeface="Arial"/>
                <a:cs typeface="Arial"/>
              </a:defRPr>
            </a:defPPr>
          </a:lstStyle>
          <a:p>
            <a:pPr>
              <a:defRPr sz="1294" b="1" i="0">
                <a:solidFill>
                  <a:srgbClr val="DC0A1E"/>
                </a:solidFill>
                <a:latin typeface="Arial"/>
                <a:ea typeface="Arial"/>
                <a:cs typeface="Arial"/>
              </a:defRPr>
            </a:pPr>
            <a:r>
              <a:rPr sz="1294" b="1" i="0">
                <a:solidFill>
                  <a:srgbClr val="DC0A1E"/>
                </a:solidFill>
                <a:latin typeface="Arial"/>
                <a:ea typeface="Arial"/>
                <a:cs typeface="Arial"/>
              </a:rPr>
              <a:t>Modelo económico</a:t>
            </a:r>
          </a:p>
        </p:txBody>
      </p:sp>
      <p:sp>
        <p:nvSpPr>
          <p:cNvPr id="12" name="text-20-10">
            <a:extLst>
              <a:ext uri="{FF2B5EF4-FFF2-40B4-BE49-F238E27FC236}">
                <a16:creationId xmlns:a16="http://schemas.microsoft.com/office/drawing/2014/main" id="{C3ECF1F4-5161-44F9-9C2F-D8F56F4F68C6}"/>
              </a:ext>
            </a:extLst>
          </p:cNvPr>
          <p:cNvSpPr>
            <a:spLocks noGrp="1"/>
          </p:cNvSpPr>
          <p:nvPr/>
        </p:nvSpPr>
        <p:spPr>
          <a:xfrm>
            <a:off x="2732484" y="3666020"/>
            <a:ext cx="4928843" cy="205383"/>
          </a:xfrm>
          <a:prstGeom prst="rect">
            <a:avLst/>
          </a:prstGeom>
          <a:noFill/>
          <a:ln w="0">
            <a:noFill/>
          </a:ln>
        </p:spPr>
        <p:txBody>
          <a:bodyPr wrap="none" lIns="0" tIns="0" rIns="0" bIns="0" anchor="t">
            <a:noAutofit/>
          </a:bodyPr>
          <a:lstStyle>
            <a:defPPr>
              <a:defRPr sz="1294" b="0" i="0">
                <a:solidFill>
                  <a:srgbClr val="0B0B0B"/>
                </a:solidFill>
                <a:latin typeface="Arial"/>
                <a:ea typeface="Arial"/>
                <a:cs typeface="Arial"/>
              </a:defRPr>
            </a:defPPr>
          </a:lstStyle>
          <a:p>
            <a:pPr>
              <a:defRPr sz="1294" b="0" i="0">
                <a:solidFill>
                  <a:srgbClr val="0B0B0B"/>
                </a:solidFill>
                <a:latin typeface="Arial"/>
                <a:ea typeface="Arial"/>
                <a:cs typeface="Arial"/>
              </a:defRPr>
            </a:pPr>
            <a:r>
              <a:rPr sz="1294" b="0" i="0">
                <a:solidFill>
                  <a:srgbClr val="0B0B0B"/>
                </a:solidFill>
                <a:latin typeface="Arial"/>
                <a:ea typeface="Arial"/>
                <a:cs typeface="Arial"/>
              </a:rPr>
              <a:t>Plantilla 6 + 3. Sueldos y demanda fuera de horario son supuestos.</a:t>
            </a:r>
          </a:p>
        </p:txBody>
      </p:sp>
      <p:sp>
        <p:nvSpPr>
          <p:cNvPr id="13" name="text-20-11">
            <a:extLst>
              <a:ext uri="{FF2B5EF4-FFF2-40B4-BE49-F238E27FC236}">
                <a16:creationId xmlns:a16="http://schemas.microsoft.com/office/drawing/2014/main" id="{864FC427-E825-4E7C-AC9D-B1D84A3B6698}"/>
              </a:ext>
            </a:extLst>
          </p:cNvPr>
          <p:cNvSpPr>
            <a:spLocks noGrp="1"/>
          </p:cNvSpPr>
          <p:nvPr/>
        </p:nvSpPr>
        <p:spPr>
          <a:xfrm>
            <a:off x="532209" y="4178340"/>
            <a:ext cx="1348380" cy="178594"/>
          </a:xfrm>
          <a:prstGeom prst="rect">
            <a:avLst/>
          </a:prstGeom>
          <a:noFill/>
          <a:ln w="0">
            <a:noFill/>
          </a:ln>
        </p:spPr>
        <p:txBody>
          <a:bodyPr wrap="none" lIns="0" tIns="0" rIns="0" bIns="0" anchor="t">
            <a:noAutofit/>
          </a:bodyPr>
          <a:lstStyle>
            <a:defPPr>
              <a:defRPr sz="1125" b="0" i="0">
                <a:solidFill>
                  <a:srgbClr val="0B0B0B"/>
                </a:solidFill>
                <a:latin typeface="Arial"/>
                <a:ea typeface="Arial"/>
                <a:cs typeface="Arial"/>
              </a:defRPr>
            </a:defPPr>
          </a:lstStyle>
          <a:p>
            <a:pPr>
              <a:defRPr sz="1125" b="0" i="0">
                <a:solidFill>
                  <a:srgbClr val="0B0B0B"/>
                </a:solidFill>
                <a:latin typeface="Arial"/>
                <a:ea typeface="Arial"/>
                <a:cs typeface="Arial"/>
              </a:defRPr>
            </a:pPr>
            <a:r>
              <a:rPr sz="1125" b="0" i="0">
                <a:solidFill>
                  <a:srgbClr val="0B0B0B"/>
                </a:solidFill>
                <a:latin typeface="Arial"/>
                <a:ea typeface="Arial"/>
                <a:cs typeface="Arial"/>
              </a:rPr>
              <a:t>Volver al diagnóstico</a:t>
            </a:r>
          </a:p>
        </p:txBody>
      </p:sp>
      <p:sp>
        <p:nvSpPr>
          <p:cNvPr id="14" name="text-20-12">
            <a:extLst>
              <a:ext uri="{FF2B5EF4-FFF2-40B4-BE49-F238E27FC236}">
                <a16:creationId xmlns:a16="http://schemas.microsoft.com/office/drawing/2014/main" id="{2AF26CCA-E9E7-4333-BE8D-6FC5E2CBDD8F}"/>
              </a:ext>
            </a:extLst>
          </p:cNvPr>
          <p:cNvSpPr>
            <a:spLocks noGrp="1"/>
          </p:cNvSpPr>
          <p:nvPr/>
        </p:nvSpPr>
        <p:spPr>
          <a:xfrm>
            <a:off x="532209" y="4923697"/>
            <a:ext cx="1120674"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5" name="text-20-13">
            <a:extLst>
              <a:ext uri="{FF2B5EF4-FFF2-40B4-BE49-F238E27FC236}">
                <a16:creationId xmlns:a16="http://schemas.microsoft.com/office/drawing/2014/main" id="{3C5C1090-22FD-4B1B-A1DA-9F9E9862523E}"/>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20 / 5.5</a:t>
            </a:r>
          </a:p>
        </p:txBody>
      </p:sp>
    </p:spTree>
    <p:extLst>
      <p:ext uri="{BB962C8B-B14F-4D97-AF65-F5344CB8AC3E}">
        <p14:creationId xmlns:p14="http://schemas.microsoft.com/office/powerpoint/2010/main" val="17885216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a:extLst>
              <a:ext uri="{FF2B5EF4-FFF2-40B4-BE49-F238E27FC236}">
                <a16:creationId xmlns:a16="http://schemas.microsoft.com/office/drawing/2014/main" id="{E344E260-7E83-429E-8F85-A0BE8993273F}"/>
              </a:ext>
            </a:extLst>
          </p:cNvPr>
          <p:cNvPicPr>
            <a:picLocks noChangeAspect="1"/>
          </p:cNvPicPr>
          <p:nvPr/>
        </p:nvPicPr>
        <p:blipFill>
          <a:blip r:embed="rId3"/>
          <a:stretch/>
        </p:blipFill>
        <p:spPr>
          <a:xfrm>
            <a:off x="0" y="0"/>
            <a:ext cx="9324594" cy="5248656"/>
          </a:xfrm>
          <a:prstGeom prst="rect">
            <a:avLst/>
          </a:prstGeom>
        </p:spPr>
      </p:pic>
      <p:sp>
        <p:nvSpPr>
          <p:cNvPr id="2" name="text-21-0">
            <a:extLst>
              <a:ext uri="{FF2B5EF4-FFF2-40B4-BE49-F238E27FC236}">
                <a16:creationId xmlns:a16="http://schemas.microsoft.com/office/drawing/2014/main" id="{50420867-E0A3-44A9-AC8E-3217997E8DDE}"/>
              </a:ext>
            </a:extLst>
          </p:cNvPr>
          <p:cNvSpPr>
            <a:spLocks noGrp="1"/>
          </p:cNvSpPr>
          <p:nvPr/>
        </p:nvSpPr>
        <p:spPr>
          <a:xfrm>
            <a:off x="532209" y="382979"/>
            <a:ext cx="2125691"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ANEXO D / PRÓXIMOS PASOS</a:t>
            </a:r>
          </a:p>
        </p:txBody>
      </p:sp>
      <p:sp>
        <p:nvSpPr>
          <p:cNvPr id="3" name="text-21-1">
            <a:extLst>
              <a:ext uri="{FF2B5EF4-FFF2-40B4-BE49-F238E27FC236}">
                <a16:creationId xmlns:a16="http://schemas.microsoft.com/office/drawing/2014/main" id="{452779CA-8D4B-4215-8FAE-AADBD814F0EB}"/>
              </a:ext>
            </a:extLst>
          </p:cNvPr>
          <p:cNvSpPr>
            <a:spLocks noGrp="1"/>
          </p:cNvSpPr>
          <p:nvPr/>
        </p:nvSpPr>
        <p:spPr>
          <a:xfrm>
            <a:off x="532209" y="681782"/>
            <a:ext cx="4391741" cy="571500"/>
          </a:xfrm>
          <a:prstGeom prst="rect">
            <a:avLst/>
          </a:prstGeom>
          <a:noFill/>
          <a:ln w="0">
            <a:noFill/>
          </a:ln>
        </p:spPr>
        <p:txBody>
          <a:bodyPr wrap="none" lIns="0" tIns="0" rIns="0" bIns="0" anchor="t">
            <a:noAutofit/>
          </a:bodyPr>
          <a:lstStyle>
            <a:defPPr>
              <a:defRPr sz="3600" b="0" i="0">
                <a:solidFill>
                  <a:srgbClr val="0B0B0B"/>
                </a:solidFill>
                <a:latin typeface="Impact"/>
                <a:ea typeface="Impact"/>
                <a:cs typeface="Impact"/>
              </a:defRPr>
            </a:defPPr>
          </a:lstStyle>
          <a:p>
            <a:pPr>
              <a:defRPr sz="3600" b="0" i="0">
                <a:solidFill>
                  <a:srgbClr val="0B0B0B"/>
                </a:solidFill>
                <a:latin typeface="Impact"/>
                <a:ea typeface="Impact"/>
                <a:cs typeface="Impact"/>
              </a:defRPr>
            </a:pPr>
            <a:r>
              <a:rPr sz="3600" b="0" i="0">
                <a:solidFill>
                  <a:srgbClr val="0B0B0B"/>
                </a:solidFill>
                <a:latin typeface="Impact"/>
                <a:ea typeface="Impact"/>
                <a:cs typeface="Impact"/>
              </a:rPr>
              <a:t>QUÉ MÁS PODEMOS HACER</a:t>
            </a:r>
          </a:p>
        </p:txBody>
      </p:sp>
      <p:sp>
        <p:nvSpPr>
          <p:cNvPr id="4" name="text-21-2">
            <a:extLst>
              <a:ext uri="{FF2B5EF4-FFF2-40B4-BE49-F238E27FC236}">
                <a16:creationId xmlns:a16="http://schemas.microsoft.com/office/drawing/2014/main" id="{F9FFD980-44F0-42F7-9AAF-E4F34A8DAFD7}"/>
              </a:ext>
            </a:extLst>
          </p:cNvPr>
          <p:cNvSpPr>
            <a:spLocks noGrp="1"/>
          </p:cNvSpPr>
          <p:nvPr/>
        </p:nvSpPr>
        <p:spPr>
          <a:xfrm>
            <a:off x="532209" y="1146125"/>
            <a:ext cx="1905737" cy="571500"/>
          </a:xfrm>
          <a:prstGeom prst="rect">
            <a:avLst/>
          </a:prstGeom>
          <a:noFill/>
          <a:ln w="0">
            <a:noFill/>
          </a:ln>
        </p:spPr>
        <p:txBody>
          <a:bodyPr wrap="none" lIns="0" tIns="0" rIns="0" bIns="0" anchor="t">
            <a:noAutofit/>
          </a:bodyPr>
          <a:lstStyle>
            <a:defPPr>
              <a:defRPr sz="3600" b="0" i="0">
                <a:solidFill>
                  <a:srgbClr val="0B0B0B"/>
                </a:solidFill>
                <a:latin typeface="Impact"/>
                <a:ea typeface="Impact"/>
                <a:cs typeface="Impact"/>
              </a:defRPr>
            </a:defPPr>
          </a:lstStyle>
          <a:p>
            <a:pPr>
              <a:defRPr sz="3600" b="0" i="0">
                <a:solidFill>
                  <a:srgbClr val="0B0B0B"/>
                </a:solidFill>
                <a:latin typeface="Impact"/>
                <a:ea typeface="Impact"/>
                <a:cs typeface="Impact"/>
              </a:defRPr>
            </a:pPr>
            <a:r>
              <a:rPr sz="3600" b="0" i="0">
                <a:solidFill>
                  <a:srgbClr val="0B0B0B"/>
                </a:solidFill>
                <a:latin typeface="Impact"/>
                <a:ea typeface="Impact"/>
                <a:cs typeface="Impact"/>
              </a:rPr>
              <a:t>Y PARA QUÉ</a:t>
            </a:r>
          </a:p>
        </p:txBody>
      </p:sp>
      <p:sp>
        <p:nvSpPr>
          <p:cNvPr id="5" name="text-21-3">
            <a:extLst>
              <a:ext uri="{FF2B5EF4-FFF2-40B4-BE49-F238E27FC236}">
                <a16:creationId xmlns:a16="http://schemas.microsoft.com/office/drawing/2014/main" id="{9DF6D51E-EE26-43AA-99FD-AF58131F956C}"/>
              </a:ext>
            </a:extLst>
          </p:cNvPr>
          <p:cNvSpPr>
            <a:spLocks noGrp="1"/>
          </p:cNvSpPr>
          <p:nvPr/>
        </p:nvSpPr>
        <p:spPr>
          <a:xfrm>
            <a:off x="532209" y="4614109"/>
            <a:ext cx="1594411" cy="178594"/>
          </a:xfrm>
          <a:prstGeom prst="rect">
            <a:avLst/>
          </a:prstGeom>
          <a:noFill/>
          <a:ln w="0">
            <a:noFill/>
          </a:ln>
        </p:spPr>
        <p:txBody>
          <a:bodyPr wrap="none" lIns="0" tIns="0" rIns="0" bIns="0" anchor="t">
            <a:noAutofit/>
          </a:bodyPr>
          <a:lstStyle>
            <a:defPPr>
              <a:defRPr sz="1125" b="0" i="0">
                <a:solidFill>
                  <a:srgbClr val="0B0B0B"/>
                </a:solidFill>
                <a:latin typeface="Arial"/>
                <a:ea typeface="Arial"/>
                <a:cs typeface="Arial"/>
              </a:defRPr>
            </a:defPPr>
          </a:lstStyle>
          <a:p>
            <a:pPr>
              <a:defRPr sz="1125" b="0" i="0">
                <a:solidFill>
                  <a:srgbClr val="0B0B0B"/>
                </a:solidFill>
                <a:latin typeface="Arial"/>
                <a:ea typeface="Arial"/>
                <a:cs typeface="Arial"/>
              </a:defRPr>
            </a:pPr>
            <a:r>
              <a:rPr sz="1125" b="0" i="0">
                <a:solidFill>
                  <a:srgbClr val="0B0B0B"/>
                </a:solidFill>
                <a:latin typeface="Arial"/>
                <a:ea typeface="Arial"/>
                <a:cs typeface="Arial"/>
              </a:rPr>
              <a:t>Volver a próximos pasos</a:t>
            </a:r>
          </a:p>
        </p:txBody>
      </p:sp>
      <p:sp>
        <p:nvSpPr>
          <p:cNvPr id="6" name="text-21-4">
            <a:extLst>
              <a:ext uri="{FF2B5EF4-FFF2-40B4-BE49-F238E27FC236}">
                <a16:creationId xmlns:a16="http://schemas.microsoft.com/office/drawing/2014/main" id="{ECB00AAC-3569-45B0-BC0C-A3114B11DE7A}"/>
              </a:ext>
            </a:extLst>
          </p:cNvPr>
          <p:cNvSpPr>
            <a:spLocks noGrp="1"/>
          </p:cNvSpPr>
          <p:nvPr/>
        </p:nvSpPr>
        <p:spPr>
          <a:xfrm>
            <a:off x="532209" y="4923697"/>
            <a:ext cx="1120674"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7" name="text-21-5">
            <a:extLst>
              <a:ext uri="{FF2B5EF4-FFF2-40B4-BE49-F238E27FC236}">
                <a16:creationId xmlns:a16="http://schemas.microsoft.com/office/drawing/2014/main" id="{8A09570B-C306-42DA-856B-FC11256979B5}"/>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21 / 5.5</a:t>
            </a:r>
          </a:p>
        </p:txBody>
      </p:sp>
      <p:graphicFrame>
        <p:nvGraphicFramePr>
          <p:cNvPr id="8" name="Tabla 7">
            <a:extLst>
              <a:ext uri="{FF2B5EF4-FFF2-40B4-BE49-F238E27FC236}">
                <a16:creationId xmlns:a16="http://schemas.microsoft.com/office/drawing/2014/main" id="{B824A9C3-0A8C-4A95-9E1C-405185D78047}"/>
              </a:ext>
            </a:extLst>
          </p:cNvPr>
          <p:cNvGraphicFramePr/>
          <p:nvPr/>
        </p:nvGraphicFramePr>
        <p:xfrm>
          <a:off x="532209" y="1842334"/>
          <a:ext cx="8261747" cy="2620963"/>
        </p:xfrm>
        <a:graphic>
          <a:graphicData uri="http://schemas.openxmlformats.org/drawingml/2006/table">
            <a:tbl>
              <a:tblPr/>
              <a:tblGrid>
                <a:gridCol w="1724025">
                  <a:extLst>
                    <a:ext uri="{9D8B030D-6E8A-4147-A177-3AD203B41FA5}">
                      <a16:colId xmlns:a16="http://schemas.microsoft.com/office/drawing/2014/main" val="20000"/>
                    </a:ext>
                  </a:extLst>
                </a:gridCol>
                <a:gridCol w="3093355">
                  <a:extLst>
                    <a:ext uri="{9D8B030D-6E8A-4147-A177-3AD203B41FA5}">
                      <a16:colId xmlns:a16="http://schemas.microsoft.com/office/drawing/2014/main" val="20001"/>
                    </a:ext>
                  </a:extLst>
                </a:gridCol>
                <a:gridCol w="3444367">
                  <a:extLst>
                    <a:ext uri="{9D8B030D-6E8A-4147-A177-3AD203B41FA5}">
                      <a16:colId xmlns:a16="http://schemas.microsoft.com/office/drawing/2014/main" val="20002"/>
                    </a:ext>
                  </a:extLst>
                </a:gridCol>
              </a:tblGrid>
              <a:tr h="436827">
                <a:tc>
                  <a:txBody>
                    <a:bodyPr/>
                    <a:lstStyle/>
                    <a:p>
                      <a:r>
                        <a:rPr sz="1050" b="1">
                          <a:solidFill>
                            <a:srgbClr val="FFFFFF"/>
                          </a:solidFill>
                          <a:latin typeface="Arial"/>
                          <a:ea typeface="Arial"/>
                          <a:cs typeface="Arial"/>
                        </a:rPr>
                        <a:t>Ampliación</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Valor esperado</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Condición</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extLst>
                  <a:ext uri="{0D108BD9-81ED-4DB2-BD59-A6C34878D82A}">
                    <a16:rowId xmlns:a16="http://schemas.microsoft.com/office/drawing/2014/main" val="10000"/>
                  </a:ext>
                </a:extLst>
              </a:tr>
              <a:tr h="436827">
                <a:tc>
                  <a:txBody>
                    <a:bodyPr/>
                    <a:lstStyle/>
                    <a:p>
                      <a:r>
                        <a:rPr sz="1050">
                          <a:solidFill>
                            <a:srgbClr val="0B0B0B"/>
                          </a:solidFill>
                          <a:latin typeface="Arial"/>
                          <a:ea typeface="Arial"/>
                          <a:cs typeface="Arial"/>
                        </a:rPr>
                        <a:t>Bot + asesor humano</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Continuar casos complejos con contexto</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Bandeja, responsables y tiempos de atención</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1"/>
                  </a:ext>
                </a:extLst>
              </a:tr>
              <a:tr h="436827">
                <a:tc>
                  <a:txBody>
                    <a:bodyPr/>
                    <a:lstStyle/>
                    <a:p>
                      <a:r>
                        <a:rPr sz="1050">
                          <a:solidFill>
                            <a:srgbClr val="0B0B0B"/>
                          </a:solidFill>
                          <a:latin typeface="Arial"/>
                          <a:ea typeface="Arial"/>
                          <a:cs typeface="Arial"/>
                        </a:rPr>
                        <a:t>CRM + seguimiento con IA</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Entender y probar recuperación</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Motivos, consentimiento y medición</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2"/>
                  </a:ext>
                </a:extLst>
              </a:tr>
              <a:tr h="436827">
                <a:tc>
                  <a:txBody>
                    <a:bodyPr/>
                    <a:lstStyle/>
                    <a:p>
                      <a:r>
                        <a:rPr sz="1050">
                          <a:solidFill>
                            <a:srgbClr val="0B0B0B"/>
                          </a:solidFill>
                          <a:latin typeface="Arial"/>
                          <a:ea typeface="Arial"/>
                          <a:cs typeface="Arial"/>
                        </a:rPr>
                        <a:t>Alertas de cotización</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Acompañar intención de compra</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Reglas, vigencia y autorización</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3"/>
                  </a:ext>
                </a:extLst>
              </a:tr>
              <a:tr h="436827">
                <a:tc>
                  <a:txBody>
                    <a:bodyPr/>
                    <a:lstStyle/>
                    <a:p>
                      <a:r>
                        <a:rPr sz="1050">
                          <a:solidFill>
                            <a:srgbClr val="0B0B0B"/>
                          </a:solidFill>
                          <a:latin typeface="Arial"/>
                          <a:ea typeface="Arial"/>
                          <a:cs typeface="Arial"/>
                        </a:rPr>
                        <a:t>Flow nativo</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Recoger datos dentro de WhatsApp</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Habilitación de Meta y endpoint</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4"/>
                  </a:ext>
                </a:extLst>
              </a:tr>
              <a:tr h="436827">
                <a:tc>
                  <a:txBody>
                    <a:bodyPr/>
                    <a:lstStyle/>
                    <a:p>
                      <a:r>
                        <a:rPr sz="1050">
                          <a:solidFill>
                            <a:srgbClr val="0B0B0B"/>
                          </a:solidFill>
                          <a:latin typeface="Arial"/>
                          <a:ea typeface="Arial"/>
                          <a:cs typeface="Arial"/>
                        </a:rPr>
                        <a:t>Banco o fintech</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Conciliar y ampliar automatización</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API, contrato y controles</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5060152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Imagen 12">
            <a:extLst>
              <a:ext uri="{FF2B5EF4-FFF2-40B4-BE49-F238E27FC236}">
                <a16:creationId xmlns:a16="http://schemas.microsoft.com/office/drawing/2014/main" id="{39693431-1AD6-4259-BC3B-BA0357118EE6}"/>
              </a:ext>
            </a:extLst>
          </p:cNvPr>
          <p:cNvPicPr>
            <a:picLocks noChangeAspect="1"/>
          </p:cNvPicPr>
          <p:nvPr/>
        </p:nvPicPr>
        <p:blipFill>
          <a:blip r:embed="rId3"/>
          <a:stretch/>
        </p:blipFill>
        <p:spPr>
          <a:xfrm>
            <a:off x="0" y="0"/>
            <a:ext cx="9324594" cy="5248656"/>
          </a:xfrm>
          <a:prstGeom prst="rect">
            <a:avLst/>
          </a:prstGeom>
        </p:spPr>
      </p:pic>
      <p:sp>
        <p:nvSpPr>
          <p:cNvPr id="2" name="text-22-0">
            <a:extLst>
              <a:ext uri="{FF2B5EF4-FFF2-40B4-BE49-F238E27FC236}">
                <a16:creationId xmlns:a16="http://schemas.microsoft.com/office/drawing/2014/main" id="{B04E353F-1394-4C4F-A449-E003BE0BAE51}"/>
              </a:ext>
            </a:extLst>
          </p:cNvPr>
          <p:cNvSpPr>
            <a:spLocks noGrp="1"/>
          </p:cNvSpPr>
          <p:nvPr/>
        </p:nvSpPr>
        <p:spPr>
          <a:xfrm>
            <a:off x="532209" y="382979"/>
            <a:ext cx="2615421" cy="151805"/>
          </a:xfrm>
          <a:prstGeom prst="rect">
            <a:avLst/>
          </a:prstGeom>
          <a:noFill/>
          <a:ln w="0">
            <a:noFill/>
          </a:ln>
        </p:spPr>
        <p:txBody>
          <a:bodyPr wrap="none" lIns="0" tIns="0" rIns="0" bIns="0" anchor="t">
            <a:noAutofit/>
          </a:bodyPr>
          <a:lstStyle>
            <a:defPPr>
              <a:defRPr sz="956" b="1" i="0">
                <a:solidFill>
                  <a:srgbClr val="0B0B0B"/>
                </a:solidFill>
                <a:latin typeface="Arial"/>
                <a:ea typeface="Arial"/>
                <a:cs typeface="Arial"/>
              </a:defRPr>
            </a:defPPr>
          </a:lstStyle>
          <a:p>
            <a:pPr>
              <a:defRPr sz="956" b="1" i="0">
                <a:solidFill>
                  <a:srgbClr val="0B0B0B"/>
                </a:solidFill>
                <a:latin typeface="Arial"/>
                <a:ea typeface="Arial"/>
                <a:cs typeface="Arial"/>
              </a:defRPr>
            </a:pPr>
            <a:r>
              <a:rPr sz="956" b="1" i="0">
                <a:solidFill>
                  <a:srgbClr val="0B0B0B"/>
                </a:solidFill>
                <a:latin typeface="Arial"/>
                <a:ea typeface="Arial"/>
                <a:cs typeface="Arial"/>
              </a:rPr>
              <a:t>ANEXO E / COSTOS TECNOLÓGICOS</a:t>
            </a:r>
          </a:p>
        </p:txBody>
      </p:sp>
      <p:sp>
        <p:nvSpPr>
          <p:cNvPr id="3" name="text-22-1">
            <a:extLst>
              <a:ext uri="{FF2B5EF4-FFF2-40B4-BE49-F238E27FC236}">
                <a16:creationId xmlns:a16="http://schemas.microsoft.com/office/drawing/2014/main" id="{59A1686E-C1AC-43E7-8DBD-D4E2EFEBC58E}"/>
              </a:ext>
            </a:extLst>
          </p:cNvPr>
          <p:cNvSpPr>
            <a:spLocks noGrp="1"/>
          </p:cNvSpPr>
          <p:nvPr/>
        </p:nvSpPr>
        <p:spPr>
          <a:xfrm>
            <a:off x="532209" y="689302"/>
            <a:ext cx="2759116" cy="517922"/>
          </a:xfrm>
          <a:prstGeom prst="rect">
            <a:avLst/>
          </a:prstGeom>
          <a:noFill/>
          <a:ln w="0">
            <a:noFill/>
          </a:ln>
        </p:spPr>
        <p:txBody>
          <a:bodyPr wrap="none" lIns="0" tIns="0" rIns="0" bIns="0" anchor="t">
            <a:noAutofit/>
          </a:bodyPr>
          <a:lstStyle>
            <a:defPPr>
              <a:defRPr sz="3263" b="0" i="0">
                <a:solidFill>
                  <a:srgbClr val="0B0B0B"/>
                </a:solidFill>
                <a:latin typeface="Impact"/>
                <a:ea typeface="Impact"/>
                <a:cs typeface="Impact"/>
              </a:defRPr>
            </a:defPPr>
          </a:lstStyle>
          <a:p>
            <a:pPr>
              <a:defRPr sz="3263" b="0" i="0">
                <a:solidFill>
                  <a:srgbClr val="0B0B0B"/>
                </a:solidFill>
                <a:latin typeface="Impact"/>
                <a:ea typeface="Impact"/>
                <a:cs typeface="Impact"/>
              </a:defRPr>
            </a:pPr>
            <a:r>
              <a:rPr sz="3263" b="0" i="0">
                <a:solidFill>
                  <a:srgbClr val="0B0B0B"/>
                </a:solidFill>
                <a:latin typeface="Impact"/>
                <a:ea typeface="Impact"/>
                <a:cs typeface="Impact"/>
              </a:rPr>
              <a:t>META OPTIMIZADO</a:t>
            </a:r>
          </a:p>
        </p:txBody>
      </p:sp>
      <p:sp>
        <p:nvSpPr>
          <p:cNvPr id="4" name="text-22-2">
            <a:extLst>
              <a:ext uri="{FF2B5EF4-FFF2-40B4-BE49-F238E27FC236}">
                <a16:creationId xmlns:a16="http://schemas.microsoft.com/office/drawing/2014/main" id="{46DD5D21-DA39-4438-9052-1658FE5694D2}"/>
              </a:ext>
            </a:extLst>
          </p:cNvPr>
          <p:cNvSpPr>
            <a:spLocks noGrp="1"/>
          </p:cNvSpPr>
          <p:nvPr/>
        </p:nvSpPr>
        <p:spPr>
          <a:xfrm>
            <a:off x="532209" y="1110783"/>
            <a:ext cx="5155059" cy="517922"/>
          </a:xfrm>
          <a:prstGeom prst="rect">
            <a:avLst/>
          </a:prstGeom>
          <a:noFill/>
          <a:ln w="0">
            <a:noFill/>
          </a:ln>
        </p:spPr>
        <p:txBody>
          <a:bodyPr wrap="none" lIns="0" tIns="0" rIns="0" bIns="0" anchor="t">
            <a:noAutofit/>
          </a:bodyPr>
          <a:lstStyle>
            <a:defPPr>
              <a:defRPr sz="3263" b="0" i="0">
                <a:solidFill>
                  <a:srgbClr val="0B0B0B"/>
                </a:solidFill>
                <a:latin typeface="Impact"/>
                <a:ea typeface="Impact"/>
                <a:cs typeface="Impact"/>
              </a:defRPr>
            </a:defPPr>
          </a:lstStyle>
          <a:p>
            <a:pPr>
              <a:defRPr sz="3263" b="0" i="0">
                <a:solidFill>
                  <a:srgbClr val="0B0B0B"/>
                </a:solidFill>
                <a:latin typeface="Impact"/>
                <a:ea typeface="Impact"/>
                <a:cs typeface="Impact"/>
              </a:defRPr>
            </a:pPr>
            <a:r>
              <a:rPr sz="3263" b="0" i="0">
                <a:solidFill>
                  <a:srgbClr val="0B0B0B"/>
                </a:solidFill>
                <a:latin typeface="Impact"/>
                <a:ea typeface="Impact"/>
                <a:cs typeface="Impact"/>
              </a:rPr>
              <a:t>MENOS MENSAJES POR OPERACIÓN</a:t>
            </a:r>
          </a:p>
        </p:txBody>
      </p:sp>
      <p:sp>
        <p:nvSpPr>
          <p:cNvPr id="5" name="text-22-3">
            <a:extLst>
              <a:ext uri="{FF2B5EF4-FFF2-40B4-BE49-F238E27FC236}">
                <a16:creationId xmlns:a16="http://schemas.microsoft.com/office/drawing/2014/main" id="{91094CF0-8A38-49C4-81A0-0C63D27222C5}"/>
              </a:ext>
            </a:extLst>
          </p:cNvPr>
          <p:cNvSpPr>
            <a:spLocks noGrp="1"/>
          </p:cNvSpPr>
          <p:nvPr/>
        </p:nvSpPr>
        <p:spPr>
          <a:xfrm>
            <a:off x="532209" y="3659553"/>
            <a:ext cx="762305" cy="214313"/>
          </a:xfrm>
          <a:prstGeom prst="rect">
            <a:avLst/>
          </a:prstGeom>
          <a:noFill/>
          <a:ln w="0">
            <a:noFill/>
          </a:ln>
        </p:spPr>
        <p:txBody>
          <a:bodyPr wrap="none" lIns="0" tIns="0" rIns="0" bIns="0" anchor="t">
            <a:noAutofit/>
          </a:bodyPr>
          <a:lstStyle>
            <a:defPPr>
              <a:defRPr sz="1350" b="0" i="0">
                <a:solidFill>
                  <a:srgbClr val="0B0B0B"/>
                </a:solidFill>
                <a:latin typeface="Arial"/>
                <a:ea typeface="Arial"/>
                <a:cs typeface="Arial"/>
              </a:defRPr>
            </a:defPPr>
          </a:lstStyle>
          <a:p>
            <a:pPr>
              <a:defRPr sz="1350" b="0" i="0">
                <a:solidFill>
                  <a:srgbClr val="0B0B0B"/>
                </a:solidFill>
                <a:latin typeface="Arial"/>
                <a:ea typeface="Arial"/>
                <a:cs typeface="Arial"/>
              </a:defRPr>
            </a:pPr>
            <a:r>
              <a:rPr sz="1350" b="0" i="0">
                <a:solidFill>
                  <a:srgbClr val="0B0B0B"/>
                </a:solidFill>
                <a:latin typeface="Arial"/>
                <a:ea typeface="Arial"/>
                <a:cs typeface="Arial"/>
              </a:rPr>
              <a:t>Objetivo: </a:t>
            </a:r>
          </a:p>
        </p:txBody>
      </p:sp>
      <p:sp>
        <p:nvSpPr>
          <p:cNvPr id="6" name="text-22-4">
            <a:extLst>
              <a:ext uri="{FF2B5EF4-FFF2-40B4-BE49-F238E27FC236}">
                <a16:creationId xmlns:a16="http://schemas.microsoft.com/office/drawing/2014/main" id="{3163AA83-09FF-4F65-BE0D-E6373476DFBA}"/>
              </a:ext>
            </a:extLst>
          </p:cNvPr>
          <p:cNvSpPr>
            <a:spLocks noGrp="1"/>
          </p:cNvSpPr>
          <p:nvPr/>
        </p:nvSpPr>
        <p:spPr>
          <a:xfrm>
            <a:off x="1256519" y="3659553"/>
            <a:ext cx="1019822" cy="214313"/>
          </a:xfrm>
          <a:prstGeom prst="rect">
            <a:avLst/>
          </a:prstGeom>
          <a:noFill/>
          <a:ln w="0">
            <a:noFill/>
          </a:ln>
        </p:spPr>
        <p:txBody>
          <a:bodyPr wrap="none" lIns="0" tIns="0" rIns="0" bIns="0" anchor="t">
            <a:noAutofit/>
          </a:bodyPr>
          <a:lstStyle>
            <a:defPPr>
              <a:defRPr sz="1350" b="1" i="0">
                <a:solidFill>
                  <a:srgbClr val="0B0B0B"/>
                </a:solidFill>
                <a:latin typeface="Arial"/>
                <a:ea typeface="Arial"/>
                <a:cs typeface="Arial"/>
              </a:defRPr>
            </a:defPPr>
          </a:lstStyle>
          <a:p>
            <a:pPr>
              <a:defRPr sz="1350" b="1" i="0">
                <a:solidFill>
                  <a:srgbClr val="0B0B0B"/>
                </a:solidFill>
                <a:latin typeface="Arial"/>
                <a:ea typeface="Arial"/>
                <a:cs typeface="Arial"/>
              </a:defRPr>
            </a:pPr>
            <a:r>
              <a:rPr sz="1350" b="1" i="0">
                <a:solidFill>
                  <a:srgbClr val="0B0B0B"/>
                </a:solidFill>
                <a:latin typeface="Arial"/>
                <a:ea typeface="Arial"/>
                <a:cs typeface="Arial"/>
              </a:rPr>
              <a:t>S/1.400/mes</a:t>
            </a:r>
          </a:p>
        </p:txBody>
      </p:sp>
      <p:sp>
        <p:nvSpPr>
          <p:cNvPr id="7" name="text-22-5">
            <a:extLst>
              <a:ext uri="{FF2B5EF4-FFF2-40B4-BE49-F238E27FC236}">
                <a16:creationId xmlns:a16="http://schemas.microsoft.com/office/drawing/2014/main" id="{1C9AA0DD-FDAD-4E41-95EF-C70ACC89887A}"/>
              </a:ext>
            </a:extLst>
          </p:cNvPr>
          <p:cNvSpPr>
            <a:spLocks noGrp="1"/>
          </p:cNvSpPr>
          <p:nvPr/>
        </p:nvSpPr>
        <p:spPr>
          <a:xfrm>
            <a:off x="2238338" y="3659553"/>
            <a:ext cx="2706205" cy="214313"/>
          </a:xfrm>
          <a:prstGeom prst="rect">
            <a:avLst/>
          </a:prstGeom>
          <a:noFill/>
          <a:ln w="0">
            <a:noFill/>
          </a:ln>
        </p:spPr>
        <p:txBody>
          <a:bodyPr wrap="none" lIns="0" tIns="0" rIns="0" bIns="0" anchor="t">
            <a:noAutofit/>
          </a:bodyPr>
          <a:lstStyle>
            <a:defPPr>
              <a:defRPr sz="1350" b="0" i="0">
                <a:solidFill>
                  <a:srgbClr val="0B0B0B"/>
                </a:solidFill>
                <a:latin typeface="Arial"/>
                <a:ea typeface="Arial"/>
                <a:cs typeface="Arial"/>
              </a:defRPr>
            </a:defPPr>
          </a:lstStyle>
          <a:p>
            <a:pPr>
              <a:defRPr sz="1350" b="0" i="0">
                <a:solidFill>
                  <a:srgbClr val="0B0B0B"/>
                </a:solidFill>
                <a:latin typeface="Arial"/>
                <a:ea typeface="Arial"/>
                <a:cs typeface="Arial"/>
              </a:defRPr>
            </a:pPr>
            <a:r>
              <a:rPr sz="1350" b="0" i="0">
                <a:solidFill>
                  <a:srgbClr val="0B0B0B"/>
                </a:solidFill>
                <a:latin typeface="Arial"/>
                <a:ea typeface="Arial"/>
                <a:cs typeface="Arial"/>
              </a:rPr>
              <a:t>. Referencia sin optimizar: S/3.500.</a:t>
            </a:r>
          </a:p>
        </p:txBody>
      </p:sp>
      <p:sp>
        <p:nvSpPr>
          <p:cNvPr id="8" name="text-22-6">
            <a:extLst>
              <a:ext uri="{FF2B5EF4-FFF2-40B4-BE49-F238E27FC236}">
                <a16:creationId xmlns:a16="http://schemas.microsoft.com/office/drawing/2014/main" id="{1D06187B-8E5B-4E4B-9B37-5C47B4BD45B8}"/>
              </a:ext>
            </a:extLst>
          </p:cNvPr>
          <p:cNvSpPr>
            <a:spLocks noGrp="1"/>
          </p:cNvSpPr>
          <p:nvPr/>
        </p:nvSpPr>
        <p:spPr>
          <a:xfrm>
            <a:off x="7473925" y="347260"/>
            <a:ext cx="1354287" cy="151805"/>
          </a:xfrm>
          <a:prstGeom prst="rect">
            <a:avLst/>
          </a:prstGeom>
          <a:noFill/>
          <a:ln w="0">
            <a:noFill/>
          </a:ln>
        </p:spPr>
        <p:txBody>
          <a:bodyPr wrap="none" lIns="0" tIns="0" rIns="0" bIns="0" anchor="t">
            <a:noAutofit/>
          </a:bodyPr>
          <a:lstStyle>
            <a:defPPr>
              <a:defRPr sz="956" b="0" i="0">
                <a:solidFill>
                  <a:srgbClr val="0B0B0B"/>
                </a:solidFill>
                <a:latin typeface="Arial"/>
                <a:ea typeface="Arial"/>
                <a:cs typeface="Arial"/>
              </a:defRPr>
            </a:defPPr>
          </a:lstStyle>
          <a:p>
            <a:pPr>
              <a:defRPr sz="956" b="0" i="0">
                <a:solidFill>
                  <a:srgbClr val="0B0B0B"/>
                </a:solidFill>
                <a:latin typeface="Arial"/>
                <a:ea typeface="Arial"/>
                <a:cs typeface="Arial"/>
              </a:defRPr>
            </a:pPr>
            <a:r>
              <a:rPr sz="956" b="0" i="0">
                <a:solidFill>
                  <a:srgbClr val="0B0B0B"/>
                </a:solidFill>
                <a:latin typeface="Arial"/>
                <a:ea typeface="Arial"/>
                <a:cs typeface="Arial"/>
              </a:rPr>
              <a:t>Volver al costo-beneficio</a:t>
            </a:r>
          </a:p>
        </p:txBody>
      </p:sp>
      <p:sp>
        <p:nvSpPr>
          <p:cNvPr id="9" name="text-22-7">
            <a:extLst>
              <a:ext uri="{FF2B5EF4-FFF2-40B4-BE49-F238E27FC236}">
                <a16:creationId xmlns:a16="http://schemas.microsoft.com/office/drawing/2014/main" id="{BF745C99-51A8-4C7D-B1A4-CC295AE5D332}"/>
              </a:ext>
            </a:extLst>
          </p:cNvPr>
          <p:cNvSpPr>
            <a:spLocks noGrp="1"/>
          </p:cNvSpPr>
          <p:nvPr/>
        </p:nvSpPr>
        <p:spPr>
          <a:xfrm>
            <a:off x="532209" y="4502902"/>
            <a:ext cx="6943543" cy="125016"/>
          </a:xfrm>
          <a:prstGeom prst="rect">
            <a:avLst/>
          </a:prstGeom>
          <a:noFill/>
          <a:ln w="0">
            <a:noFill/>
          </a:ln>
        </p:spPr>
        <p:txBody>
          <a:bodyPr wrap="none" lIns="0" tIns="0" rIns="0" bIns="0" anchor="t">
            <a:noAutofit/>
          </a:bodyPr>
          <a:lstStyle>
            <a:defPPr>
              <a:defRPr sz="788" b="0" i="0">
                <a:solidFill>
                  <a:srgbClr val="0B0B0B"/>
                </a:solidFill>
                <a:latin typeface="Arial"/>
                <a:ea typeface="Arial"/>
                <a:cs typeface="Arial"/>
              </a:defRPr>
            </a:defPPr>
          </a:lstStyle>
          <a:p>
            <a:pPr>
              <a:defRPr sz="788" b="0" i="0">
                <a:solidFill>
                  <a:srgbClr val="0B0B0B"/>
                </a:solidFill>
                <a:latin typeface="Arial"/>
                <a:ea typeface="Arial"/>
                <a:cs typeface="Arial"/>
              </a:defRPr>
            </a:pPr>
            <a:r>
              <a:rPr sz="788" b="0" i="0">
                <a:solidFill>
                  <a:srgbClr val="0B0B0B"/>
                </a:solidFill>
                <a:latin typeface="Arial"/>
                <a:ea typeface="Arial"/>
                <a:cs typeface="Arial"/>
              </a:rPr>
              <a:t>Propuesta: 4.000 chats; 1 apertura + 1 confirmación; 10% con 2 apoyos. Tarifa Perú. Confirmaciones se cuentan pagadas por prudencia. No implementado.</a:t>
            </a:r>
          </a:p>
        </p:txBody>
      </p:sp>
      <p:sp>
        <p:nvSpPr>
          <p:cNvPr id="10" name="text-22-8">
            <a:extLst>
              <a:ext uri="{FF2B5EF4-FFF2-40B4-BE49-F238E27FC236}">
                <a16:creationId xmlns:a16="http://schemas.microsoft.com/office/drawing/2014/main" id="{53DAB67F-6B7D-4C1F-9F46-D8F5A91B5903}"/>
              </a:ext>
            </a:extLst>
          </p:cNvPr>
          <p:cNvSpPr>
            <a:spLocks noGrp="1"/>
          </p:cNvSpPr>
          <p:nvPr/>
        </p:nvSpPr>
        <p:spPr>
          <a:xfrm>
            <a:off x="532209" y="4923697"/>
            <a:ext cx="1120674"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ANEXOS / OMNI by 5.5</a:t>
            </a:r>
          </a:p>
        </p:txBody>
      </p:sp>
      <p:sp>
        <p:nvSpPr>
          <p:cNvPr id="11" name="text-22-9">
            <a:extLst>
              <a:ext uri="{FF2B5EF4-FFF2-40B4-BE49-F238E27FC236}">
                <a16:creationId xmlns:a16="http://schemas.microsoft.com/office/drawing/2014/main" id="{55ACBC66-52E8-42EB-86D9-759DF191A309}"/>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0B0B0B"/>
                </a:solidFill>
                <a:latin typeface="Arial"/>
                <a:ea typeface="Arial"/>
                <a:cs typeface="Arial"/>
              </a:defRPr>
            </a:defPPr>
          </a:lstStyle>
          <a:p>
            <a:pPr>
              <a:defRPr sz="731" b="1" i="0">
                <a:solidFill>
                  <a:srgbClr val="0B0B0B"/>
                </a:solidFill>
                <a:latin typeface="Arial"/>
                <a:ea typeface="Arial"/>
                <a:cs typeface="Arial"/>
              </a:defRPr>
            </a:pPr>
            <a:r>
              <a:rPr sz="731" b="1" i="0">
                <a:solidFill>
                  <a:srgbClr val="0B0B0B"/>
                </a:solidFill>
                <a:latin typeface="Arial"/>
                <a:ea typeface="Arial"/>
                <a:cs typeface="Arial"/>
              </a:rPr>
              <a:t>22 / 5.5</a:t>
            </a:r>
          </a:p>
        </p:txBody>
      </p:sp>
      <p:graphicFrame>
        <p:nvGraphicFramePr>
          <p:cNvPr id="12" name="Tabla 11">
            <a:extLst>
              <a:ext uri="{FF2B5EF4-FFF2-40B4-BE49-F238E27FC236}">
                <a16:creationId xmlns:a16="http://schemas.microsoft.com/office/drawing/2014/main" id="{D8FBC3F3-886A-479B-B296-2BDA2E0EF2E4}"/>
              </a:ext>
            </a:extLst>
          </p:cNvPr>
          <p:cNvGraphicFramePr/>
          <p:nvPr/>
        </p:nvGraphicFramePr>
        <p:xfrm>
          <a:off x="532209" y="1728034"/>
          <a:ext cx="8261747" cy="1772371"/>
        </p:xfrm>
        <a:graphic>
          <a:graphicData uri="http://schemas.openxmlformats.org/drawingml/2006/table">
            <a:tbl>
              <a:tblPr/>
              <a:tblGrid>
                <a:gridCol w="5753323">
                  <a:extLst>
                    <a:ext uri="{9D8B030D-6E8A-4147-A177-3AD203B41FA5}">
                      <a16:colId xmlns:a16="http://schemas.microsoft.com/office/drawing/2014/main" val="20000"/>
                    </a:ext>
                  </a:extLst>
                </a:gridCol>
                <a:gridCol w="1586917">
                  <a:extLst>
                    <a:ext uri="{9D8B030D-6E8A-4147-A177-3AD203B41FA5}">
                      <a16:colId xmlns:a16="http://schemas.microsoft.com/office/drawing/2014/main" val="20001"/>
                    </a:ext>
                  </a:extLst>
                </a:gridCol>
                <a:gridCol w="921507">
                  <a:extLst>
                    <a:ext uri="{9D8B030D-6E8A-4147-A177-3AD203B41FA5}">
                      <a16:colId xmlns:a16="http://schemas.microsoft.com/office/drawing/2014/main" val="20002"/>
                    </a:ext>
                  </a:extLst>
                </a:gridCol>
              </a:tblGrid>
              <a:tr h="354474">
                <a:tc>
                  <a:txBody>
                    <a:bodyPr/>
                    <a:lstStyle/>
                    <a:p>
                      <a:r>
                        <a:rPr sz="1050" b="1">
                          <a:solidFill>
                            <a:srgbClr val="FFFFFF"/>
                          </a:solidFill>
                          <a:latin typeface="Arial"/>
                          <a:ea typeface="Arial"/>
                          <a:cs typeface="Arial"/>
                        </a:rPr>
                        <a:t>Recurso</a:t>
                      </a:r>
                    </a:p>
                  </a:txBody>
                  <a:tcPr marL="95250" marR="95250" marT="66675" marB="66675">
                    <a:lnL w="4763">
                      <a:solidFill>
                        <a:srgbClr val="D0CBC4"/>
                      </a:solidFill>
                      <a:prstDash val="soli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USD / mes</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tc>
                  <a:txBody>
                    <a:bodyPr/>
                    <a:lstStyle/>
                    <a:p>
                      <a:r>
                        <a:rPr sz="1050" b="1">
                          <a:solidFill>
                            <a:srgbClr val="FFFFFF"/>
                          </a:solidFill>
                          <a:latin typeface="Arial"/>
                          <a:ea typeface="Arial"/>
                          <a:cs typeface="Arial"/>
                        </a:rPr>
                        <a:t>PEN / mes</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a:solidFill>
                        <a:srgbClr val="D0CBC4"/>
                      </a:solidFill>
                      <a:prstDash val="solid"/>
                    </a:lnT>
                    <a:lnB w="4763">
                      <a:solidFill>
                        <a:srgbClr val="D0CBC4"/>
                      </a:solidFill>
                      <a:prstDash val="solid"/>
                    </a:lnB>
                    <a:solidFill>
                      <a:srgbClr val="DC0A1E"/>
                    </a:solidFill>
                  </a:tcPr>
                </a:tc>
                <a:extLst>
                  <a:ext uri="{0D108BD9-81ED-4DB2-BD59-A6C34878D82A}">
                    <a16:rowId xmlns:a16="http://schemas.microsoft.com/office/drawing/2014/main" val="10000"/>
                  </a:ext>
                </a:extLst>
              </a:tr>
              <a:tr h="354474">
                <a:tc>
                  <a:txBody>
                    <a:bodyPr/>
                    <a:lstStyle/>
                    <a:p>
                      <a:r>
                        <a:rPr sz="1050">
                          <a:solidFill>
                            <a:srgbClr val="0B0B0B"/>
                          </a:solidFill>
                          <a:latin typeface="Arial"/>
                          <a:ea typeface="Arial"/>
                          <a:cs typeface="Arial"/>
                        </a:rPr>
                        <a:t>Infraestructura, web e IA</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64,08</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243,50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1"/>
                  </a:ext>
                </a:extLst>
              </a:tr>
              <a:tr h="354474">
                <a:tc>
                  <a:txBody>
                    <a:bodyPr/>
                    <a:lstStyle/>
                    <a:p>
                      <a:r>
                        <a:rPr sz="1050">
                          <a:solidFill>
                            <a:srgbClr val="0B0B0B"/>
                          </a:solidFill>
                          <a:latin typeface="Arial"/>
                          <a:ea typeface="Arial"/>
                          <a:cs typeface="Arial"/>
                        </a:rPr>
                        <a:t>Meta · 3.800 servicios × US$0,03</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114,00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433,20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2"/>
                  </a:ext>
                </a:extLst>
              </a:tr>
              <a:tr h="354474">
                <a:tc>
                  <a:txBody>
                    <a:bodyPr/>
                    <a:lstStyle/>
                    <a:p>
                      <a:r>
                        <a:rPr sz="1050">
                          <a:solidFill>
                            <a:srgbClr val="0B0B0B"/>
                          </a:solidFill>
                          <a:latin typeface="Arial"/>
                          <a:ea typeface="Arial"/>
                          <a:cs typeface="Arial"/>
                        </a:rPr>
                        <a:t>Meta · 4.000 confirmaciones × US$0,03</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120,00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456,00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3"/>
                  </a:ext>
                </a:extLst>
              </a:tr>
              <a:tr h="354474">
                <a:tc>
                  <a:txBody>
                    <a:bodyPr/>
                    <a:lstStyle/>
                    <a:p>
                      <a:r>
                        <a:rPr sz="1050">
                          <a:solidFill>
                            <a:srgbClr val="0B0B0B"/>
                          </a:solidFill>
                          <a:latin typeface="Arial"/>
                          <a:ea typeface="Arial"/>
                          <a:cs typeface="Arial"/>
                        </a:rPr>
                        <a:t>Total con 20% de reserva</a:t>
                      </a:r>
                    </a:p>
                  </a:txBody>
                  <a:tcPr marL="95250" marR="95250" marT="66675" marB="66675">
                    <a:lnL w="4763">
                      <a:solidFill>
                        <a:srgbClr val="D0CBC4"/>
                      </a:solidFill>
                      <a:prstDash val="soli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357,70</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tc>
                  <a:txBody>
                    <a:bodyPr/>
                    <a:lstStyle/>
                    <a:p>
                      <a:r>
                        <a:rPr sz="1050">
                          <a:solidFill>
                            <a:srgbClr val="0B0B0B"/>
                          </a:solidFill>
                          <a:latin typeface="Arial"/>
                          <a:ea typeface="Arial"/>
                          <a:cs typeface="Arial"/>
                        </a:rPr>
                        <a:t>1.359,24</a:t>
                      </a:r>
                    </a:p>
                  </a:txBody>
                  <a:tcPr marL="95250" marR="95250" marT="66675" marB="66675">
                    <a:lnL w="4763" cap="flat" cmpd="sng" algn="ctr">
                      <a:solidFill>
                        <a:srgbClr val="D0CBC4"/>
                      </a:solidFill>
                      <a:prstDash val="solid"/>
                      <a:round/>
                      <a:headEnd type="none" w="med" len="med"/>
                      <a:tailEnd type="none" w="med" len="med"/>
                    </a:lnL>
                    <a:lnR w="4763">
                      <a:solidFill>
                        <a:srgbClr val="D0CBC4"/>
                      </a:solidFill>
                      <a:prstDash val="solid"/>
                    </a:lnR>
                    <a:lnT w="4763" cap="flat" cmpd="sng" algn="ctr">
                      <a:solidFill>
                        <a:srgbClr val="D0CBC4"/>
                      </a:solidFill>
                      <a:prstDash val="solid"/>
                      <a:round/>
                      <a:headEnd type="none" w="med" len="med"/>
                      <a:tailEnd type="none" w="med" len="med"/>
                    </a:lnT>
                    <a:lnB w="4763">
                      <a:solidFill>
                        <a:srgbClr val="D0CBC4"/>
                      </a:solidFill>
                      <a:prstDash val="solid"/>
                    </a:lnB>
                    <a:solidFill>
                      <a:srgbClr val="F5F0E8"/>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96625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2" name="Imagen 21">
            <a:extLst>
              <a:ext uri="{FF2B5EF4-FFF2-40B4-BE49-F238E27FC236}">
                <a16:creationId xmlns:a16="http://schemas.microsoft.com/office/drawing/2014/main" id="{F7E9D50A-0916-41A0-BF85-43E14CA30A63}"/>
              </a:ext>
            </a:extLst>
          </p:cNvPr>
          <p:cNvPicPr>
            <a:picLocks noChangeAspect="1"/>
          </p:cNvPicPr>
          <p:nvPr/>
        </p:nvPicPr>
        <p:blipFill>
          <a:blip r:embed="rId3"/>
          <a:stretch/>
        </p:blipFill>
        <p:spPr>
          <a:xfrm>
            <a:off x="0" y="0"/>
            <a:ext cx="9324594" cy="5248656"/>
          </a:xfrm>
          <a:prstGeom prst="rect">
            <a:avLst/>
          </a:prstGeom>
        </p:spPr>
      </p:pic>
      <p:sp>
        <p:nvSpPr>
          <p:cNvPr id="2" name="text-23-0">
            <a:extLst>
              <a:ext uri="{FF2B5EF4-FFF2-40B4-BE49-F238E27FC236}">
                <a16:creationId xmlns:a16="http://schemas.microsoft.com/office/drawing/2014/main" id="{585103BA-242E-4D2A-9731-7A7B48E1D711}"/>
              </a:ext>
            </a:extLst>
          </p:cNvPr>
          <p:cNvSpPr>
            <a:spLocks noGrp="1"/>
          </p:cNvSpPr>
          <p:nvPr/>
        </p:nvSpPr>
        <p:spPr>
          <a:xfrm>
            <a:off x="532209" y="382979"/>
            <a:ext cx="2786289"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ANEXO F / OPTIMIZACIÓN PROPUESTA</a:t>
            </a:r>
          </a:p>
        </p:txBody>
      </p:sp>
      <p:sp>
        <p:nvSpPr>
          <p:cNvPr id="3" name="text-23-1">
            <a:extLst>
              <a:ext uri="{FF2B5EF4-FFF2-40B4-BE49-F238E27FC236}">
                <a16:creationId xmlns:a16="http://schemas.microsoft.com/office/drawing/2014/main" id="{51BFBC20-172E-4675-8F8A-2D824FD796BC}"/>
              </a:ext>
            </a:extLst>
          </p:cNvPr>
          <p:cNvSpPr>
            <a:spLocks noGrp="1"/>
          </p:cNvSpPr>
          <p:nvPr/>
        </p:nvSpPr>
        <p:spPr>
          <a:xfrm>
            <a:off x="532209" y="681719"/>
            <a:ext cx="4997106" cy="580430"/>
          </a:xfrm>
          <a:prstGeom prst="rect">
            <a:avLst/>
          </a:prstGeom>
          <a:noFill/>
          <a:ln w="0">
            <a:noFill/>
          </a:ln>
        </p:spPr>
        <p:txBody>
          <a:bodyPr wrap="none" lIns="0" tIns="0" rIns="0" bIns="0" anchor="t">
            <a:noAutofit/>
          </a:bodyPr>
          <a:lstStyle>
            <a:defPPr>
              <a:defRPr sz="3656" b="0" i="0">
                <a:solidFill>
                  <a:srgbClr val="F5F0E8"/>
                </a:solidFill>
                <a:latin typeface="Impact"/>
                <a:ea typeface="Impact"/>
                <a:cs typeface="Impact"/>
              </a:defRPr>
            </a:defPPr>
          </a:lstStyle>
          <a:p>
            <a:pPr>
              <a:defRPr sz="3656" b="0" i="0">
                <a:solidFill>
                  <a:srgbClr val="F5F0E8"/>
                </a:solidFill>
                <a:latin typeface="Impact"/>
                <a:ea typeface="Impact"/>
                <a:cs typeface="Impact"/>
              </a:defRPr>
            </a:pPr>
            <a:r>
              <a:rPr sz="3656" b="0" i="0">
                <a:solidFill>
                  <a:srgbClr val="F5F0E8"/>
                </a:solidFill>
                <a:latin typeface="Impact"/>
                <a:ea typeface="Impact"/>
                <a:cs typeface="Impact"/>
              </a:rPr>
              <a:t>LOS DATOS EN EL FORMULARIO</a:t>
            </a:r>
          </a:p>
        </p:txBody>
      </p:sp>
      <p:sp>
        <p:nvSpPr>
          <p:cNvPr id="4" name="text-23-2">
            <a:extLst>
              <a:ext uri="{FF2B5EF4-FFF2-40B4-BE49-F238E27FC236}">
                <a16:creationId xmlns:a16="http://schemas.microsoft.com/office/drawing/2014/main" id="{2087222F-655C-4EE0-B3D5-F523B3BFC638}"/>
              </a:ext>
            </a:extLst>
          </p:cNvPr>
          <p:cNvSpPr>
            <a:spLocks noGrp="1"/>
          </p:cNvSpPr>
          <p:nvPr/>
        </p:nvSpPr>
        <p:spPr>
          <a:xfrm>
            <a:off x="532209" y="1153206"/>
            <a:ext cx="4509800" cy="580430"/>
          </a:xfrm>
          <a:prstGeom prst="rect">
            <a:avLst/>
          </a:prstGeom>
          <a:noFill/>
          <a:ln w="0">
            <a:noFill/>
          </a:ln>
        </p:spPr>
        <p:txBody>
          <a:bodyPr wrap="none" lIns="0" tIns="0" rIns="0" bIns="0" anchor="t">
            <a:noAutofit/>
          </a:bodyPr>
          <a:lstStyle>
            <a:defPPr>
              <a:defRPr sz="3656" b="0" i="0">
                <a:solidFill>
                  <a:srgbClr val="F5F0E8"/>
                </a:solidFill>
                <a:latin typeface="Impact"/>
                <a:ea typeface="Impact"/>
                <a:cs typeface="Impact"/>
              </a:defRPr>
            </a:defPPr>
          </a:lstStyle>
          <a:p>
            <a:pPr>
              <a:defRPr sz="3656" b="0" i="0">
                <a:solidFill>
                  <a:srgbClr val="F5F0E8"/>
                </a:solidFill>
                <a:latin typeface="Impact"/>
                <a:ea typeface="Impact"/>
                <a:cs typeface="Impact"/>
              </a:defRPr>
            </a:pPr>
            <a:r>
              <a:rPr sz="3656" b="0" i="0">
                <a:solidFill>
                  <a:srgbClr val="F5F0E8"/>
                </a:solidFill>
                <a:latin typeface="Impact"/>
                <a:ea typeface="Impact"/>
                <a:cs typeface="Impact"/>
              </a:rPr>
              <a:t>EL CHAT PARA ACOMPAÑAR</a:t>
            </a:r>
          </a:p>
        </p:txBody>
      </p:sp>
      <p:sp>
        <p:nvSpPr>
          <p:cNvPr id="5" name="text-23-3">
            <a:extLst>
              <a:ext uri="{FF2B5EF4-FFF2-40B4-BE49-F238E27FC236}">
                <a16:creationId xmlns:a16="http://schemas.microsoft.com/office/drawing/2014/main" id="{E262FC5F-6B80-4614-B614-A362B4C2BA33}"/>
              </a:ext>
            </a:extLst>
          </p:cNvPr>
          <p:cNvSpPr>
            <a:spLocks noGrp="1"/>
          </p:cNvSpPr>
          <p:nvPr/>
        </p:nvSpPr>
        <p:spPr>
          <a:xfrm>
            <a:off x="532209" y="1971598"/>
            <a:ext cx="1780417" cy="187523"/>
          </a:xfrm>
          <a:prstGeom prst="rect">
            <a:avLst/>
          </a:prstGeom>
          <a:noFill/>
          <a:ln w="0">
            <a:noFill/>
          </a:ln>
        </p:spPr>
        <p:txBody>
          <a:bodyPr wrap="none" lIns="0" tIns="0" rIns="0" bIns="0" anchor="t">
            <a:noAutofit/>
          </a:bodyPr>
          <a:lstStyle>
            <a:defPPr>
              <a:defRPr sz="1181" b="1" i="0">
                <a:solidFill>
                  <a:srgbClr val="F5F0E8"/>
                </a:solidFill>
                <a:latin typeface="Arial"/>
                <a:ea typeface="Arial"/>
                <a:cs typeface="Arial"/>
              </a:defRPr>
            </a:defPPr>
          </a:lstStyle>
          <a:p>
            <a:pPr>
              <a:defRPr sz="1181" b="1" i="0">
                <a:solidFill>
                  <a:srgbClr val="F5F0E8"/>
                </a:solidFill>
                <a:latin typeface="Arial"/>
                <a:ea typeface="Arial"/>
                <a:cs typeface="Arial"/>
              </a:defRPr>
            </a:pPr>
            <a:r>
              <a:rPr sz="1181" b="1" i="0">
                <a:solidFill>
                  <a:srgbClr val="F5F0E8"/>
                </a:solidFill>
                <a:latin typeface="Arial"/>
                <a:ea typeface="Arial"/>
                <a:cs typeface="Arial"/>
              </a:rPr>
              <a:t>01 / UN SOLO MENSAJE</a:t>
            </a:r>
          </a:p>
        </p:txBody>
      </p:sp>
      <p:sp>
        <p:nvSpPr>
          <p:cNvPr id="6" name="text-23-4">
            <a:extLst>
              <a:ext uri="{FF2B5EF4-FFF2-40B4-BE49-F238E27FC236}">
                <a16:creationId xmlns:a16="http://schemas.microsoft.com/office/drawing/2014/main" id="{195C2734-734F-40D2-B457-A5AEAFFFD32A}"/>
              </a:ext>
            </a:extLst>
          </p:cNvPr>
          <p:cNvSpPr>
            <a:spLocks noGrp="1"/>
          </p:cNvSpPr>
          <p:nvPr/>
        </p:nvSpPr>
        <p:spPr>
          <a:xfrm>
            <a:off x="532209" y="2288630"/>
            <a:ext cx="2539305" cy="223242"/>
          </a:xfrm>
          <a:prstGeom prst="rect">
            <a:avLst/>
          </a:prstGeom>
          <a:noFill/>
          <a:ln w="0">
            <a:noFill/>
          </a:ln>
        </p:spPr>
        <p:txBody>
          <a:bodyPr wrap="none" lIns="0" tIns="0" rIns="0" bIns="0" anchor="t">
            <a:noAutofit/>
          </a:bodyPr>
          <a:lstStyle>
            <a:defPPr>
              <a:defRPr sz="1406" b="0" i="0">
                <a:solidFill>
                  <a:srgbClr val="F5F0E8"/>
                </a:solidFill>
                <a:latin typeface="Arial"/>
                <a:ea typeface="Arial"/>
                <a:cs typeface="Arial"/>
              </a:defRPr>
            </a:defPPr>
          </a:lstStyle>
          <a:p>
            <a:pPr>
              <a:defRPr sz="1406" b="0" i="0">
                <a:solidFill>
                  <a:srgbClr val="F5F0E8"/>
                </a:solidFill>
                <a:latin typeface="Arial"/>
                <a:ea typeface="Arial"/>
                <a:cs typeface="Arial"/>
              </a:defRPr>
            </a:pPr>
            <a:r>
              <a:rPr sz="1406" b="0" i="0">
                <a:solidFill>
                  <a:srgbClr val="F5F0E8"/>
                </a:solidFill>
                <a:latin typeface="Arial"/>
                <a:ea typeface="Arial"/>
                <a:cs typeface="Arial"/>
              </a:rPr>
              <a:t>Cotización y botón al formulario</a:t>
            </a:r>
          </a:p>
        </p:txBody>
      </p:sp>
      <p:sp>
        <p:nvSpPr>
          <p:cNvPr id="7" name="text-23-5">
            <a:extLst>
              <a:ext uri="{FF2B5EF4-FFF2-40B4-BE49-F238E27FC236}">
                <a16:creationId xmlns:a16="http://schemas.microsoft.com/office/drawing/2014/main" id="{F309C55A-02EE-494D-BC3E-B55A080CB388}"/>
              </a:ext>
            </a:extLst>
          </p:cNvPr>
          <p:cNvSpPr>
            <a:spLocks noGrp="1"/>
          </p:cNvSpPr>
          <p:nvPr/>
        </p:nvSpPr>
        <p:spPr>
          <a:xfrm>
            <a:off x="532209" y="2545805"/>
            <a:ext cx="981154" cy="223242"/>
          </a:xfrm>
          <a:prstGeom prst="rect">
            <a:avLst/>
          </a:prstGeom>
          <a:noFill/>
          <a:ln w="0">
            <a:noFill/>
          </a:ln>
        </p:spPr>
        <p:txBody>
          <a:bodyPr wrap="none" lIns="0" tIns="0" rIns="0" bIns="0" anchor="t">
            <a:noAutofit/>
          </a:bodyPr>
          <a:lstStyle>
            <a:defPPr>
              <a:defRPr sz="1406" b="0" i="0">
                <a:solidFill>
                  <a:srgbClr val="F5F0E8"/>
                </a:solidFill>
                <a:latin typeface="Arial"/>
                <a:ea typeface="Arial"/>
                <a:cs typeface="Arial"/>
              </a:defRPr>
            </a:defPPr>
          </a:lstStyle>
          <a:p>
            <a:pPr>
              <a:defRPr sz="1406" b="0" i="0">
                <a:solidFill>
                  <a:srgbClr val="F5F0E8"/>
                </a:solidFill>
                <a:latin typeface="Arial"/>
                <a:ea typeface="Arial"/>
                <a:cs typeface="Arial"/>
              </a:defRPr>
            </a:pPr>
            <a:r>
              <a:rPr sz="1406" b="0" i="0">
                <a:solidFill>
                  <a:srgbClr val="F5F0E8"/>
                </a:solidFill>
                <a:latin typeface="Arial"/>
                <a:ea typeface="Arial"/>
                <a:cs typeface="Arial"/>
              </a:rPr>
              <a:t>web o Flow.</a:t>
            </a:r>
          </a:p>
        </p:txBody>
      </p:sp>
      <p:sp>
        <p:nvSpPr>
          <p:cNvPr id="8" name="text-23-6">
            <a:extLst>
              <a:ext uri="{FF2B5EF4-FFF2-40B4-BE49-F238E27FC236}">
                <a16:creationId xmlns:a16="http://schemas.microsoft.com/office/drawing/2014/main" id="{B6D8DD39-ABDB-4A6D-8A60-B443D5D26DE9}"/>
              </a:ext>
            </a:extLst>
          </p:cNvPr>
          <p:cNvSpPr>
            <a:spLocks noGrp="1"/>
          </p:cNvSpPr>
          <p:nvPr/>
        </p:nvSpPr>
        <p:spPr>
          <a:xfrm>
            <a:off x="3375422" y="1971598"/>
            <a:ext cx="1841377" cy="187523"/>
          </a:xfrm>
          <a:prstGeom prst="rect">
            <a:avLst/>
          </a:prstGeom>
          <a:noFill/>
          <a:ln w="0">
            <a:noFill/>
          </a:ln>
        </p:spPr>
        <p:txBody>
          <a:bodyPr wrap="none" lIns="0" tIns="0" rIns="0" bIns="0" anchor="t">
            <a:noAutofit/>
          </a:bodyPr>
          <a:lstStyle>
            <a:defPPr>
              <a:defRPr sz="1181" b="1" i="0">
                <a:solidFill>
                  <a:srgbClr val="F5F0E8"/>
                </a:solidFill>
                <a:latin typeface="Arial"/>
                <a:ea typeface="Arial"/>
                <a:cs typeface="Arial"/>
              </a:defRPr>
            </a:defPPr>
          </a:lstStyle>
          <a:p>
            <a:pPr>
              <a:defRPr sz="1181" b="1" i="0">
                <a:solidFill>
                  <a:srgbClr val="F5F0E8"/>
                </a:solidFill>
                <a:latin typeface="Arial"/>
                <a:ea typeface="Arial"/>
                <a:cs typeface="Arial"/>
              </a:defRPr>
            </a:pPr>
            <a:r>
              <a:rPr sz="1181" b="1" i="0">
                <a:solidFill>
                  <a:srgbClr val="F5F0E8"/>
                </a:solidFill>
                <a:latin typeface="Arial"/>
                <a:ea typeface="Arial"/>
                <a:cs typeface="Arial"/>
              </a:rPr>
              <a:t>02 / DATOS AGRUPADOS</a:t>
            </a:r>
          </a:p>
        </p:txBody>
      </p:sp>
      <p:sp>
        <p:nvSpPr>
          <p:cNvPr id="9" name="text-23-7">
            <a:extLst>
              <a:ext uri="{FF2B5EF4-FFF2-40B4-BE49-F238E27FC236}">
                <a16:creationId xmlns:a16="http://schemas.microsoft.com/office/drawing/2014/main" id="{26076EF4-A16C-4EBF-A6C9-656ABE487836}"/>
              </a:ext>
            </a:extLst>
          </p:cNvPr>
          <p:cNvSpPr>
            <a:spLocks noGrp="1"/>
          </p:cNvSpPr>
          <p:nvPr/>
        </p:nvSpPr>
        <p:spPr>
          <a:xfrm>
            <a:off x="3375422" y="2288630"/>
            <a:ext cx="1586867" cy="223242"/>
          </a:xfrm>
          <a:prstGeom prst="rect">
            <a:avLst/>
          </a:prstGeom>
          <a:noFill/>
          <a:ln w="0">
            <a:noFill/>
          </a:ln>
        </p:spPr>
        <p:txBody>
          <a:bodyPr wrap="none" lIns="0" tIns="0" rIns="0" bIns="0" anchor="t">
            <a:noAutofit/>
          </a:bodyPr>
          <a:lstStyle>
            <a:defPPr>
              <a:defRPr sz="1406" b="0" i="0">
                <a:solidFill>
                  <a:srgbClr val="F5F0E8"/>
                </a:solidFill>
                <a:latin typeface="Arial"/>
                <a:ea typeface="Arial"/>
                <a:cs typeface="Arial"/>
              </a:defRPr>
            </a:defPPr>
          </a:lstStyle>
          <a:p>
            <a:pPr>
              <a:defRPr sz="1406" b="0" i="0">
                <a:solidFill>
                  <a:srgbClr val="F5F0E8"/>
                </a:solidFill>
                <a:latin typeface="Arial"/>
                <a:ea typeface="Arial"/>
                <a:cs typeface="Arial"/>
              </a:defRPr>
            </a:pPr>
            <a:r>
              <a:rPr sz="1406" b="0" i="0">
                <a:solidFill>
                  <a:srgbClr val="F5F0E8"/>
                </a:solidFill>
                <a:latin typeface="Arial"/>
                <a:ea typeface="Arial"/>
                <a:cs typeface="Arial"/>
              </a:rPr>
              <a:t>Identidad, destino y</a:t>
            </a:r>
          </a:p>
        </p:txBody>
      </p:sp>
      <p:sp>
        <p:nvSpPr>
          <p:cNvPr id="10" name="text-23-8">
            <a:extLst>
              <a:ext uri="{FF2B5EF4-FFF2-40B4-BE49-F238E27FC236}">
                <a16:creationId xmlns:a16="http://schemas.microsoft.com/office/drawing/2014/main" id="{9D08DCE4-0759-4214-966D-423A28A23179}"/>
              </a:ext>
            </a:extLst>
          </p:cNvPr>
          <p:cNvSpPr>
            <a:spLocks noGrp="1"/>
          </p:cNvSpPr>
          <p:nvPr/>
        </p:nvSpPr>
        <p:spPr>
          <a:xfrm>
            <a:off x="3375422" y="2545805"/>
            <a:ext cx="2410363" cy="223242"/>
          </a:xfrm>
          <a:prstGeom prst="rect">
            <a:avLst/>
          </a:prstGeom>
          <a:noFill/>
          <a:ln w="0">
            <a:noFill/>
          </a:ln>
        </p:spPr>
        <p:txBody>
          <a:bodyPr wrap="none" lIns="0" tIns="0" rIns="0" bIns="0" anchor="t">
            <a:noAutofit/>
          </a:bodyPr>
          <a:lstStyle>
            <a:defPPr>
              <a:defRPr sz="1406" b="0" i="0">
                <a:solidFill>
                  <a:srgbClr val="F5F0E8"/>
                </a:solidFill>
                <a:latin typeface="Arial"/>
                <a:ea typeface="Arial"/>
                <a:cs typeface="Arial"/>
              </a:defRPr>
            </a:defPPr>
          </a:lstStyle>
          <a:p>
            <a:pPr>
              <a:defRPr sz="1406" b="0" i="0">
                <a:solidFill>
                  <a:srgbClr val="F5F0E8"/>
                </a:solidFill>
                <a:latin typeface="Arial"/>
                <a:ea typeface="Arial"/>
                <a:cs typeface="Arial"/>
              </a:defRPr>
            </a:pPr>
            <a:r>
              <a:rPr sz="1406" b="0" i="0">
                <a:solidFill>
                  <a:srgbClr val="F5F0E8"/>
                </a:solidFill>
                <a:latin typeface="Arial"/>
                <a:ea typeface="Arial"/>
                <a:cs typeface="Arial"/>
              </a:rPr>
              <a:t>comprobante en el formulario.</a:t>
            </a:r>
          </a:p>
        </p:txBody>
      </p:sp>
      <p:sp>
        <p:nvSpPr>
          <p:cNvPr id="11" name="text-23-9">
            <a:extLst>
              <a:ext uri="{FF2B5EF4-FFF2-40B4-BE49-F238E27FC236}">
                <a16:creationId xmlns:a16="http://schemas.microsoft.com/office/drawing/2014/main" id="{8A1CC344-4177-4924-AD98-F6027DD4701A}"/>
              </a:ext>
            </a:extLst>
          </p:cNvPr>
          <p:cNvSpPr>
            <a:spLocks noGrp="1"/>
          </p:cNvSpPr>
          <p:nvPr/>
        </p:nvSpPr>
        <p:spPr>
          <a:xfrm>
            <a:off x="6218634" y="1971598"/>
            <a:ext cx="1874509" cy="187523"/>
          </a:xfrm>
          <a:prstGeom prst="rect">
            <a:avLst/>
          </a:prstGeom>
          <a:noFill/>
          <a:ln w="0">
            <a:noFill/>
          </a:ln>
        </p:spPr>
        <p:txBody>
          <a:bodyPr wrap="none" lIns="0" tIns="0" rIns="0" bIns="0" anchor="t">
            <a:noAutofit/>
          </a:bodyPr>
          <a:lstStyle>
            <a:defPPr>
              <a:defRPr sz="1181" b="1" i="0">
                <a:solidFill>
                  <a:srgbClr val="F5F0E8"/>
                </a:solidFill>
                <a:latin typeface="Arial"/>
                <a:ea typeface="Arial"/>
                <a:cs typeface="Arial"/>
              </a:defRPr>
            </a:defPPr>
          </a:lstStyle>
          <a:p>
            <a:pPr>
              <a:defRPr sz="1181" b="1" i="0">
                <a:solidFill>
                  <a:srgbClr val="F5F0E8"/>
                </a:solidFill>
                <a:latin typeface="Arial"/>
                <a:ea typeface="Arial"/>
                <a:cs typeface="Arial"/>
              </a:defRPr>
            </a:pPr>
            <a:r>
              <a:rPr sz="1181" b="1" i="0">
                <a:solidFill>
                  <a:srgbClr val="F5F0E8"/>
                </a:solidFill>
                <a:latin typeface="Arial"/>
                <a:ea typeface="Arial"/>
                <a:cs typeface="Arial"/>
              </a:rPr>
              <a:t>03 / UNA CONFIRMACIÓN</a:t>
            </a:r>
          </a:p>
        </p:txBody>
      </p:sp>
      <p:sp>
        <p:nvSpPr>
          <p:cNvPr id="12" name="text-23-10">
            <a:extLst>
              <a:ext uri="{FF2B5EF4-FFF2-40B4-BE49-F238E27FC236}">
                <a16:creationId xmlns:a16="http://schemas.microsoft.com/office/drawing/2014/main" id="{F3AE1D2C-E6D7-470B-8385-5028DA571765}"/>
              </a:ext>
            </a:extLst>
          </p:cNvPr>
          <p:cNvSpPr>
            <a:spLocks noGrp="1"/>
          </p:cNvSpPr>
          <p:nvPr/>
        </p:nvSpPr>
        <p:spPr>
          <a:xfrm>
            <a:off x="6218634" y="2288630"/>
            <a:ext cx="2072997" cy="223242"/>
          </a:xfrm>
          <a:prstGeom prst="rect">
            <a:avLst/>
          </a:prstGeom>
          <a:noFill/>
          <a:ln w="0">
            <a:noFill/>
          </a:ln>
        </p:spPr>
        <p:txBody>
          <a:bodyPr wrap="none" lIns="0" tIns="0" rIns="0" bIns="0" anchor="t">
            <a:noAutofit/>
          </a:bodyPr>
          <a:lstStyle>
            <a:defPPr>
              <a:defRPr sz="1406" b="0" i="0">
                <a:solidFill>
                  <a:srgbClr val="F5F0E8"/>
                </a:solidFill>
                <a:latin typeface="Arial"/>
                <a:ea typeface="Arial"/>
                <a:cs typeface="Arial"/>
              </a:defRPr>
            </a:defPPr>
          </a:lstStyle>
          <a:p>
            <a:pPr>
              <a:defRPr sz="1406" b="0" i="0">
                <a:solidFill>
                  <a:srgbClr val="F5F0E8"/>
                </a:solidFill>
                <a:latin typeface="Arial"/>
                <a:ea typeface="Arial"/>
                <a:cs typeface="Arial"/>
              </a:defRPr>
            </a:pPr>
            <a:r>
              <a:rPr sz="1406" b="0" i="0">
                <a:solidFill>
                  <a:srgbClr val="F5F0E8"/>
                </a:solidFill>
                <a:latin typeface="Arial"/>
                <a:ea typeface="Arial"/>
                <a:cs typeface="Arial"/>
              </a:rPr>
              <a:t>Resultado y comprobante</a:t>
            </a:r>
          </a:p>
        </p:txBody>
      </p:sp>
      <p:sp>
        <p:nvSpPr>
          <p:cNvPr id="13" name="text-23-11">
            <a:extLst>
              <a:ext uri="{FF2B5EF4-FFF2-40B4-BE49-F238E27FC236}">
                <a16:creationId xmlns:a16="http://schemas.microsoft.com/office/drawing/2014/main" id="{94CC2AA5-53B8-454B-9179-8F8601AE8406}"/>
              </a:ext>
            </a:extLst>
          </p:cNvPr>
          <p:cNvSpPr>
            <a:spLocks noGrp="1"/>
          </p:cNvSpPr>
          <p:nvPr/>
        </p:nvSpPr>
        <p:spPr>
          <a:xfrm>
            <a:off x="6218634" y="2545805"/>
            <a:ext cx="2288359" cy="223242"/>
          </a:xfrm>
          <a:prstGeom prst="rect">
            <a:avLst/>
          </a:prstGeom>
          <a:noFill/>
          <a:ln w="0">
            <a:noFill/>
          </a:ln>
        </p:spPr>
        <p:txBody>
          <a:bodyPr wrap="none" lIns="0" tIns="0" rIns="0" bIns="0" anchor="t">
            <a:noAutofit/>
          </a:bodyPr>
          <a:lstStyle>
            <a:defPPr>
              <a:defRPr sz="1406" b="0" i="0">
                <a:solidFill>
                  <a:srgbClr val="F5F0E8"/>
                </a:solidFill>
                <a:latin typeface="Arial"/>
                <a:ea typeface="Arial"/>
                <a:cs typeface="Arial"/>
              </a:defRPr>
            </a:defPPr>
          </a:lstStyle>
          <a:p>
            <a:pPr>
              <a:defRPr sz="1406" b="0" i="0">
                <a:solidFill>
                  <a:srgbClr val="F5F0E8"/>
                </a:solidFill>
                <a:latin typeface="Arial"/>
                <a:ea typeface="Arial"/>
                <a:cs typeface="Arial"/>
              </a:defRPr>
            </a:pPr>
            <a:r>
              <a:rPr sz="1406" b="0" i="0">
                <a:solidFill>
                  <a:srgbClr val="F5F0E8"/>
                </a:solidFill>
                <a:latin typeface="Arial"/>
                <a:ea typeface="Arial"/>
                <a:cs typeface="Arial"/>
              </a:rPr>
              <a:t>juntos. Ayuda si se necesita.</a:t>
            </a:r>
          </a:p>
        </p:txBody>
      </p:sp>
      <p:sp>
        <p:nvSpPr>
          <p:cNvPr id="14" name="text-23-12">
            <a:extLst>
              <a:ext uri="{FF2B5EF4-FFF2-40B4-BE49-F238E27FC236}">
                <a16:creationId xmlns:a16="http://schemas.microsoft.com/office/drawing/2014/main" id="{78E1D2E0-8C0F-4E0B-9FF0-1DC04DE04BEA}"/>
              </a:ext>
            </a:extLst>
          </p:cNvPr>
          <p:cNvSpPr>
            <a:spLocks noGrp="1"/>
          </p:cNvSpPr>
          <p:nvPr/>
        </p:nvSpPr>
        <p:spPr>
          <a:xfrm>
            <a:off x="532209" y="3103199"/>
            <a:ext cx="1261975" cy="616148"/>
          </a:xfrm>
          <a:prstGeom prst="rect">
            <a:avLst/>
          </a:prstGeom>
          <a:noFill/>
          <a:ln w="0">
            <a:noFill/>
          </a:ln>
        </p:spPr>
        <p:txBody>
          <a:bodyPr wrap="none" lIns="0" tIns="0" rIns="0" bIns="0" anchor="t">
            <a:noAutofit/>
          </a:bodyPr>
          <a:lstStyle>
            <a:defPPr>
              <a:defRPr sz="3881" b="0" i="0">
                <a:solidFill>
                  <a:srgbClr val="F5F0E8"/>
                </a:solidFill>
                <a:latin typeface="Impact"/>
                <a:ea typeface="Impact"/>
                <a:cs typeface="Impact"/>
              </a:defRPr>
            </a:defPPr>
          </a:lstStyle>
          <a:p>
            <a:pPr>
              <a:defRPr sz="3881" b="0" i="0">
                <a:solidFill>
                  <a:srgbClr val="F5F0E8"/>
                </a:solidFill>
                <a:latin typeface="Impact"/>
                <a:ea typeface="Impact"/>
                <a:cs typeface="Impact"/>
              </a:defRPr>
            </a:pPr>
            <a:r>
              <a:rPr sz="3881" b="0" i="0">
                <a:solidFill>
                  <a:srgbClr val="F5F0E8"/>
                </a:solidFill>
                <a:latin typeface="Impact"/>
                <a:ea typeface="Impact"/>
                <a:cs typeface="Impact"/>
              </a:rPr>
              <a:t>6 a 2,2</a:t>
            </a:r>
          </a:p>
        </p:txBody>
      </p:sp>
      <p:sp>
        <p:nvSpPr>
          <p:cNvPr id="15" name="text-23-13">
            <a:extLst>
              <a:ext uri="{FF2B5EF4-FFF2-40B4-BE49-F238E27FC236}">
                <a16:creationId xmlns:a16="http://schemas.microsoft.com/office/drawing/2014/main" id="{7A660552-D030-4C27-8849-23C883C9D932}"/>
              </a:ext>
            </a:extLst>
          </p:cNvPr>
          <p:cNvSpPr>
            <a:spLocks noGrp="1"/>
          </p:cNvSpPr>
          <p:nvPr/>
        </p:nvSpPr>
        <p:spPr>
          <a:xfrm>
            <a:off x="532209" y="3701062"/>
            <a:ext cx="2597491" cy="196453"/>
          </a:xfrm>
          <a:prstGeom prst="rect">
            <a:avLst/>
          </a:prstGeom>
          <a:noFill/>
          <a:ln w="0">
            <a:noFill/>
          </a:ln>
        </p:spPr>
        <p:txBody>
          <a:bodyPr wrap="none" lIns="0" tIns="0" rIns="0" bIns="0" anchor="t">
            <a:noAutofit/>
          </a:bodyPr>
          <a:lstStyle>
            <a:defPPr>
              <a:defRPr sz="1238" b="0" i="0">
                <a:solidFill>
                  <a:srgbClr val="F5F0E8"/>
                </a:solidFill>
                <a:latin typeface="Arial"/>
                <a:ea typeface="Arial"/>
                <a:cs typeface="Arial"/>
              </a:defRPr>
            </a:defPPr>
          </a:lstStyle>
          <a:p>
            <a:pPr>
              <a:defRPr sz="1238" b="0" i="0">
                <a:solidFill>
                  <a:srgbClr val="F5F0E8"/>
                </a:solidFill>
                <a:latin typeface="Arial"/>
                <a:ea typeface="Arial"/>
                <a:cs typeface="Arial"/>
              </a:defRPr>
            </a:pPr>
            <a:r>
              <a:rPr sz="1238" b="0" i="0">
                <a:solidFill>
                  <a:srgbClr val="F5F0E8"/>
                </a:solidFill>
                <a:latin typeface="Arial"/>
                <a:ea typeface="Arial"/>
                <a:cs typeface="Arial"/>
              </a:rPr>
              <a:t>mensajes medios por chat, supuesto</a:t>
            </a:r>
          </a:p>
        </p:txBody>
      </p:sp>
      <p:sp>
        <p:nvSpPr>
          <p:cNvPr id="16" name="text-23-14">
            <a:extLst>
              <a:ext uri="{FF2B5EF4-FFF2-40B4-BE49-F238E27FC236}">
                <a16:creationId xmlns:a16="http://schemas.microsoft.com/office/drawing/2014/main" id="{7E64C428-28B1-4734-8BD8-C195A9B85898}"/>
              </a:ext>
            </a:extLst>
          </p:cNvPr>
          <p:cNvSpPr>
            <a:spLocks noGrp="1"/>
          </p:cNvSpPr>
          <p:nvPr/>
        </p:nvSpPr>
        <p:spPr>
          <a:xfrm>
            <a:off x="4839891" y="3103199"/>
            <a:ext cx="1148183" cy="616148"/>
          </a:xfrm>
          <a:prstGeom prst="rect">
            <a:avLst/>
          </a:prstGeom>
          <a:noFill/>
          <a:ln w="0">
            <a:noFill/>
          </a:ln>
        </p:spPr>
        <p:txBody>
          <a:bodyPr wrap="none" lIns="0" tIns="0" rIns="0" bIns="0" anchor="t">
            <a:noAutofit/>
          </a:bodyPr>
          <a:lstStyle>
            <a:defPPr>
              <a:defRPr sz="3881" b="0" i="0">
                <a:solidFill>
                  <a:srgbClr val="F5F0E8"/>
                </a:solidFill>
                <a:latin typeface="Impact"/>
                <a:ea typeface="Impact"/>
                <a:cs typeface="Impact"/>
              </a:defRPr>
            </a:defPPr>
          </a:lstStyle>
          <a:p>
            <a:pPr>
              <a:defRPr sz="3881" b="0" i="0">
                <a:solidFill>
                  <a:srgbClr val="F5F0E8"/>
                </a:solidFill>
                <a:latin typeface="Impact"/>
                <a:ea typeface="Impact"/>
                <a:cs typeface="Impact"/>
              </a:defRPr>
            </a:pPr>
            <a:r>
              <a:rPr sz="3881" b="0" i="0">
                <a:solidFill>
                  <a:srgbClr val="F5F0E8"/>
                </a:solidFill>
                <a:latin typeface="Impact"/>
                <a:ea typeface="Impact"/>
                <a:cs typeface="Impact"/>
              </a:rPr>
              <a:t>≈60%</a:t>
            </a:r>
          </a:p>
        </p:txBody>
      </p:sp>
      <p:sp>
        <p:nvSpPr>
          <p:cNvPr id="17" name="text-23-15">
            <a:extLst>
              <a:ext uri="{FF2B5EF4-FFF2-40B4-BE49-F238E27FC236}">
                <a16:creationId xmlns:a16="http://schemas.microsoft.com/office/drawing/2014/main" id="{9F17134F-E0B5-40C6-AB42-D33C01CBDF0A}"/>
              </a:ext>
            </a:extLst>
          </p:cNvPr>
          <p:cNvSpPr>
            <a:spLocks noGrp="1"/>
          </p:cNvSpPr>
          <p:nvPr/>
        </p:nvSpPr>
        <p:spPr>
          <a:xfrm>
            <a:off x="4839891" y="3701062"/>
            <a:ext cx="2763928" cy="196453"/>
          </a:xfrm>
          <a:prstGeom prst="rect">
            <a:avLst/>
          </a:prstGeom>
          <a:noFill/>
          <a:ln w="0">
            <a:noFill/>
          </a:ln>
        </p:spPr>
        <p:txBody>
          <a:bodyPr wrap="none" lIns="0" tIns="0" rIns="0" bIns="0" anchor="t">
            <a:noAutofit/>
          </a:bodyPr>
          <a:lstStyle>
            <a:defPPr>
              <a:defRPr sz="1238" b="0" i="0">
                <a:solidFill>
                  <a:srgbClr val="F5F0E8"/>
                </a:solidFill>
                <a:latin typeface="Arial"/>
                <a:ea typeface="Arial"/>
                <a:cs typeface="Arial"/>
              </a:defRPr>
            </a:defPPr>
          </a:lstStyle>
          <a:p>
            <a:pPr>
              <a:defRPr sz="1238" b="0" i="0">
                <a:solidFill>
                  <a:srgbClr val="F5F0E8"/>
                </a:solidFill>
                <a:latin typeface="Arial"/>
                <a:ea typeface="Arial"/>
                <a:cs typeface="Arial"/>
              </a:defRPr>
            </a:pPr>
            <a:r>
              <a:rPr sz="1238" b="0" i="0">
                <a:solidFill>
                  <a:srgbClr val="F5F0E8"/>
                </a:solidFill>
                <a:latin typeface="Arial"/>
                <a:ea typeface="Arial"/>
                <a:cs typeface="Arial"/>
              </a:rPr>
              <a:t>menos presupuesto: S/3.500 a S/1.400</a:t>
            </a:r>
          </a:p>
        </p:txBody>
      </p:sp>
      <p:sp>
        <p:nvSpPr>
          <p:cNvPr id="18" name="text-23-16">
            <a:extLst>
              <a:ext uri="{FF2B5EF4-FFF2-40B4-BE49-F238E27FC236}">
                <a16:creationId xmlns:a16="http://schemas.microsoft.com/office/drawing/2014/main" id="{B62643B0-189A-484C-9A7B-42D07324E257}"/>
              </a:ext>
            </a:extLst>
          </p:cNvPr>
          <p:cNvSpPr>
            <a:spLocks noGrp="1"/>
          </p:cNvSpPr>
          <p:nvPr/>
        </p:nvSpPr>
        <p:spPr>
          <a:xfrm>
            <a:off x="532209" y="4026968"/>
            <a:ext cx="1431708" cy="160734"/>
          </a:xfrm>
          <a:prstGeom prst="rect">
            <a:avLst/>
          </a:prstGeom>
          <a:noFill/>
          <a:ln w="0">
            <a:noFill/>
          </a:ln>
        </p:spPr>
        <p:txBody>
          <a:bodyPr wrap="none" lIns="0" tIns="0" rIns="0" bIns="0" anchor="t">
            <a:noAutofit/>
          </a:bodyPr>
          <a:lstStyle>
            <a:defPPr>
              <a:defRPr sz="1013" b="0" i="0">
                <a:solidFill>
                  <a:srgbClr val="F5F0E8"/>
                </a:solidFill>
                <a:latin typeface="Arial"/>
                <a:ea typeface="Arial"/>
                <a:cs typeface="Arial"/>
              </a:defRPr>
            </a:defPPr>
          </a:lstStyle>
          <a:p>
            <a:pPr>
              <a:defRPr sz="1013" b="0" i="0">
                <a:solidFill>
                  <a:srgbClr val="F5F0E8"/>
                </a:solidFill>
                <a:latin typeface="Arial"/>
                <a:ea typeface="Arial"/>
                <a:cs typeface="Arial"/>
              </a:defRPr>
            </a:pPr>
            <a:r>
              <a:rPr sz="1013" b="0" i="0">
                <a:solidFill>
                  <a:srgbClr val="F5F0E8"/>
                </a:solidFill>
                <a:latin typeface="Arial"/>
                <a:ea typeface="Arial"/>
                <a:cs typeface="Arial"/>
              </a:rPr>
              <a:t>Volver al costo-beneficio</a:t>
            </a:r>
          </a:p>
        </p:txBody>
      </p:sp>
      <p:sp>
        <p:nvSpPr>
          <p:cNvPr id="19" name="text-23-17">
            <a:extLst>
              <a:ext uri="{FF2B5EF4-FFF2-40B4-BE49-F238E27FC236}">
                <a16:creationId xmlns:a16="http://schemas.microsoft.com/office/drawing/2014/main" id="{22A6488E-1073-40E7-884E-E6C701CD4769}"/>
              </a:ext>
            </a:extLst>
          </p:cNvPr>
          <p:cNvSpPr>
            <a:spLocks noGrp="1"/>
          </p:cNvSpPr>
          <p:nvPr/>
        </p:nvSpPr>
        <p:spPr>
          <a:xfrm>
            <a:off x="532209" y="4502902"/>
            <a:ext cx="7823174" cy="125016"/>
          </a:xfrm>
          <a:prstGeom prst="rect">
            <a:avLst/>
          </a:prstGeom>
          <a:noFill/>
          <a:ln w="0">
            <a:noFill/>
          </a:ln>
        </p:spPr>
        <p:txBody>
          <a:bodyPr wrap="none" lIns="0" tIns="0" rIns="0" bIns="0" anchor="t">
            <a:noAutofit/>
          </a:bodyPr>
          <a:lstStyle>
            <a:defPPr>
              <a:defRPr sz="788" b="0" i="0">
                <a:solidFill>
                  <a:srgbClr val="F5F0E8"/>
                </a:solidFill>
                <a:latin typeface="Arial"/>
                <a:ea typeface="Arial"/>
                <a:cs typeface="Arial"/>
              </a:defRPr>
            </a:defPPr>
          </a:lstStyle>
          <a:p>
            <a:pPr>
              <a:defRPr sz="788" b="0" i="0">
                <a:solidFill>
                  <a:srgbClr val="F5F0E8"/>
                </a:solidFill>
                <a:latin typeface="Arial"/>
                <a:ea typeface="Arial"/>
                <a:cs typeface="Arial"/>
              </a:defRPr>
            </a:pPr>
            <a:r>
              <a:rPr sz="788" b="0" i="0">
                <a:solidFill>
                  <a:srgbClr val="F5F0E8"/>
                </a:solidFill>
                <a:latin typeface="Arial"/>
                <a:ea typeface="Arial"/>
                <a:cs typeface="Arial"/>
              </a:rPr>
              <a:t>Objetivo aún no implementado. Incluye soporte: 10% × 2 mensajes adicionales. Flow sujeto a Meta; plantilla no implica gratuidad. Preguntas y seguimientos extra elevan costo.</a:t>
            </a:r>
          </a:p>
        </p:txBody>
      </p:sp>
      <p:sp>
        <p:nvSpPr>
          <p:cNvPr id="20" name="text-23-18">
            <a:extLst>
              <a:ext uri="{FF2B5EF4-FFF2-40B4-BE49-F238E27FC236}">
                <a16:creationId xmlns:a16="http://schemas.microsoft.com/office/drawing/2014/main" id="{F84D29B2-805D-4C80-BBEF-D88FC113EBC2}"/>
              </a:ext>
            </a:extLst>
          </p:cNvPr>
          <p:cNvSpPr>
            <a:spLocks noGrp="1"/>
          </p:cNvSpPr>
          <p:nvPr/>
        </p:nvSpPr>
        <p:spPr>
          <a:xfrm>
            <a:off x="532209" y="4923697"/>
            <a:ext cx="1120674"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1" name="text-23-19">
            <a:extLst>
              <a:ext uri="{FF2B5EF4-FFF2-40B4-BE49-F238E27FC236}">
                <a16:creationId xmlns:a16="http://schemas.microsoft.com/office/drawing/2014/main" id="{AE4F843E-CB1D-4587-8C62-9893A7906958}"/>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23 / 5.5</a:t>
            </a:r>
          </a:p>
        </p:txBody>
      </p:sp>
    </p:spTree>
    <p:extLst>
      <p:ext uri="{BB962C8B-B14F-4D97-AF65-F5344CB8AC3E}">
        <p14:creationId xmlns:p14="http://schemas.microsoft.com/office/powerpoint/2010/main" val="48714009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Imagen 22">
            <a:extLst>
              <a:ext uri="{FF2B5EF4-FFF2-40B4-BE49-F238E27FC236}">
                <a16:creationId xmlns:a16="http://schemas.microsoft.com/office/drawing/2014/main" id="{7F14E740-1F8D-4797-85F0-2C65A2C43922}"/>
              </a:ext>
            </a:extLst>
          </p:cNvPr>
          <p:cNvPicPr>
            <a:picLocks noChangeAspect="1"/>
          </p:cNvPicPr>
          <p:nvPr/>
        </p:nvPicPr>
        <p:blipFill>
          <a:blip r:embed="rId3"/>
          <a:stretch/>
        </p:blipFill>
        <p:spPr>
          <a:xfrm>
            <a:off x="0" y="0"/>
            <a:ext cx="9324594" cy="5248656"/>
          </a:xfrm>
          <a:prstGeom prst="rect">
            <a:avLst/>
          </a:prstGeom>
        </p:spPr>
      </p:pic>
      <p:sp>
        <p:nvSpPr>
          <p:cNvPr id="2" name="text-24-0">
            <a:extLst>
              <a:ext uri="{FF2B5EF4-FFF2-40B4-BE49-F238E27FC236}">
                <a16:creationId xmlns:a16="http://schemas.microsoft.com/office/drawing/2014/main" id="{2676DB81-8303-44A6-9C3C-9E5BDF712A37}"/>
              </a:ext>
            </a:extLst>
          </p:cNvPr>
          <p:cNvSpPr>
            <a:spLocks noGrp="1"/>
          </p:cNvSpPr>
          <p:nvPr/>
        </p:nvSpPr>
        <p:spPr>
          <a:xfrm>
            <a:off x="532209" y="382979"/>
            <a:ext cx="2103157" cy="151805"/>
          </a:xfrm>
          <a:prstGeom prst="rect">
            <a:avLst/>
          </a:prstGeom>
          <a:noFill/>
          <a:ln w="0">
            <a:noFill/>
          </a:ln>
        </p:spPr>
        <p:txBody>
          <a:bodyPr wrap="none" lIns="0" tIns="0" rIns="0" bIns="0" anchor="t">
            <a:noAutofit/>
          </a:bodyPr>
          <a:lstStyle>
            <a:defPPr>
              <a:defRPr sz="956" b="1" i="0">
                <a:solidFill>
                  <a:srgbClr val="F5F0E8"/>
                </a:solidFill>
                <a:latin typeface="Arial"/>
                <a:ea typeface="Arial"/>
                <a:cs typeface="Arial"/>
              </a:defRPr>
            </a:defPPr>
          </a:lstStyle>
          <a:p>
            <a:pPr>
              <a:defRPr sz="956" b="1" i="0">
                <a:solidFill>
                  <a:srgbClr val="F5F0E8"/>
                </a:solidFill>
                <a:latin typeface="Arial"/>
                <a:ea typeface="Arial"/>
                <a:cs typeface="Arial"/>
              </a:defRPr>
            </a:pPr>
            <a:r>
              <a:rPr sz="956" b="1" i="0">
                <a:solidFill>
                  <a:srgbClr val="F5F0E8"/>
                </a:solidFill>
                <a:latin typeface="Arial"/>
                <a:ea typeface="Arial"/>
                <a:cs typeface="Arial"/>
              </a:rPr>
              <a:t>ANEXO G / IA RESPONSABLE</a:t>
            </a:r>
          </a:p>
        </p:txBody>
      </p:sp>
      <p:sp>
        <p:nvSpPr>
          <p:cNvPr id="3" name="text-24-1">
            <a:extLst>
              <a:ext uri="{FF2B5EF4-FFF2-40B4-BE49-F238E27FC236}">
                <a16:creationId xmlns:a16="http://schemas.microsoft.com/office/drawing/2014/main" id="{AE0EE2C6-AC2A-4A2A-B8B5-E6C68B80841F}"/>
              </a:ext>
            </a:extLst>
          </p:cNvPr>
          <p:cNvSpPr>
            <a:spLocks noGrp="1"/>
          </p:cNvSpPr>
          <p:nvPr/>
        </p:nvSpPr>
        <p:spPr>
          <a:xfrm>
            <a:off x="532209" y="674261"/>
            <a:ext cx="3002139" cy="625078"/>
          </a:xfrm>
          <a:prstGeom prst="rect">
            <a:avLst/>
          </a:prstGeom>
          <a:noFill/>
          <a:ln w="0">
            <a:noFill/>
          </a:ln>
        </p:spPr>
        <p:txBody>
          <a:bodyPr wrap="none" lIns="0" tIns="0" rIns="0" bIns="0" anchor="t">
            <a:noAutofit/>
          </a:bodyPr>
          <a:lstStyle>
            <a:defPPr>
              <a:defRPr sz="3938" b="0" i="0">
                <a:solidFill>
                  <a:srgbClr val="F5F0E8"/>
                </a:solidFill>
                <a:latin typeface="Impact"/>
                <a:ea typeface="Impact"/>
                <a:cs typeface="Impact"/>
              </a:defRPr>
            </a:defPPr>
          </a:lstStyle>
          <a:p>
            <a:pPr>
              <a:defRPr sz="3938" b="0" i="0">
                <a:solidFill>
                  <a:srgbClr val="F5F0E8"/>
                </a:solidFill>
                <a:latin typeface="Impact"/>
                <a:ea typeface="Impact"/>
                <a:cs typeface="Impact"/>
              </a:defRPr>
            </a:pPr>
            <a:r>
              <a:rPr sz="3938" b="0" i="0">
                <a:solidFill>
                  <a:srgbClr val="F5F0E8"/>
                </a:solidFill>
                <a:latin typeface="Impact"/>
                <a:ea typeface="Impact"/>
                <a:cs typeface="Impact"/>
              </a:rPr>
              <a:t>IA IDENTIFICADA</a:t>
            </a:r>
          </a:p>
        </p:txBody>
      </p:sp>
      <p:sp>
        <p:nvSpPr>
          <p:cNvPr id="4" name="text-24-2">
            <a:extLst>
              <a:ext uri="{FF2B5EF4-FFF2-40B4-BE49-F238E27FC236}">
                <a16:creationId xmlns:a16="http://schemas.microsoft.com/office/drawing/2014/main" id="{213ADF00-8284-49B5-AD36-1A5735B076A0}"/>
              </a:ext>
            </a:extLst>
          </p:cNvPr>
          <p:cNvSpPr>
            <a:spLocks noGrp="1"/>
          </p:cNvSpPr>
          <p:nvPr/>
        </p:nvSpPr>
        <p:spPr>
          <a:xfrm>
            <a:off x="532209" y="1181467"/>
            <a:ext cx="4451993" cy="625078"/>
          </a:xfrm>
          <a:prstGeom prst="rect">
            <a:avLst/>
          </a:prstGeom>
          <a:noFill/>
          <a:ln w="0">
            <a:noFill/>
          </a:ln>
        </p:spPr>
        <p:txBody>
          <a:bodyPr wrap="none" lIns="0" tIns="0" rIns="0" bIns="0" anchor="t">
            <a:noAutofit/>
          </a:bodyPr>
          <a:lstStyle>
            <a:defPPr>
              <a:defRPr sz="3938" b="0" i="0">
                <a:solidFill>
                  <a:srgbClr val="F5F0E8"/>
                </a:solidFill>
                <a:latin typeface="Impact"/>
                <a:ea typeface="Impact"/>
                <a:cs typeface="Impact"/>
              </a:defRPr>
            </a:defPPr>
          </a:lstStyle>
          <a:p>
            <a:pPr>
              <a:defRPr sz="3938" b="0" i="0">
                <a:solidFill>
                  <a:srgbClr val="F5F0E8"/>
                </a:solidFill>
                <a:latin typeface="Impact"/>
                <a:ea typeface="Impact"/>
                <a:cs typeface="Impact"/>
              </a:defRPr>
            </a:pPr>
            <a:r>
              <a:rPr sz="3938" b="0" i="0">
                <a:solidFill>
                  <a:srgbClr val="F5F0E8"/>
                </a:solidFill>
                <a:latin typeface="Impact"/>
                <a:ea typeface="Impact"/>
                <a:cs typeface="Impact"/>
              </a:rPr>
              <a:t>OPERACIÓN CON REGLAS</a:t>
            </a:r>
          </a:p>
        </p:txBody>
      </p:sp>
      <p:sp>
        <p:nvSpPr>
          <p:cNvPr id="5" name="text-24-3">
            <a:extLst>
              <a:ext uri="{FF2B5EF4-FFF2-40B4-BE49-F238E27FC236}">
                <a16:creationId xmlns:a16="http://schemas.microsoft.com/office/drawing/2014/main" id="{CCAC30FC-0F88-49BA-96A4-4C3D56F1B5CE}"/>
              </a:ext>
            </a:extLst>
          </p:cNvPr>
          <p:cNvSpPr>
            <a:spLocks noGrp="1"/>
          </p:cNvSpPr>
          <p:nvPr/>
        </p:nvSpPr>
        <p:spPr>
          <a:xfrm>
            <a:off x="739378" y="2040329"/>
            <a:ext cx="1875767" cy="151805"/>
          </a:xfrm>
          <a:prstGeom prst="rect">
            <a:avLst/>
          </a:prstGeom>
          <a:noFill/>
          <a:ln w="0">
            <a:noFill/>
          </a:ln>
        </p:spPr>
        <p:txBody>
          <a:bodyPr wrap="none" lIns="0" tIns="0" rIns="0" bIns="0" anchor="t">
            <a:noAutofit/>
          </a:bodyPr>
          <a:lstStyle>
            <a:defPPr>
              <a:defRPr sz="956" b="1" i="0">
                <a:solidFill>
                  <a:srgbClr val="FF4053"/>
                </a:solidFill>
                <a:latin typeface="Arial"/>
                <a:ea typeface="Arial"/>
                <a:cs typeface="Arial"/>
              </a:defRPr>
            </a:defPPr>
          </a:lstStyle>
          <a:p>
            <a:pPr>
              <a:defRPr sz="956" b="1" i="0">
                <a:solidFill>
                  <a:srgbClr val="FF4053"/>
                </a:solidFill>
                <a:latin typeface="Arial"/>
                <a:ea typeface="Arial"/>
                <a:cs typeface="Arial"/>
              </a:defRPr>
            </a:pPr>
            <a:r>
              <a:rPr sz="956" b="1" i="0">
                <a:solidFill>
                  <a:srgbClr val="FF4053"/>
                </a:solidFill>
                <a:latin typeface="Arial"/>
                <a:ea typeface="Arial"/>
                <a:cs typeface="Arial"/>
              </a:rPr>
              <a:t>AVISO PROPUESTO AL INICIAR</a:t>
            </a:r>
          </a:p>
        </p:txBody>
      </p:sp>
      <p:sp>
        <p:nvSpPr>
          <p:cNvPr id="6" name="text-24-4">
            <a:extLst>
              <a:ext uri="{FF2B5EF4-FFF2-40B4-BE49-F238E27FC236}">
                <a16:creationId xmlns:a16="http://schemas.microsoft.com/office/drawing/2014/main" id="{C9F599AD-DBF0-4215-9882-8D4ED8646E5A}"/>
              </a:ext>
            </a:extLst>
          </p:cNvPr>
          <p:cNvSpPr>
            <a:spLocks noGrp="1"/>
          </p:cNvSpPr>
          <p:nvPr/>
        </p:nvSpPr>
        <p:spPr>
          <a:xfrm>
            <a:off x="739378" y="2254265"/>
            <a:ext cx="6985347" cy="241102"/>
          </a:xfrm>
          <a:prstGeom prst="rect">
            <a:avLst/>
          </a:prstGeom>
          <a:noFill/>
          <a:ln w="0">
            <a:noFill/>
          </a:ln>
        </p:spPr>
        <p:txBody>
          <a:bodyPr wrap="none" lIns="0" tIns="0" rIns="0" bIns="0" anchor="t">
            <a:noAutofit/>
          </a:bodyPr>
          <a:lstStyle>
            <a:defPPr>
              <a:defRPr sz="1519" b="0" i="0">
                <a:solidFill>
                  <a:srgbClr val="F5F0E8"/>
                </a:solidFill>
                <a:latin typeface="Arial"/>
                <a:ea typeface="Arial"/>
                <a:cs typeface="Arial"/>
              </a:defRPr>
            </a:defPPr>
          </a:lstStyle>
          <a:p>
            <a:pPr>
              <a:defRPr sz="1519" b="0" i="0">
                <a:solidFill>
                  <a:srgbClr val="F5F0E8"/>
                </a:solidFill>
                <a:latin typeface="Arial"/>
                <a:ea typeface="Arial"/>
                <a:cs typeface="Arial"/>
              </a:defRPr>
            </a:pPr>
            <a:r>
              <a:rPr sz="1519" b="0" i="0">
                <a:solidFill>
                  <a:srgbClr val="F5F0E8"/>
                </a:solidFill>
                <a:latin typeface="Arial"/>
                <a:ea typeface="Arial"/>
                <a:cs typeface="Arial"/>
              </a:rPr>
              <a:t>«Soy el asistente virtual de Brasper y utilizo IA para orientarte. El equipo valida tu</a:t>
            </a:r>
          </a:p>
        </p:txBody>
      </p:sp>
      <p:sp>
        <p:nvSpPr>
          <p:cNvPr id="7" name="text-24-5">
            <a:extLst>
              <a:ext uri="{FF2B5EF4-FFF2-40B4-BE49-F238E27FC236}">
                <a16:creationId xmlns:a16="http://schemas.microsoft.com/office/drawing/2014/main" id="{58018A39-4747-4698-B382-D0219E6F66D2}"/>
              </a:ext>
            </a:extLst>
          </p:cNvPr>
          <p:cNvSpPr>
            <a:spLocks noGrp="1"/>
          </p:cNvSpPr>
          <p:nvPr/>
        </p:nvSpPr>
        <p:spPr>
          <a:xfrm>
            <a:off x="739378" y="2532871"/>
            <a:ext cx="1045905" cy="241102"/>
          </a:xfrm>
          <a:prstGeom prst="rect">
            <a:avLst/>
          </a:prstGeom>
          <a:noFill/>
          <a:ln w="0">
            <a:noFill/>
          </a:ln>
        </p:spPr>
        <p:txBody>
          <a:bodyPr wrap="none" lIns="0" tIns="0" rIns="0" bIns="0" anchor="t">
            <a:noAutofit/>
          </a:bodyPr>
          <a:lstStyle>
            <a:defPPr>
              <a:defRPr sz="1519" b="0" i="0">
                <a:solidFill>
                  <a:srgbClr val="F5F0E8"/>
                </a:solidFill>
                <a:latin typeface="Arial"/>
                <a:ea typeface="Arial"/>
                <a:cs typeface="Arial"/>
              </a:defRPr>
            </a:defPPr>
          </a:lstStyle>
          <a:p>
            <a:pPr>
              <a:defRPr sz="1519" b="0" i="0">
                <a:solidFill>
                  <a:srgbClr val="F5F0E8"/>
                </a:solidFill>
                <a:latin typeface="Arial"/>
                <a:ea typeface="Arial"/>
                <a:cs typeface="Arial"/>
              </a:defRPr>
            </a:pPr>
            <a:r>
              <a:rPr sz="1519" b="0" i="0">
                <a:solidFill>
                  <a:srgbClr val="F5F0E8"/>
                </a:solidFill>
                <a:latin typeface="Arial"/>
                <a:ea typeface="Arial"/>
                <a:cs typeface="Arial"/>
              </a:rPr>
              <a:t>operación».</a:t>
            </a:r>
          </a:p>
        </p:txBody>
      </p:sp>
      <p:sp>
        <p:nvSpPr>
          <p:cNvPr id="8" name="text-24-6">
            <a:extLst>
              <a:ext uri="{FF2B5EF4-FFF2-40B4-BE49-F238E27FC236}">
                <a16:creationId xmlns:a16="http://schemas.microsoft.com/office/drawing/2014/main" id="{6007702C-BE68-43C5-BA74-CF8E811E30C5}"/>
              </a:ext>
            </a:extLst>
          </p:cNvPr>
          <p:cNvSpPr>
            <a:spLocks noGrp="1"/>
          </p:cNvSpPr>
          <p:nvPr/>
        </p:nvSpPr>
        <p:spPr>
          <a:xfrm>
            <a:off x="532209" y="2991801"/>
            <a:ext cx="1710864" cy="169664"/>
          </a:xfrm>
          <a:prstGeom prst="rect">
            <a:avLst/>
          </a:prstGeom>
          <a:noFill/>
          <a:ln w="0">
            <a:noFill/>
          </a:ln>
        </p:spPr>
        <p:txBody>
          <a:bodyPr wrap="none" lIns="0" tIns="0" rIns="0" bIns="0" anchor="t">
            <a:noAutofit/>
          </a:bodyPr>
          <a:lstStyle>
            <a:defPPr>
              <a:defRPr sz="1069" b="1" i="0">
                <a:solidFill>
                  <a:srgbClr val="FF4053"/>
                </a:solidFill>
                <a:latin typeface="Arial"/>
                <a:ea typeface="Arial"/>
                <a:cs typeface="Arial"/>
              </a:defRPr>
            </a:defPPr>
          </a:lstStyle>
          <a:p>
            <a:pPr>
              <a:defRPr sz="1069" b="1" i="0">
                <a:solidFill>
                  <a:srgbClr val="FF4053"/>
                </a:solidFill>
                <a:latin typeface="Arial"/>
                <a:ea typeface="Arial"/>
                <a:cs typeface="Arial"/>
              </a:defRPr>
            </a:pPr>
            <a:r>
              <a:rPr sz="1069" b="1" i="0">
                <a:solidFill>
                  <a:srgbClr val="FF4053"/>
                </a:solidFill>
                <a:latin typeface="Arial"/>
                <a:ea typeface="Arial"/>
                <a:cs typeface="Arial"/>
              </a:rPr>
              <a:t>CONVERSACIÓN CON IA</a:t>
            </a:r>
          </a:p>
        </p:txBody>
      </p:sp>
      <p:sp>
        <p:nvSpPr>
          <p:cNvPr id="9" name="text-24-7">
            <a:extLst>
              <a:ext uri="{FF2B5EF4-FFF2-40B4-BE49-F238E27FC236}">
                <a16:creationId xmlns:a16="http://schemas.microsoft.com/office/drawing/2014/main" id="{A1DA8A11-C085-400A-80E2-BEE867AD453B}"/>
              </a:ext>
            </a:extLst>
          </p:cNvPr>
          <p:cNvSpPr>
            <a:spLocks noGrp="1"/>
          </p:cNvSpPr>
          <p:nvPr/>
        </p:nvSpPr>
        <p:spPr>
          <a:xfrm>
            <a:off x="532209" y="3244539"/>
            <a:ext cx="2394251"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Comprende preguntas y orienta.</a:t>
            </a:r>
          </a:p>
        </p:txBody>
      </p:sp>
      <p:sp>
        <p:nvSpPr>
          <p:cNvPr id="10" name="text-24-8">
            <a:extLst>
              <a:ext uri="{FF2B5EF4-FFF2-40B4-BE49-F238E27FC236}">
                <a16:creationId xmlns:a16="http://schemas.microsoft.com/office/drawing/2014/main" id="{1039F5DF-3DA2-4654-812F-4CE95C6F3F46}"/>
              </a:ext>
            </a:extLst>
          </p:cNvPr>
          <p:cNvSpPr>
            <a:spLocks noGrp="1"/>
          </p:cNvSpPr>
          <p:nvPr/>
        </p:nvSpPr>
        <p:spPr>
          <a:xfrm>
            <a:off x="532209" y="3487427"/>
            <a:ext cx="2394251"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Se informa al usuario cuando se</a:t>
            </a:r>
          </a:p>
        </p:txBody>
      </p:sp>
      <p:sp>
        <p:nvSpPr>
          <p:cNvPr id="11" name="text-24-9">
            <a:extLst>
              <a:ext uri="{FF2B5EF4-FFF2-40B4-BE49-F238E27FC236}">
                <a16:creationId xmlns:a16="http://schemas.microsoft.com/office/drawing/2014/main" id="{E4415256-CB03-438A-8525-353BE1787C8D}"/>
              </a:ext>
            </a:extLst>
          </p:cNvPr>
          <p:cNvSpPr>
            <a:spLocks noGrp="1"/>
          </p:cNvSpPr>
          <p:nvPr/>
        </p:nvSpPr>
        <p:spPr>
          <a:xfrm>
            <a:off x="532209" y="3723170"/>
            <a:ext cx="503744"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utiliza.</a:t>
            </a:r>
          </a:p>
        </p:txBody>
      </p:sp>
      <p:sp>
        <p:nvSpPr>
          <p:cNvPr id="12" name="text-24-10">
            <a:extLst>
              <a:ext uri="{FF2B5EF4-FFF2-40B4-BE49-F238E27FC236}">
                <a16:creationId xmlns:a16="http://schemas.microsoft.com/office/drawing/2014/main" id="{6E85BF17-4FB3-4F10-8EFC-41ABCC5B7ECB}"/>
              </a:ext>
            </a:extLst>
          </p:cNvPr>
          <p:cNvSpPr>
            <a:spLocks noGrp="1"/>
          </p:cNvSpPr>
          <p:nvPr/>
        </p:nvSpPr>
        <p:spPr>
          <a:xfrm>
            <a:off x="3370622" y="2991801"/>
            <a:ext cx="1816782" cy="169664"/>
          </a:xfrm>
          <a:prstGeom prst="rect">
            <a:avLst/>
          </a:prstGeom>
          <a:noFill/>
          <a:ln w="0">
            <a:noFill/>
          </a:ln>
        </p:spPr>
        <p:txBody>
          <a:bodyPr wrap="none" lIns="0" tIns="0" rIns="0" bIns="0" anchor="t">
            <a:noAutofit/>
          </a:bodyPr>
          <a:lstStyle>
            <a:defPPr>
              <a:defRPr sz="1069" b="1" i="0">
                <a:solidFill>
                  <a:srgbClr val="FF4053"/>
                </a:solidFill>
                <a:latin typeface="Arial"/>
                <a:ea typeface="Arial"/>
                <a:cs typeface="Arial"/>
              </a:defRPr>
            </a:defPPr>
          </a:lstStyle>
          <a:p>
            <a:pPr>
              <a:defRPr sz="1069" b="1" i="0">
                <a:solidFill>
                  <a:srgbClr val="FF4053"/>
                </a:solidFill>
                <a:latin typeface="Arial"/>
                <a:ea typeface="Arial"/>
                <a:cs typeface="Arial"/>
              </a:defRPr>
            </a:pPr>
            <a:r>
              <a:rPr sz="1069" b="1" i="0">
                <a:solidFill>
                  <a:srgbClr val="FF4053"/>
                </a:solidFill>
                <a:latin typeface="Arial"/>
                <a:ea typeface="Arial"/>
                <a:cs typeface="Arial"/>
              </a:rPr>
              <a:t>PROCESO DETERMINISTA</a:t>
            </a:r>
          </a:p>
        </p:txBody>
      </p:sp>
      <p:sp>
        <p:nvSpPr>
          <p:cNvPr id="13" name="text-24-11">
            <a:extLst>
              <a:ext uri="{FF2B5EF4-FFF2-40B4-BE49-F238E27FC236}">
                <a16:creationId xmlns:a16="http://schemas.microsoft.com/office/drawing/2014/main" id="{853851C2-54C8-4C3A-9CC7-F3030DEB24DE}"/>
              </a:ext>
            </a:extLst>
          </p:cNvPr>
          <p:cNvSpPr>
            <a:spLocks noGrp="1"/>
          </p:cNvSpPr>
          <p:nvPr/>
        </p:nvSpPr>
        <p:spPr>
          <a:xfrm>
            <a:off x="3370622" y="3244539"/>
            <a:ext cx="2421528"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Importes, validaciones y estados</a:t>
            </a:r>
          </a:p>
        </p:txBody>
      </p:sp>
      <p:sp>
        <p:nvSpPr>
          <p:cNvPr id="14" name="text-24-12">
            <a:extLst>
              <a:ext uri="{FF2B5EF4-FFF2-40B4-BE49-F238E27FC236}">
                <a16:creationId xmlns:a16="http://schemas.microsoft.com/office/drawing/2014/main" id="{47C30038-7C9F-4C8F-B028-9779941245AB}"/>
              </a:ext>
            </a:extLst>
          </p:cNvPr>
          <p:cNvSpPr>
            <a:spLocks noGrp="1"/>
          </p:cNvSpPr>
          <p:nvPr/>
        </p:nvSpPr>
        <p:spPr>
          <a:xfrm>
            <a:off x="3370622" y="3487427"/>
            <a:ext cx="1937481"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siguen reglas del sistema.</a:t>
            </a:r>
          </a:p>
        </p:txBody>
      </p:sp>
      <p:sp>
        <p:nvSpPr>
          <p:cNvPr id="15" name="text-24-13">
            <a:extLst>
              <a:ext uri="{FF2B5EF4-FFF2-40B4-BE49-F238E27FC236}">
                <a16:creationId xmlns:a16="http://schemas.microsoft.com/office/drawing/2014/main" id="{14E145F8-AB84-49EB-8433-3C7073704A6B}"/>
              </a:ext>
            </a:extLst>
          </p:cNvPr>
          <p:cNvSpPr>
            <a:spLocks noGrp="1"/>
          </p:cNvSpPr>
          <p:nvPr/>
        </p:nvSpPr>
        <p:spPr>
          <a:xfrm>
            <a:off x="6209035" y="2991801"/>
            <a:ext cx="1392290" cy="169664"/>
          </a:xfrm>
          <a:prstGeom prst="rect">
            <a:avLst/>
          </a:prstGeom>
          <a:noFill/>
          <a:ln w="0">
            <a:noFill/>
          </a:ln>
        </p:spPr>
        <p:txBody>
          <a:bodyPr wrap="none" lIns="0" tIns="0" rIns="0" bIns="0" anchor="t">
            <a:noAutofit/>
          </a:bodyPr>
          <a:lstStyle>
            <a:defPPr>
              <a:defRPr sz="1069" b="1" i="0">
                <a:solidFill>
                  <a:srgbClr val="FF4053"/>
                </a:solidFill>
                <a:latin typeface="Arial"/>
                <a:ea typeface="Arial"/>
                <a:cs typeface="Arial"/>
              </a:defRPr>
            </a:defPPr>
          </a:lstStyle>
          <a:p>
            <a:pPr>
              <a:defRPr sz="1069" b="1" i="0">
                <a:solidFill>
                  <a:srgbClr val="FF4053"/>
                </a:solidFill>
                <a:latin typeface="Arial"/>
                <a:ea typeface="Arial"/>
                <a:cs typeface="Arial"/>
              </a:defRPr>
            </a:pPr>
            <a:r>
              <a:rPr sz="1069" b="1" i="0">
                <a:solidFill>
                  <a:srgbClr val="FF4053"/>
                </a:solidFill>
                <a:latin typeface="Arial"/>
                <a:ea typeface="Arial"/>
                <a:cs typeface="Arial"/>
              </a:rPr>
              <a:t>CONTROL HUMANO</a:t>
            </a:r>
          </a:p>
        </p:txBody>
      </p:sp>
      <p:sp>
        <p:nvSpPr>
          <p:cNvPr id="16" name="text-24-14">
            <a:extLst>
              <a:ext uri="{FF2B5EF4-FFF2-40B4-BE49-F238E27FC236}">
                <a16:creationId xmlns:a16="http://schemas.microsoft.com/office/drawing/2014/main" id="{8878B450-348B-44F8-8857-1CCA90206753}"/>
              </a:ext>
            </a:extLst>
          </p:cNvPr>
          <p:cNvSpPr>
            <a:spLocks noGrp="1"/>
          </p:cNvSpPr>
          <p:nvPr/>
        </p:nvSpPr>
        <p:spPr>
          <a:xfrm>
            <a:off x="6209035" y="3244539"/>
            <a:ext cx="2092750"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El equipo verifica el ingreso.</a:t>
            </a:r>
          </a:p>
        </p:txBody>
      </p:sp>
      <p:sp>
        <p:nvSpPr>
          <p:cNvPr id="17" name="text-24-15">
            <a:extLst>
              <a:ext uri="{FF2B5EF4-FFF2-40B4-BE49-F238E27FC236}">
                <a16:creationId xmlns:a16="http://schemas.microsoft.com/office/drawing/2014/main" id="{4DFA5756-3F2D-4F39-80D6-CBF792C38FB5}"/>
              </a:ext>
            </a:extLst>
          </p:cNvPr>
          <p:cNvSpPr>
            <a:spLocks noGrp="1"/>
          </p:cNvSpPr>
          <p:nvPr/>
        </p:nvSpPr>
        <p:spPr>
          <a:xfrm>
            <a:off x="6209035" y="3487427"/>
            <a:ext cx="1810107" cy="205383"/>
          </a:xfrm>
          <a:prstGeom prst="rect">
            <a:avLst/>
          </a:prstGeom>
          <a:noFill/>
          <a:ln w="0">
            <a:noFill/>
          </a:ln>
        </p:spPr>
        <p:txBody>
          <a:bodyPr wrap="none" lIns="0" tIns="0" rIns="0" bIns="0" anchor="t">
            <a:noAutofit/>
          </a:bodyPr>
          <a:lstStyle>
            <a:defPPr>
              <a:defRPr sz="1294" b="0" i="0">
                <a:solidFill>
                  <a:srgbClr val="F5F0E8"/>
                </a:solidFill>
                <a:latin typeface="Arial"/>
                <a:ea typeface="Arial"/>
                <a:cs typeface="Arial"/>
              </a:defRPr>
            </a:defPPr>
          </a:lstStyle>
          <a:p>
            <a:pPr>
              <a:defRPr sz="1294" b="0" i="0">
                <a:solidFill>
                  <a:srgbClr val="F5F0E8"/>
                </a:solidFill>
                <a:latin typeface="Arial"/>
                <a:ea typeface="Arial"/>
                <a:cs typeface="Arial"/>
              </a:defRPr>
            </a:pPr>
            <a:r>
              <a:rPr sz="1294" b="0" i="0">
                <a:solidFill>
                  <a:srgbClr val="F5F0E8"/>
                </a:solidFill>
                <a:latin typeface="Arial"/>
                <a:ea typeface="Arial"/>
                <a:cs typeface="Arial"/>
              </a:rPr>
              <a:t>La IA no autoriza pagos.</a:t>
            </a:r>
          </a:p>
        </p:txBody>
      </p:sp>
      <p:sp>
        <p:nvSpPr>
          <p:cNvPr id="18" name="text-24-16">
            <a:extLst>
              <a:ext uri="{FF2B5EF4-FFF2-40B4-BE49-F238E27FC236}">
                <a16:creationId xmlns:a16="http://schemas.microsoft.com/office/drawing/2014/main" id="{4B640ABB-CA05-4808-AE43-23E94A72D68A}"/>
              </a:ext>
            </a:extLst>
          </p:cNvPr>
          <p:cNvSpPr>
            <a:spLocks noGrp="1"/>
          </p:cNvSpPr>
          <p:nvPr/>
        </p:nvSpPr>
        <p:spPr>
          <a:xfrm>
            <a:off x="532209" y="4367161"/>
            <a:ext cx="7711742" cy="125016"/>
          </a:xfrm>
          <a:prstGeom prst="rect">
            <a:avLst/>
          </a:prstGeom>
          <a:noFill/>
          <a:ln w="0">
            <a:noFill/>
          </a:ln>
        </p:spPr>
        <p:txBody>
          <a:bodyPr wrap="none" lIns="0" tIns="0" rIns="0" bIns="0" anchor="t">
            <a:noAutofit/>
          </a:bodyPr>
          <a:lstStyle>
            <a:defPPr>
              <a:defRPr sz="788" b="0" i="0">
                <a:solidFill>
                  <a:srgbClr val="F5F0E8"/>
                </a:solidFill>
                <a:latin typeface="Arial"/>
                <a:ea typeface="Arial"/>
                <a:cs typeface="Arial"/>
              </a:defRPr>
            </a:defPPr>
          </a:lstStyle>
          <a:p>
            <a:pPr>
              <a:defRPr sz="788" b="0" i="0">
                <a:solidFill>
                  <a:srgbClr val="F5F0E8"/>
                </a:solidFill>
                <a:latin typeface="Arial"/>
                <a:ea typeface="Arial"/>
                <a:cs typeface="Arial"/>
              </a:defRPr>
            </a:pPr>
            <a:r>
              <a:rPr sz="788" b="0" i="0">
                <a:solidFill>
                  <a:srgbClr val="F5F0E8"/>
                </a:solidFill>
                <a:latin typeface="Arial"/>
                <a:ea typeface="Arial"/>
                <a:cs typeface="Arial"/>
              </a:rPr>
              <a:t>Diseño alineado con transparencia y privacidad: Ley 31814 y D.S. 115-2025-PCM, arts. 25, 26 y 31.2. Aviso explícito de IA por incorporar y validar en cada canal; no acredita</a:t>
            </a:r>
          </a:p>
        </p:txBody>
      </p:sp>
      <p:sp>
        <p:nvSpPr>
          <p:cNvPr id="19" name="text-24-17">
            <a:extLst>
              <a:ext uri="{FF2B5EF4-FFF2-40B4-BE49-F238E27FC236}">
                <a16:creationId xmlns:a16="http://schemas.microsoft.com/office/drawing/2014/main" id="{4A092C8B-4554-4F8D-BEF1-BC7983956090}"/>
              </a:ext>
            </a:extLst>
          </p:cNvPr>
          <p:cNvSpPr>
            <a:spLocks noGrp="1"/>
          </p:cNvSpPr>
          <p:nvPr/>
        </p:nvSpPr>
        <p:spPr>
          <a:xfrm>
            <a:off x="532209" y="4502893"/>
            <a:ext cx="1010722" cy="125016"/>
          </a:xfrm>
          <a:prstGeom prst="rect">
            <a:avLst/>
          </a:prstGeom>
          <a:noFill/>
          <a:ln w="0">
            <a:noFill/>
          </a:ln>
        </p:spPr>
        <p:txBody>
          <a:bodyPr wrap="none" lIns="0" tIns="0" rIns="0" bIns="0" anchor="t">
            <a:noAutofit/>
          </a:bodyPr>
          <a:lstStyle>
            <a:defPPr>
              <a:defRPr sz="788" b="0" i="0">
                <a:solidFill>
                  <a:srgbClr val="F5F0E8"/>
                </a:solidFill>
                <a:latin typeface="Arial"/>
                <a:ea typeface="Arial"/>
                <a:cs typeface="Arial"/>
              </a:defRPr>
            </a:defPPr>
          </a:lstStyle>
          <a:p>
            <a:pPr>
              <a:defRPr sz="788" b="0" i="0">
                <a:solidFill>
                  <a:srgbClr val="F5F0E8"/>
                </a:solidFill>
                <a:latin typeface="Arial"/>
                <a:ea typeface="Arial"/>
                <a:cs typeface="Arial"/>
              </a:defRPr>
            </a:pPr>
            <a:r>
              <a:rPr sz="788" b="0" i="0">
                <a:solidFill>
                  <a:srgbClr val="F5F0E8"/>
                </a:solidFill>
                <a:latin typeface="Arial"/>
                <a:ea typeface="Arial"/>
                <a:cs typeface="Arial"/>
              </a:rPr>
              <a:t>cumplimiento integral.</a:t>
            </a:r>
          </a:p>
        </p:txBody>
      </p:sp>
      <p:sp>
        <p:nvSpPr>
          <p:cNvPr id="20" name="text-24-18">
            <a:extLst>
              <a:ext uri="{FF2B5EF4-FFF2-40B4-BE49-F238E27FC236}">
                <a16:creationId xmlns:a16="http://schemas.microsoft.com/office/drawing/2014/main" id="{AC02555A-AABA-4B5C-98C9-C8A52C14FEC5}"/>
              </a:ext>
            </a:extLst>
          </p:cNvPr>
          <p:cNvSpPr>
            <a:spLocks noGrp="1"/>
          </p:cNvSpPr>
          <p:nvPr/>
        </p:nvSpPr>
        <p:spPr>
          <a:xfrm>
            <a:off x="532209" y="4106903"/>
            <a:ext cx="1253083" cy="178594"/>
          </a:xfrm>
          <a:prstGeom prst="rect">
            <a:avLst/>
          </a:prstGeom>
          <a:noFill/>
          <a:ln w="0">
            <a:noFill/>
          </a:ln>
        </p:spPr>
        <p:txBody>
          <a:bodyPr wrap="none" lIns="0" tIns="0" rIns="0" bIns="0" anchor="t">
            <a:noAutofit/>
          </a:bodyPr>
          <a:lstStyle>
            <a:defPPr>
              <a:defRPr sz="1125" b="0" i="0">
                <a:solidFill>
                  <a:srgbClr val="F5F0E8"/>
                </a:solidFill>
                <a:latin typeface="Arial"/>
                <a:ea typeface="Arial"/>
                <a:cs typeface="Arial"/>
              </a:defRPr>
            </a:defPPr>
          </a:lstStyle>
          <a:p>
            <a:pPr>
              <a:defRPr sz="1125" b="0" i="0">
                <a:solidFill>
                  <a:srgbClr val="F5F0E8"/>
                </a:solidFill>
                <a:latin typeface="Arial"/>
                <a:ea typeface="Arial"/>
                <a:cs typeface="Arial"/>
              </a:defRPr>
            </a:pPr>
            <a:r>
              <a:rPr sz="1125" b="0" i="0">
                <a:solidFill>
                  <a:srgbClr val="F5F0E8"/>
                </a:solidFill>
                <a:latin typeface="Arial"/>
                <a:ea typeface="Arial"/>
                <a:cs typeface="Arial"/>
              </a:rPr>
              <a:t>Volver a WhatsApp</a:t>
            </a:r>
          </a:p>
        </p:txBody>
      </p:sp>
      <p:sp>
        <p:nvSpPr>
          <p:cNvPr id="21" name="text-24-19">
            <a:extLst>
              <a:ext uri="{FF2B5EF4-FFF2-40B4-BE49-F238E27FC236}">
                <a16:creationId xmlns:a16="http://schemas.microsoft.com/office/drawing/2014/main" id="{72A28D2F-62F1-46E4-A940-F467F6875881}"/>
              </a:ext>
            </a:extLst>
          </p:cNvPr>
          <p:cNvSpPr>
            <a:spLocks noGrp="1"/>
          </p:cNvSpPr>
          <p:nvPr/>
        </p:nvSpPr>
        <p:spPr>
          <a:xfrm>
            <a:off x="532209" y="4923697"/>
            <a:ext cx="1120674"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ANEXOS / OMNI by 5.5</a:t>
            </a:r>
          </a:p>
        </p:txBody>
      </p:sp>
      <p:sp>
        <p:nvSpPr>
          <p:cNvPr id="22" name="text-24-20">
            <a:extLst>
              <a:ext uri="{FF2B5EF4-FFF2-40B4-BE49-F238E27FC236}">
                <a16:creationId xmlns:a16="http://schemas.microsoft.com/office/drawing/2014/main" id="{EBC1D591-12BD-4437-ACB6-6AB60C758E44}"/>
              </a:ext>
            </a:extLst>
          </p:cNvPr>
          <p:cNvSpPr>
            <a:spLocks noGrp="1"/>
          </p:cNvSpPr>
          <p:nvPr/>
        </p:nvSpPr>
        <p:spPr>
          <a:xfrm>
            <a:off x="8446257" y="4923697"/>
            <a:ext cx="377893" cy="116086"/>
          </a:xfrm>
          <a:prstGeom prst="rect">
            <a:avLst/>
          </a:prstGeom>
          <a:noFill/>
          <a:ln w="0">
            <a:noFill/>
          </a:ln>
        </p:spPr>
        <p:txBody>
          <a:bodyPr wrap="none" lIns="0" tIns="0" rIns="0" bIns="0" anchor="t">
            <a:noAutofit/>
          </a:bodyPr>
          <a:lstStyle>
            <a:defPPr>
              <a:defRPr sz="731" b="1" i="0">
                <a:solidFill>
                  <a:srgbClr val="F5F0E8"/>
                </a:solidFill>
                <a:latin typeface="Arial"/>
                <a:ea typeface="Arial"/>
                <a:cs typeface="Arial"/>
              </a:defRPr>
            </a:defPPr>
          </a:lstStyle>
          <a:p>
            <a:pPr>
              <a:defRPr sz="731" b="1" i="0">
                <a:solidFill>
                  <a:srgbClr val="F5F0E8"/>
                </a:solidFill>
                <a:latin typeface="Arial"/>
                <a:ea typeface="Arial"/>
                <a:cs typeface="Arial"/>
              </a:defRPr>
            </a:pPr>
            <a:r>
              <a:rPr sz="731" b="1" i="0">
                <a:solidFill>
                  <a:srgbClr val="F5F0E8"/>
                </a:solidFill>
                <a:latin typeface="Arial"/>
                <a:ea typeface="Arial"/>
                <a:cs typeface="Arial"/>
              </a:rPr>
              <a:t>24 / 5.5</a:t>
            </a:r>
          </a:p>
        </p:txBody>
      </p:sp>
    </p:spTree>
    <p:extLst>
      <p:ext uri="{BB962C8B-B14F-4D97-AF65-F5344CB8AC3E}">
        <p14:creationId xmlns:p14="http://schemas.microsoft.com/office/powerpoint/2010/main" val="439578890"/>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4518</Words>
  <Application>Microsoft Macintosh PowerPoint</Application>
  <DocSecurity>0</DocSecurity>
  <PresentationFormat>Personalizado</PresentationFormat>
  <Paragraphs>454</Paragraphs>
  <Slides>24</Slides>
  <Notes>24</Notes>
  <HiddenSlides>0</HiddenSlides>
  <MMClips>1</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24</vt:i4>
      </vt:variant>
    </vt:vector>
  </HeadingPairs>
  <TitlesOfParts>
    <vt:vector size="28" baseType="lpstr">
      <vt:lpstr>Aptos</vt:lpstr>
      <vt:lpstr>Arial</vt:lpstr>
      <vt:lpstr>Impact</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jordy B</cp:lastModifiedBy>
  <cp:revision>3</cp:revision>
  <dcterms:created xsi:type="dcterms:W3CDTF">2026-10-15T21:16:23Z</dcterms:created>
  <dcterms:modified xsi:type="dcterms:W3CDTF">2026-10-15T21:51:27Z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2026-10-15T21:49:22Z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2b73486a-2429-4255-8550-446b7248208c</vt:lpwstr>
  </property>
  <property fmtid="{D5CDD505-2E9C-101B-9397-08002B2CF9AE}" pid="7" name="MSIP_Label_defa4170-0d19-0005-0004-bc88714345d2_ActionId">
    <vt:lpwstr>27c3cc2a-7273-49aa-b1df-c9f3b39c6029</vt:lpwstr>
  </property>
  <property fmtid="{D5CDD505-2E9C-101B-9397-08002B2CF9AE}" pid="8" name="MSIP_Label_defa4170-0d19-0005-0004-bc88714345d2_ContentBits">
    <vt:lpwstr>0</vt:lpwstr>
  </property>
  <property fmtid="{D5CDD505-2E9C-101B-9397-08002B2CF9AE}" pid="9" name="MSIP_Label_defa4170-0d19-0005-0004-bc88714345d2_Tag">
    <vt:lpwstr>50, 3, 0, 1</vt:lpwstr>
  </property>
</Properties>
</file>